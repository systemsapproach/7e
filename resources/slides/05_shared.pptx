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5" r:id="rId24"/>
    <p:sldId id="281" r:id="rId25"/>
    <p:sldId id="283" r:id="rId26"/>
    <p:sldId id="286" r:id="rId27"/>
    <p:sldId id="287" r:id="rId28"/>
    <p:sldId id="288" r:id="rId29"/>
    <p:sldId id="289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131"/>
    <a:srgbClr val="E9E0C5"/>
    <a:srgbClr val="2F55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27"/>
    <p:restoredTop sz="94658"/>
  </p:normalViewPr>
  <p:slideViewPr>
    <p:cSldViewPr snapToGrid="0">
      <p:cViewPr varScale="1">
        <p:scale>
          <a:sx n="113" d="100"/>
          <a:sy n="113" d="100"/>
        </p:scale>
        <p:origin x="200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0419C9-BE9D-3840-A79D-E9F8180400ED}" type="datetimeFigureOut">
              <a:rPr lang="en-US" smtClean="0"/>
              <a:t>9/25/26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9A2C29-55A7-D849-ABA2-CEC8D158FA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7074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9A2C29-55A7-D849-ABA2-CEC8D158FAB0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3301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5E7130F-F05B-B150-3729-9E271DF171FA}"/>
              </a:ext>
            </a:extLst>
          </p:cNvPr>
          <p:cNvSpPr/>
          <p:nvPr userDrawn="1"/>
        </p:nvSpPr>
        <p:spPr>
          <a:xfrm>
            <a:off x="0" y="2723115"/>
            <a:ext cx="12192000" cy="4175981"/>
          </a:xfrm>
          <a:prstGeom prst="rect">
            <a:avLst/>
          </a:prstGeom>
          <a:solidFill>
            <a:srgbClr val="3331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7BDD6A-1823-8EBE-4339-8BE6A00F709B}"/>
              </a:ext>
            </a:extLst>
          </p:cNvPr>
          <p:cNvSpPr/>
          <p:nvPr userDrawn="1"/>
        </p:nvSpPr>
        <p:spPr>
          <a:xfrm>
            <a:off x="0" y="315538"/>
            <a:ext cx="12192000" cy="4622137"/>
          </a:xfrm>
          <a:prstGeom prst="rect">
            <a:avLst/>
          </a:prstGeom>
          <a:solidFill>
            <a:srgbClr val="2F55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6FEA07-9D5A-E087-CD0F-85CD617F71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1677"/>
            <a:ext cx="9144000" cy="2387600"/>
          </a:xfrm>
        </p:spPr>
        <p:txBody>
          <a:bodyPr anchor="ctr"/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A209C7-F1CD-D1FA-BA76-113A478A96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235621"/>
            <a:ext cx="9144000" cy="836398"/>
          </a:xfrm>
        </p:spPr>
        <p:txBody>
          <a:bodyPr anchor="ctr"/>
          <a:lstStyle>
            <a:lvl1pPr marL="0" indent="0" algn="ctr">
              <a:buNone/>
              <a:defRPr sz="2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618ECE-1E6D-F8F2-58B1-71D7BE74C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41708-2615-3244-89AE-E56430E9237D}" type="datetime1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D2AB94-E371-30E1-1464-0D57E5C45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C57B5-7F35-E930-6BE6-D18551982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97B6-99AE-8F4E-8AC4-338DBFD9B0E5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8DA490C-3727-1BB3-41EC-8E8B0CB1673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55810" y="3139629"/>
            <a:ext cx="3280381" cy="1551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08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07BDD6A-1823-8EBE-4339-8BE6A00F709B}"/>
              </a:ext>
            </a:extLst>
          </p:cNvPr>
          <p:cNvSpPr/>
          <p:nvPr userDrawn="1"/>
        </p:nvSpPr>
        <p:spPr>
          <a:xfrm>
            <a:off x="0" y="1600201"/>
            <a:ext cx="12192000" cy="2412586"/>
          </a:xfrm>
          <a:prstGeom prst="rect">
            <a:avLst/>
          </a:prstGeom>
          <a:solidFill>
            <a:srgbClr val="2F55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6FEA07-9D5A-E087-CD0F-85CD617F71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25187"/>
            <a:ext cx="9144000" cy="2387600"/>
          </a:xfrm>
        </p:spPr>
        <p:txBody>
          <a:bodyPr anchor="ctr"/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618ECE-1E6D-F8F2-58B1-71D7BE74C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B06D1-02FD-F54C-9BFB-4DD2BFF5B371}" type="datetime1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D2AB94-E371-30E1-1464-0D57E5C45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C57B5-7F35-E930-6BE6-D18551982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97B6-99AE-8F4E-8AC4-338DBFD9B0E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61D39B3-5E5D-0F11-FC35-6F2C9B63E066}"/>
              </a:ext>
            </a:extLst>
          </p:cNvPr>
          <p:cNvSpPr/>
          <p:nvPr userDrawn="1"/>
        </p:nvSpPr>
        <p:spPr>
          <a:xfrm>
            <a:off x="0" y="-1813"/>
            <a:ext cx="12192000" cy="14002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905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A4224-9B42-A3A3-FD4B-7DCB37A5F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7AA945-E77C-96EC-A764-294BBBDFD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2AD0B7-B808-1B7F-CEF5-3629CD750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F846D-D34A-BF4C-BE1C-ADA99CF1F9C6}" type="datetime1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B5568F-D032-2C7B-B173-457682AC3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F4C81A-A9BC-68BA-10CE-C19115630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97B6-99AE-8F4E-8AC4-338DBFD9B0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001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BF158-323C-D3C4-5EDF-AEB556D38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E1458E-494E-6576-E590-8D027645C9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76306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DEEC45-80B7-E5F2-1EE8-4F13C3A494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76306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FB021E-F3AB-3183-A464-2E0E7E6D4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EE2EA-BA17-5548-9EEE-4660F8E16FBA}" type="datetime1">
              <a:rPr lang="en-US" smtClean="0"/>
              <a:t>9/25/26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6BF0C7-58BA-2DE2-32B3-6B84F0FDD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0A454F-821E-AC99-31C4-2DF525F5D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97B6-99AE-8F4E-8AC4-338DBFD9B0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6902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9E204-57F3-A972-D2AB-B8EB443E1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2128D8-E1CA-2D26-E644-D8B87B9C9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50FD5-6E2D-D145-9EE3-5186BB7B67BC}" type="datetime1">
              <a:rPr lang="en-US" smtClean="0"/>
              <a:t>9/25/26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DE7C9D-573E-CCAB-347D-345D212F6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D19D84-0242-52EC-3A47-A0A3D5B64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97B6-99AE-8F4E-8AC4-338DBFD9B0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93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7A92FF-B703-4780-1EBB-1AE0E3CF73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482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CCB9E3-427E-4369-98EC-BD677B2D53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320E43-982B-A247-A78B-0ECE0C5199AA}" type="datetime1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E7B86C-AB67-018D-C428-7A1EC0C20E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Copyright Peterson &amp; Davie,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29F652-BA41-5373-A931-0B0D06827F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4597B6-99AE-8F4E-8AC4-338DBFD9B0E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2BF1A77-8AB3-41F4-86D3-BFA6FEEDF61A}"/>
              </a:ext>
            </a:extLst>
          </p:cNvPr>
          <p:cNvSpPr/>
          <p:nvPr userDrawn="1"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2F55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470494-B9BA-F0AA-4595-820C4E478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809"/>
            <a:ext cx="10515600" cy="8985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49538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50" r:id="rId3"/>
    <p:sldLayoutId id="2147483652" r:id="rId4"/>
    <p:sldLayoutId id="2147483654" r:id="rId5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E9E0C5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 baseline="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SzPct val="120000"/>
        <a:buFont typeface="System Font Regular"/>
        <a:buChar char="-"/>
        <a:defRPr sz="2400" kern="1200" baseline="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2000" kern="1200" baseline="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Chapter 5: Mediating Access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Computer Networks: A Systems Approach</a:t>
            </a:r>
            <a:endParaRPr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55F33B-3689-85C1-F484-521B72BE1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i="1" dirty="0"/>
              <a:t>Switched networks resolve contention at the switches</a:t>
            </a:r>
            <a:r>
              <a:rPr i="1" dirty="0"/>
              <a:t>.</a:t>
            </a:r>
            <a:r>
              <a:rPr lang="en-US" i="1" dirty="0"/>
              <a:t> Shared access networks (e.g., wireless) must mediate access to the common medium. </a:t>
            </a:r>
            <a:r>
              <a:rPr i="1" dirty="0"/>
              <a:t>This chapter looks at three approaches to mediating </a:t>
            </a:r>
            <a:r>
              <a:rPr lang="en-US" i="1" dirty="0"/>
              <a:t>shared </a:t>
            </a:r>
            <a:r>
              <a:rPr i="1" dirty="0"/>
              <a:t>access.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24A231-F3A3-C083-2D65-73848CF66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Media </a:t>
            </a:r>
            <a:r>
              <a:rPr dirty="0"/>
              <a:t>Access</a:t>
            </a:r>
            <a:r>
              <a:rPr lang="en-US" dirty="0"/>
              <a:t> Control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59016"/>
            <a:ext cx="10515600" cy="4919483"/>
          </a:xfrm>
        </p:spPr>
        <p:txBody>
          <a:bodyPr>
            <a:normAutofit/>
          </a:bodyPr>
          <a:lstStyle/>
          <a:p>
            <a:r>
              <a:rPr dirty="0"/>
              <a:t>Resource allocation problem</a:t>
            </a:r>
            <a:endParaRPr lang="en-US" dirty="0"/>
          </a:p>
          <a:p>
            <a:pPr lvl="1"/>
            <a:r>
              <a:rPr lang="en-US" dirty="0"/>
              <a:t>W</a:t>
            </a:r>
            <a:r>
              <a:rPr dirty="0"/>
              <a:t>ho gets to </a:t>
            </a:r>
            <a:r>
              <a:rPr lang="en-US" dirty="0"/>
              <a:t>transmit </a:t>
            </a:r>
            <a:r>
              <a:rPr dirty="0"/>
              <a:t>next</a:t>
            </a:r>
            <a:endParaRPr lang="en-US" dirty="0"/>
          </a:p>
          <a:p>
            <a:pPr lvl="1"/>
            <a:r>
              <a:rPr lang="en-US" dirty="0"/>
              <a:t>Typically implemented in the network adaptor (NIC)</a:t>
            </a:r>
          </a:p>
          <a:p>
            <a:pPr lvl="1"/>
            <a:r>
              <a:rPr lang="en-US" dirty="0"/>
              <a:t>Sometimes referred to as the MAC layer</a:t>
            </a:r>
            <a:endParaRPr dirty="0"/>
          </a:p>
          <a:p>
            <a:r>
              <a:rPr dirty="0"/>
              <a:t>Centralize </a:t>
            </a:r>
            <a:r>
              <a:rPr lang="en-US" dirty="0"/>
              <a:t>mediator</a:t>
            </a:r>
            <a:endParaRPr dirty="0"/>
          </a:p>
          <a:p>
            <a:pPr lvl="1"/>
            <a:r>
              <a:rPr dirty="0"/>
              <a:t>A designated node schedules who speaks next</a:t>
            </a:r>
            <a:endParaRPr lang="en-US" dirty="0"/>
          </a:p>
          <a:p>
            <a:pPr lvl="1"/>
            <a:r>
              <a:rPr lang="en-US" dirty="0"/>
              <a:t>Distributes a “schedule” to all the other nodes</a:t>
            </a:r>
            <a:endParaRPr dirty="0"/>
          </a:p>
          <a:p>
            <a:r>
              <a:rPr dirty="0"/>
              <a:t>Token passing</a:t>
            </a:r>
          </a:p>
          <a:p>
            <a:pPr lvl="1"/>
            <a:r>
              <a:rPr dirty="0"/>
              <a:t>Physical order determines turn (Token Ring, FDDI)</a:t>
            </a:r>
          </a:p>
          <a:p>
            <a:r>
              <a:rPr lang="en-US" dirty="0"/>
              <a:t>Opportunistic</a:t>
            </a:r>
            <a:endParaRPr dirty="0"/>
          </a:p>
          <a:p>
            <a:pPr lvl="1"/>
            <a:r>
              <a:rPr dirty="0"/>
              <a:t>Transmit when idle; back off </a:t>
            </a:r>
            <a:r>
              <a:rPr lang="en-US" dirty="0"/>
              <a:t>and retry </a:t>
            </a:r>
            <a:r>
              <a:rPr dirty="0"/>
              <a:t>on collision</a:t>
            </a:r>
            <a:r>
              <a:rPr lang="en-US" dirty="0"/>
              <a:t> (Ethernet)</a:t>
            </a:r>
            <a:endParaRPr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84F349-CB04-2D9A-D1DF-EBF63F38F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48224"/>
            <a:ext cx="10515600" cy="4573795"/>
          </a:xfrm>
        </p:spPr>
        <p:txBody>
          <a:bodyPr>
            <a:normAutofit/>
          </a:bodyPr>
          <a:lstStyle/>
          <a:p>
            <a:r>
              <a:rPr dirty="0"/>
              <a:t>Optimistic vs. conservative allocation</a:t>
            </a:r>
          </a:p>
          <a:p>
            <a:pPr lvl="1"/>
            <a:r>
              <a:rPr dirty="0"/>
              <a:t>Optimistic: transmit freely, back off on contention (Ethernet, Wi-Fi)</a:t>
            </a:r>
          </a:p>
          <a:p>
            <a:pPr lvl="1"/>
            <a:r>
              <a:rPr dirty="0"/>
              <a:t>Conservative: centrally allocate a share to each node (5G, PON)</a:t>
            </a:r>
          </a:p>
          <a:p>
            <a:r>
              <a:rPr dirty="0"/>
              <a:t>Broadcast medium</a:t>
            </a:r>
          </a:p>
          <a:p>
            <a:pPr lvl="1"/>
            <a:r>
              <a:rPr dirty="0"/>
              <a:t>Every node can hear every packet</a:t>
            </a:r>
          </a:p>
          <a:p>
            <a:pPr lvl="1"/>
            <a:r>
              <a:rPr dirty="0"/>
              <a:t>Enables broadcast, but also eavesdropping</a:t>
            </a:r>
          </a:p>
          <a:p>
            <a:r>
              <a:rPr dirty="0"/>
              <a:t>Mobility (wireless only)</a:t>
            </a:r>
          </a:p>
          <a:p>
            <a:pPr lvl="1"/>
            <a:r>
              <a:rPr dirty="0"/>
              <a:t>Which base station serves a given node, and when that changes</a:t>
            </a:r>
          </a:p>
          <a:p>
            <a:r>
              <a:rPr dirty="0"/>
              <a:t>Variable capacity (</a:t>
            </a:r>
            <a:r>
              <a:rPr lang="en-US" dirty="0"/>
              <a:t>primarily </a:t>
            </a:r>
            <a:r>
              <a:rPr dirty="0"/>
              <a:t>wireless)</a:t>
            </a:r>
          </a:p>
          <a:p>
            <a:pPr lvl="1"/>
            <a:r>
              <a:rPr dirty="0"/>
              <a:t>Available bandwidth changes with conditions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B41860-4B43-D4B0-78D8-56E0C39DB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Managing Spectrum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F5D500-26DE-4DCF-1F8D-51C96F1E1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91749"/>
            <a:ext cx="10515600" cy="5293966"/>
          </a:xfrm>
        </p:spPr>
        <p:txBody>
          <a:bodyPr>
            <a:normAutofit/>
          </a:bodyPr>
          <a:lstStyle/>
          <a:p>
            <a:r>
              <a:rPr lang="en-US" dirty="0"/>
              <a:t>Radio frequency bands are controlled by governments</a:t>
            </a:r>
          </a:p>
          <a:p>
            <a:pPr lvl="1"/>
            <a:r>
              <a:rPr lang="en-US" dirty="0"/>
              <a:t>A</a:t>
            </a:r>
            <a:r>
              <a:rPr dirty="0"/>
              <a:t>gencies</a:t>
            </a:r>
            <a:r>
              <a:rPr lang="en-US" dirty="0"/>
              <a:t> like the FCC (US)</a:t>
            </a:r>
            <a:r>
              <a:rPr dirty="0"/>
              <a:t> allocate spectrum</a:t>
            </a:r>
            <a:endParaRPr lang="en-US" dirty="0"/>
          </a:p>
          <a:p>
            <a:pPr lvl="1"/>
            <a:r>
              <a:rPr lang="en-US" dirty="0"/>
              <a:t>Much of it is licensed to MNO (Mobile Network Operators)</a:t>
            </a:r>
            <a:endParaRPr dirty="0"/>
          </a:p>
          <a:p>
            <a:pPr lvl="1"/>
            <a:r>
              <a:rPr lang="en-US" dirty="0"/>
              <a:t>L</a:t>
            </a:r>
            <a:r>
              <a:rPr dirty="0"/>
              <a:t>icense-exempt </a:t>
            </a:r>
            <a:r>
              <a:rPr lang="en-US" dirty="0"/>
              <a:t>(or lightly licensed) </a:t>
            </a:r>
            <a:r>
              <a:rPr dirty="0"/>
              <a:t>bands</a:t>
            </a:r>
            <a:r>
              <a:rPr lang="en-US" dirty="0"/>
              <a:t> are set aside</a:t>
            </a:r>
          </a:p>
          <a:p>
            <a:pPr lvl="2"/>
            <a:r>
              <a:rPr lang="en-US" dirty="0"/>
              <a:t>e.g., 5.150 GHz to 5.850 GHz is allocated to Wi-Fi</a:t>
            </a:r>
          </a:p>
          <a:p>
            <a:pPr lvl="2"/>
            <a:r>
              <a:rPr lang="en-US" dirty="0"/>
              <a:t>e.g., CBRS (Citizens Broadband Radio Service) used by “Private 5G”</a:t>
            </a:r>
            <a:endParaRPr dirty="0"/>
          </a:p>
          <a:p>
            <a:pPr lvl="1"/>
            <a:r>
              <a:rPr dirty="0"/>
              <a:t>Limits on transmission power bound range</a:t>
            </a:r>
            <a:endParaRPr lang="en-US" dirty="0"/>
          </a:p>
          <a:p>
            <a:pPr lvl="2"/>
            <a:r>
              <a:rPr lang="en-US" dirty="0"/>
              <a:t>e.g., 5GHz Wi-Fi typically has reach of 50-75ft indoors (100-300ft outdoors)</a:t>
            </a:r>
            <a:endParaRPr dirty="0"/>
          </a:p>
          <a:p>
            <a:r>
              <a:rPr lang="en-US" dirty="0"/>
              <a:t>Allocated bands then subdivided into channels</a:t>
            </a:r>
          </a:p>
          <a:p>
            <a:pPr lvl="1"/>
            <a:r>
              <a:rPr lang="en-US" dirty="0"/>
              <a:t>e.g., Wi-Fi’s 5GHz band is managed as 25 x 20-MHz channels</a:t>
            </a:r>
          </a:p>
          <a:p>
            <a:r>
              <a:rPr lang="en-US" dirty="0"/>
              <a:t>M</a:t>
            </a:r>
            <a:r>
              <a:rPr dirty="0"/>
              <a:t>ultiplexing </a:t>
            </a:r>
            <a:r>
              <a:rPr lang="en-US" dirty="0"/>
              <a:t>technique (next) mediates access to channels</a:t>
            </a:r>
          </a:p>
          <a:p>
            <a:pPr lvl="1"/>
            <a:r>
              <a:rPr lang="en-US" dirty="0"/>
              <a:t>Wi-Fi and 5G now adopt the same underlying multiplexing algorithm</a:t>
            </a:r>
            <a:endParaRPr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E7C58D-A562-5C5B-A951-B8B93479C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Transmission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080" y="1476360"/>
            <a:ext cx="5038613" cy="4351320"/>
          </a:xfrm>
        </p:spPr>
        <p:txBody>
          <a:bodyPr>
            <a:normAutofit/>
          </a:bodyPr>
          <a:lstStyle/>
          <a:p>
            <a:r>
              <a:rPr lang="en-US" sz="2400" dirty="0"/>
              <a:t>Deal with n</a:t>
            </a:r>
            <a:r>
              <a:rPr sz="2400" dirty="0"/>
              <a:t>oise</a:t>
            </a:r>
            <a:r>
              <a:rPr lang="en-US" sz="2400" dirty="0"/>
              <a:t> and </a:t>
            </a:r>
            <a:r>
              <a:rPr sz="2400" dirty="0"/>
              <a:t>attenuation </a:t>
            </a:r>
            <a:endParaRPr lang="en-US" sz="2400" dirty="0"/>
          </a:p>
          <a:p>
            <a:r>
              <a:rPr lang="en-US" sz="2400" dirty="0"/>
              <a:t>S</a:t>
            </a:r>
            <a:r>
              <a:rPr sz="2400" dirty="0"/>
              <a:t>ignal arrives via </a:t>
            </a:r>
            <a:r>
              <a:rPr lang="en-US" sz="2400" dirty="0"/>
              <a:t>multiple</a:t>
            </a:r>
            <a:r>
              <a:rPr sz="2400" dirty="0"/>
              <a:t> paths</a:t>
            </a:r>
            <a:endParaRPr lang="en-US" sz="2400" dirty="0"/>
          </a:p>
          <a:p>
            <a:pPr lvl="1"/>
            <a:r>
              <a:rPr lang="en-US" sz="2000" dirty="0"/>
              <a:t>Reflected signal</a:t>
            </a:r>
          </a:p>
          <a:p>
            <a:pPr lvl="1"/>
            <a:r>
              <a:rPr lang="en-US" sz="2000" dirty="0"/>
              <a:t>MIMO adds multiple paths by design</a:t>
            </a:r>
            <a:endParaRPr sz="2000" dirty="0"/>
          </a:p>
          <a:p>
            <a:r>
              <a:rPr sz="2400" dirty="0"/>
              <a:t>Coherence time</a:t>
            </a:r>
            <a:endParaRPr lang="en-US" sz="2400" dirty="0"/>
          </a:p>
          <a:p>
            <a:pPr lvl="1"/>
            <a:r>
              <a:rPr lang="en-US" sz="2000" dirty="0"/>
              <a:t>H</a:t>
            </a:r>
            <a:r>
              <a:rPr sz="2000" dirty="0"/>
              <a:t>ow long the channel stays stable</a:t>
            </a:r>
          </a:p>
          <a:p>
            <a:pPr lvl="1"/>
            <a:r>
              <a:rPr sz="2000" dirty="0"/>
              <a:t>Shorter at higher frequency or higher mobility</a:t>
            </a:r>
          </a:p>
          <a:p>
            <a:r>
              <a:rPr sz="2400" dirty="0"/>
              <a:t>Solution must adapt</a:t>
            </a:r>
            <a:endParaRPr lang="en-US" sz="2400" dirty="0"/>
          </a:p>
          <a:p>
            <a:pPr lvl="1"/>
            <a:r>
              <a:rPr lang="en-US" sz="2000" dirty="0"/>
              <a:t>Real-time </a:t>
            </a:r>
            <a:r>
              <a:rPr sz="2000" dirty="0"/>
              <a:t>conditions</a:t>
            </a:r>
            <a:endParaRPr lang="en-US" sz="2000" dirty="0"/>
          </a:p>
          <a:p>
            <a:pPr lvl="1"/>
            <a:r>
              <a:rPr lang="en-US" sz="2000" dirty="0"/>
              <a:t>Environment (e.g., urban, suburban)</a:t>
            </a:r>
            <a:endParaRPr sz="2000" dirty="0"/>
          </a:p>
        </p:txBody>
      </p:sp>
      <p:pic>
        <p:nvPicPr>
          <p:cNvPr id="4" name="Picture 3" descr="multi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1" y="1412992"/>
            <a:ext cx="5595276" cy="1873888"/>
          </a:xfrm>
          <a:prstGeom prst="rect">
            <a:avLst/>
          </a:prstGeom>
        </p:spPr>
      </p:pic>
      <p:pic>
        <p:nvPicPr>
          <p:cNvPr id="5" name="Picture 4" descr="coher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5186" y="3700550"/>
            <a:ext cx="5038613" cy="2693471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882FCD-5333-1CD4-3FA4-60F11A245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Multiplexing: OFDM to OFDMA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27356"/>
            <a:ext cx="10515600" cy="5051503"/>
          </a:xfrm>
        </p:spPr>
        <p:txBody>
          <a:bodyPr>
            <a:noAutofit/>
          </a:bodyPr>
          <a:lstStyle/>
          <a:p>
            <a:r>
              <a:rPr sz="2400" dirty="0"/>
              <a:t>Earlier approaches</a:t>
            </a:r>
            <a:endParaRPr lang="en-US" sz="2400" dirty="0"/>
          </a:p>
          <a:p>
            <a:pPr lvl="1"/>
            <a:r>
              <a:rPr lang="en-US" sz="2000" dirty="0"/>
              <a:t>F</a:t>
            </a:r>
            <a:r>
              <a:rPr sz="2000" dirty="0"/>
              <a:t>requency hopping, TDMA, CDMA</a:t>
            </a:r>
          </a:p>
          <a:p>
            <a:r>
              <a:rPr sz="2400" dirty="0"/>
              <a:t>OFDM</a:t>
            </a:r>
            <a:endParaRPr lang="en-US" sz="2400" dirty="0"/>
          </a:p>
          <a:p>
            <a:pPr lvl="1"/>
            <a:r>
              <a:rPr lang="en-US" sz="2000" dirty="0"/>
              <a:t>M</a:t>
            </a:r>
            <a:r>
              <a:rPr sz="2000" dirty="0"/>
              <a:t>any orthogonal subcarriers</a:t>
            </a:r>
            <a:endParaRPr lang="en-US" sz="2000" dirty="0"/>
          </a:p>
          <a:p>
            <a:pPr lvl="1"/>
            <a:r>
              <a:rPr lang="en-US" sz="2000" dirty="0"/>
              <a:t>E</a:t>
            </a:r>
            <a:r>
              <a:rPr sz="2000" dirty="0"/>
              <a:t>ach modulated independently</a:t>
            </a:r>
          </a:p>
          <a:p>
            <a:r>
              <a:rPr sz="2400" dirty="0"/>
              <a:t>OFDMA</a:t>
            </a:r>
            <a:endParaRPr lang="en-US" sz="2400" dirty="0"/>
          </a:p>
          <a:p>
            <a:pPr lvl="1"/>
            <a:r>
              <a:rPr sz="2000" dirty="0"/>
              <a:t>OFDM extended to multiple simultaneous users</a:t>
            </a:r>
          </a:p>
          <a:p>
            <a:pPr lvl="1"/>
            <a:r>
              <a:rPr sz="2000" dirty="0"/>
              <a:t>Each user gets a different subcarrier and time slot</a:t>
            </a:r>
          </a:p>
          <a:p>
            <a:r>
              <a:rPr sz="2400" dirty="0"/>
              <a:t>QAM sets bits per symbol</a:t>
            </a:r>
          </a:p>
          <a:p>
            <a:pPr lvl="1"/>
            <a:r>
              <a:rPr lang="en-US" sz="2000" dirty="0"/>
              <a:t>More capacity </a:t>
            </a:r>
            <a:r>
              <a:rPr sz="2000" dirty="0"/>
              <a:t>when channel quality is high</a:t>
            </a:r>
            <a:endParaRPr lang="en-US" sz="2000" dirty="0"/>
          </a:p>
          <a:p>
            <a:pPr lvl="1"/>
            <a:r>
              <a:rPr lang="en-US" sz="2000" dirty="0"/>
              <a:t>e.g., 16-QAM yields 4 bits per symbol and 64-QAM yields 6 bits per symbol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256AAD-A656-225E-9474-3C61D98BD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Resource Units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5849" y="1476360"/>
            <a:ext cx="5181480" cy="5102860"/>
          </a:xfrm>
        </p:spPr>
        <p:txBody>
          <a:bodyPr>
            <a:normAutofit/>
          </a:bodyPr>
          <a:lstStyle/>
          <a:p>
            <a:r>
              <a:rPr sz="2400" dirty="0"/>
              <a:t>Spectrum as a 2-D grid</a:t>
            </a:r>
            <a:endParaRPr lang="en-US" sz="2400" dirty="0"/>
          </a:p>
          <a:p>
            <a:pPr lvl="1"/>
            <a:r>
              <a:rPr lang="en-US" sz="2000" dirty="0"/>
              <a:t>S</a:t>
            </a:r>
            <a:r>
              <a:rPr sz="2000" dirty="0"/>
              <a:t>ubcarrier x </a:t>
            </a:r>
            <a:r>
              <a:rPr lang="en-US" sz="2000" dirty="0"/>
              <a:t>T</a:t>
            </a:r>
            <a:r>
              <a:rPr sz="2000" dirty="0"/>
              <a:t>ime</a:t>
            </a:r>
          </a:p>
          <a:p>
            <a:r>
              <a:rPr sz="2400" dirty="0"/>
              <a:t>Resource Unit (RU)</a:t>
            </a:r>
            <a:endParaRPr lang="en-US" sz="2400" dirty="0"/>
          </a:p>
          <a:p>
            <a:pPr lvl="1"/>
            <a:r>
              <a:rPr lang="en-US" sz="2000" dirty="0"/>
              <a:t>O</a:t>
            </a:r>
            <a:r>
              <a:rPr sz="2000" dirty="0"/>
              <a:t>ne subcarrier</a:t>
            </a:r>
            <a:endParaRPr lang="en-US" sz="2000" dirty="0"/>
          </a:p>
          <a:p>
            <a:pPr lvl="1"/>
            <a:r>
              <a:rPr lang="en-US" sz="2000" dirty="0"/>
              <a:t>O</a:t>
            </a:r>
            <a:r>
              <a:rPr sz="2000" dirty="0"/>
              <a:t>ne symbol time</a:t>
            </a:r>
          </a:p>
          <a:p>
            <a:r>
              <a:rPr sz="2400" dirty="0"/>
              <a:t>Physical Block</a:t>
            </a:r>
            <a:endParaRPr lang="en-US" sz="2400" dirty="0"/>
          </a:p>
          <a:p>
            <a:pPr lvl="1"/>
            <a:r>
              <a:rPr lang="en-US" sz="2000" dirty="0"/>
              <a:t>Set </a:t>
            </a:r>
            <a:r>
              <a:rPr sz="2000" dirty="0"/>
              <a:t>of RUs </a:t>
            </a:r>
            <a:r>
              <a:rPr lang="en-US" sz="2000" dirty="0"/>
              <a:t>scheduled as a unit</a:t>
            </a:r>
            <a:endParaRPr sz="2000" dirty="0"/>
          </a:p>
          <a:p>
            <a:r>
              <a:rPr sz="2400" dirty="0"/>
              <a:t>Scheduler decides</a:t>
            </a:r>
          </a:p>
          <a:p>
            <a:pPr lvl="1"/>
            <a:r>
              <a:rPr sz="2000" dirty="0"/>
              <a:t>Modulation and MIMO parameters for next interval</a:t>
            </a:r>
          </a:p>
          <a:p>
            <a:pPr lvl="1"/>
            <a:r>
              <a:rPr sz="2000" dirty="0"/>
              <a:t>Which users get which R</a:t>
            </a:r>
            <a:r>
              <a:rPr lang="en-US" sz="2000" dirty="0"/>
              <a:t>Us</a:t>
            </a:r>
          </a:p>
          <a:p>
            <a:r>
              <a:rPr lang="en-US" sz="2400" dirty="0"/>
              <a:t>“Numerology” is a particular config</a:t>
            </a:r>
          </a:p>
          <a:p>
            <a:pPr lvl="1"/>
            <a:r>
              <a:rPr lang="en-US" sz="2000" dirty="0"/>
              <a:t>Subcarrier spacing, symbol width, QAM</a:t>
            </a:r>
          </a:p>
          <a:p>
            <a:pPr lvl="1"/>
            <a:endParaRPr sz="2000" dirty="0"/>
          </a:p>
        </p:txBody>
      </p:sp>
      <p:pic>
        <p:nvPicPr>
          <p:cNvPr id="4" name="Picture 3" descr="sched-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1386" y="1650381"/>
            <a:ext cx="6529771" cy="3278458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89060B-9F6C-87C8-F85F-9A9ECE608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Wi-Fi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2C1361-577A-B9E7-61D4-DD532112F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IEEE 802.11 standard</a:t>
            </a:r>
            <a:endParaRPr lang="en-US" dirty="0"/>
          </a:p>
          <a:p>
            <a:pPr lvl="1"/>
            <a:r>
              <a:rPr lang="en-US" dirty="0"/>
              <a:t>“</a:t>
            </a:r>
            <a:r>
              <a:rPr dirty="0"/>
              <a:t>Wi-Fi</a:t>
            </a:r>
            <a:r>
              <a:rPr lang="en-US" dirty="0"/>
              <a:t>"</a:t>
            </a:r>
            <a:r>
              <a:rPr dirty="0"/>
              <a:t> is a certification trademark</a:t>
            </a:r>
          </a:p>
          <a:p>
            <a:r>
              <a:rPr dirty="0"/>
              <a:t>Backward compatible across generations</a:t>
            </a:r>
          </a:p>
          <a:p>
            <a:pPr lvl="1"/>
            <a:r>
              <a:rPr dirty="0"/>
              <a:t>802.11a/g/n/ac all use OFDM</a:t>
            </a:r>
          </a:p>
          <a:p>
            <a:pPr lvl="1"/>
            <a:r>
              <a:rPr dirty="0"/>
              <a:t>802.11ax (Wi-Fi 6) adds the OFDMA framework</a:t>
            </a:r>
            <a:endParaRPr lang="en-US" dirty="0"/>
          </a:p>
          <a:p>
            <a:r>
              <a:rPr lang="en-US" dirty="0"/>
              <a:t>Collision Avoidance (CA)</a:t>
            </a:r>
          </a:p>
          <a:p>
            <a:pPr lvl="1"/>
            <a:r>
              <a:rPr lang="en-US" dirty="0"/>
              <a:t>Can't detect collisions while transmitting</a:t>
            </a:r>
          </a:p>
          <a:p>
            <a:pPr lvl="1"/>
            <a:r>
              <a:rPr lang="en-US" dirty="0"/>
              <a:t>Use CSMA/CA instead of CSMA/CD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5A2A4A-3C41-CDE0-1C80-2D7244EAD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080" y="1476360"/>
            <a:ext cx="5181480" cy="4351320"/>
          </a:xfrm>
        </p:spPr>
        <p:txBody>
          <a:bodyPr/>
          <a:lstStyle/>
          <a:p>
            <a:r>
              <a:rPr dirty="0"/>
              <a:t>Hidden </a:t>
            </a:r>
            <a:r>
              <a:rPr lang="en-US" dirty="0"/>
              <a:t>N</a:t>
            </a:r>
            <a:r>
              <a:rPr dirty="0"/>
              <a:t>odes</a:t>
            </a:r>
            <a:endParaRPr lang="en-US" dirty="0"/>
          </a:p>
          <a:p>
            <a:pPr lvl="1"/>
            <a:r>
              <a:rPr lang="en-US" dirty="0"/>
              <a:t>O</a:t>
            </a:r>
            <a:r>
              <a:rPr dirty="0"/>
              <a:t>ut of range of each other, collide at a shared neighbor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dirty="0"/>
              <a:t>Exposed </a:t>
            </a:r>
            <a:r>
              <a:rPr lang="en-US" dirty="0"/>
              <a:t>N</a:t>
            </a:r>
            <a:r>
              <a:rPr dirty="0"/>
              <a:t>odes</a:t>
            </a:r>
            <a:endParaRPr lang="en-US" dirty="0"/>
          </a:p>
          <a:p>
            <a:pPr lvl="1"/>
            <a:r>
              <a:rPr lang="en-US" dirty="0"/>
              <a:t>C</a:t>
            </a:r>
            <a:r>
              <a:rPr dirty="0"/>
              <a:t>an hear each other, but transmissions wouldn't actuall</a:t>
            </a:r>
            <a:r>
              <a:rPr lang="en-US" dirty="0"/>
              <a:t>y</a:t>
            </a:r>
            <a:r>
              <a:rPr dirty="0"/>
              <a:t> interfere</a:t>
            </a:r>
            <a:r>
              <a:rPr lang="en-US" dirty="0"/>
              <a:t> at destinations</a:t>
            </a:r>
            <a:endParaRPr dirty="0"/>
          </a:p>
        </p:txBody>
      </p:sp>
      <p:pic>
        <p:nvPicPr>
          <p:cNvPr id="4" name="Picture 3" descr="f02-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1004" y="1287205"/>
            <a:ext cx="3989131" cy="2364815"/>
          </a:xfrm>
          <a:prstGeom prst="rect">
            <a:avLst/>
          </a:prstGeom>
        </p:spPr>
      </p:pic>
      <p:pic>
        <p:nvPicPr>
          <p:cNvPr id="5" name="Picture 4" descr="f02-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0210" y="4024824"/>
            <a:ext cx="3275881" cy="2473254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2C1581-731C-08CF-E843-E2744B707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RTS-CTS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Sender sends a short RTS; receiver replies with a CTS</a:t>
            </a:r>
          </a:p>
          <a:p>
            <a:r>
              <a:rPr dirty="0"/>
              <a:t>CTS reaches hidden nodes even if the RTS didn't</a:t>
            </a:r>
          </a:p>
          <a:p>
            <a:r>
              <a:rPr dirty="0"/>
              <a:t>Nearby nodes stay quiet for the announced transmission time</a:t>
            </a:r>
          </a:p>
          <a:p>
            <a:r>
              <a:rPr dirty="0"/>
              <a:t>Colliding RTS frames handled by exponential backoff</a:t>
            </a:r>
            <a:endParaRPr lang="en-US" dirty="0"/>
          </a:p>
          <a:p>
            <a:pPr lvl="1"/>
            <a:r>
              <a:rPr lang="en-US" dirty="0"/>
              <a:t>After 1</a:t>
            </a:r>
            <a:r>
              <a:rPr lang="en-US" baseline="30000" dirty="0"/>
              <a:t>st</a:t>
            </a:r>
            <a:r>
              <a:rPr lang="en-US" dirty="0"/>
              <a:t> collision, delay either 0 or 51.2 </a:t>
            </a:r>
            <a:r>
              <a:rPr lang="en-US" dirty="0" err="1"/>
              <a:t>μs</a:t>
            </a:r>
            <a:r>
              <a:rPr lang="en-US" dirty="0"/>
              <a:t> (selected at random)</a:t>
            </a:r>
          </a:p>
          <a:p>
            <a:pPr lvl="1"/>
            <a:r>
              <a:rPr lang="en-US" dirty="0"/>
              <a:t>After 2</a:t>
            </a:r>
            <a:r>
              <a:rPr lang="en-US" baseline="30000" dirty="0"/>
              <a:t>nd</a:t>
            </a:r>
            <a:r>
              <a:rPr lang="en-US" dirty="0"/>
              <a:t> collision,  delay either 0, 51.2, 102.4, or 153.6 </a:t>
            </a:r>
            <a:r>
              <a:rPr lang="en-US" dirty="0" err="1"/>
              <a:t>μs</a:t>
            </a:r>
            <a:endParaRPr lang="en-US" dirty="0"/>
          </a:p>
          <a:p>
            <a:pPr lvl="1"/>
            <a:r>
              <a:rPr lang="en-US" dirty="0"/>
              <a:t>…</a:t>
            </a:r>
          </a:p>
          <a:p>
            <a:pPr lvl="1"/>
            <a:r>
              <a:rPr lang="en-US" dirty="0"/>
              <a:t>After N</a:t>
            </a:r>
            <a:r>
              <a:rPr lang="en-US" baseline="30000" dirty="0"/>
              <a:t>th</a:t>
            </a:r>
            <a:r>
              <a:rPr lang="en-US" dirty="0"/>
              <a:t> collision, delay </a:t>
            </a:r>
            <a:r>
              <a:rPr lang="en-US" i="1" dirty="0"/>
              <a:t>k × 51.2</a:t>
            </a:r>
            <a:r>
              <a:rPr lang="en-US" dirty="0"/>
              <a:t> </a:t>
            </a:r>
            <a:r>
              <a:rPr lang="en-US" dirty="0" err="1"/>
              <a:t>μs</a:t>
            </a:r>
            <a:r>
              <a:rPr lang="en-US" dirty="0"/>
              <a:t> for randomly selected k = [0..2</a:t>
            </a:r>
            <a:r>
              <a:rPr lang="en-US" baseline="30000" dirty="0"/>
              <a:t>N</a:t>
            </a:r>
            <a:r>
              <a:rPr lang="en-US" dirty="0"/>
              <a:t>-1]</a:t>
            </a:r>
            <a:endParaRPr lang="en-US" baseline="30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F01026-6A71-3ABE-7C94-785353563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Distribution System</a:t>
            </a:r>
          </a:p>
        </p:txBody>
      </p:sp>
      <p:pic>
        <p:nvPicPr>
          <p:cNvPr id="5" name="Picture 4" descr="wireless3.png">
            <a:extLst>
              <a:ext uri="{FF2B5EF4-FFF2-40B4-BE49-F238E27FC236}">
                <a16:creationId xmlns:a16="http://schemas.microsoft.com/office/drawing/2014/main" id="{CE65F60C-026E-E40C-0200-BA8A5CC34E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6233" y="1679042"/>
            <a:ext cx="5181480" cy="3225595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6207" y="1465209"/>
            <a:ext cx="6700144" cy="4351320"/>
          </a:xfrm>
        </p:spPr>
        <p:txBody>
          <a:bodyPr>
            <a:normAutofit/>
          </a:bodyPr>
          <a:lstStyle/>
          <a:p>
            <a:r>
              <a:rPr sz="2400" dirty="0"/>
              <a:t>Access </a:t>
            </a:r>
            <a:r>
              <a:rPr lang="en-US" sz="2400" dirty="0"/>
              <a:t>P</a:t>
            </a:r>
            <a:r>
              <a:rPr sz="2400" dirty="0"/>
              <a:t>oints connected by a wired</a:t>
            </a:r>
            <a:r>
              <a:rPr lang="en-US" sz="2400" dirty="0"/>
              <a:t> backbone</a:t>
            </a:r>
          </a:p>
          <a:p>
            <a:pPr lvl="1"/>
            <a:r>
              <a:rPr lang="en-US" sz="2000" dirty="0"/>
              <a:t>Assumes L2 forwarding</a:t>
            </a:r>
            <a:endParaRPr sz="2000" dirty="0"/>
          </a:p>
          <a:p>
            <a:r>
              <a:rPr sz="2400" dirty="0"/>
              <a:t>Node associates with one AP</a:t>
            </a:r>
          </a:p>
          <a:p>
            <a:r>
              <a:rPr sz="2400" dirty="0"/>
              <a:t>Scanning: how a node selects an AP</a:t>
            </a:r>
          </a:p>
          <a:p>
            <a:pPr lvl="1"/>
            <a:r>
              <a:rPr sz="2000" dirty="0"/>
              <a:t>Probe / Probe Response</a:t>
            </a:r>
          </a:p>
          <a:p>
            <a:pPr lvl="1"/>
            <a:r>
              <a:rPr sz="2000" dirty="0"/>
              <a:t>Association Request / Association Response</a:t>
            </a:r>
            <a:endParaRPr lang="en-US" sz="2000" dirty="0"/>
          </a:p>
          <a:p>
            <a:r>
              <a:rPr lang="en-US" sz="2400" dirty="0"/>
              <a:t>Handling mobility</a:t>
            </a:r>
          </a:p>
          <a:p>
            <a:pPr lvl="1"/>
            <a:r>
              <a:rPr lang="en-US" sz="2000" dirty="0"/>
              <a:t>Active scanning: node sends Probes while moving</a:t>
            </a:r>
          </a:p>
          <a:p>
            <a:pPr lvl="1"/>
            <a:r>
              <a:rPr lang="en-US" sz="2000" dirty="0"/>
              <a:t>Passive scanning: node listens for Beacon frames</a:t>
            </a:r>
          </a:p>
          <a:p>
            <a:pPr lvl="1"/>
            <a:r>
              <a:rPr lang="en-US" sz="2000" dirty="0"/>
              <a:t>New AP notifies the old AP of the change</a:t>
            </a:r>
          </a:p>
          <a:p>
            <a:endParaRPr lang="en-US" sz="2400" dirty="0"/>
          </a:p>
          <a:p>
            <a:pPr lvl="1"/>
            <a:endParaRPr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EF1967-EC57-984C-02B8-75EADCBD0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Frame Format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079" y="1476360"/>
            <a:ext cx="10658827" cy="2538079"/>
          </a:xfrm>
        </p:spPr>
        <p:txBody>
          <a:bodyPr/>
          <a:lstStyle/>
          <a:p>
            <a:r>
              <a:rPr dirty="0"/>
              <a:t>Four addresses</a:t>
            </a:r>
            <a:r>
              <a:rPr lang="en-US" dirty="0"/>
              <a:t> (</a:t>
            </a:r>
            <a:r>
              <a:rPr dirty="0"/>
              <a:t>not two</a:t>
            </a:r>
            <a:r>
              <a:rPr lang="en-US" dirty="0"/>
              <a:t>)</a:t>
            </a:r>
            <a:endParaRPr dirty="0"/>
          </a:p>
          <a:p>
            <a:r>
              <a:rPr dirty="0" err="1"/>
              <a:t>ToDS</a:t>
            </a:r>
            <a:r>
              <a:rPr dirty="0"/>
              <a:t> / </a:t>
            </a:r>
            <a:r>
              <a:rPr dirty="0" err="1"/>
              <a:t>FromDS</a:t>
            </a:r>
            <a:r>
              <a:rPr dirty="0"/>
              <a:t> bits </a:t>
            </a:r>
            <a:r>
              <a:rPr lang="en-US" dirty="0"/>
              <a:t>in Control field </a:t>
            </a:r>
            <a:r>
              <a:rPr dirty="0"/>
              <a:t>determine how they're interpreted</a:t>
            </a:r>
          </a:p>
          <a:p>
            <a:pPr lvl="1"/>
            <a:r>
              <a:rPr dirty="0"/>
              <a:t>Both 0: direct node-to-node frame</a:t>
            </a:r>
          </a:p>
          <a:p>
            <a:pPr lvl="1"/>
            <a:r>
              <a:rPr dirty="0"/>
              <a:t>Both 1: frame crossed the distribution system</a:t>
            </a:r>
            <a:endParaRPr lang="en-US" dirty="0"/>
          </a:p>
          <a:p>
            <a:pPr lvl="1"/>
            <a:r>
              <a:rPr lang="en-US" dirty="0"/>
              <a:t>Rest of Control field is used to distinguish RTS, CTS, and so on</a:t>
            </a:r>
            <a:endParaRPr dirty="0"/>
          </a:p>
        </p:txBody>
      </p:sp>
      <p:pic>
        <p:nvPicPr>
          <p:cNvPr id="4" name="Picture 3" descr="f02-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7203" y="4909146"/>
            <a:ext cx="9102301" cy="898592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42A276-EB80-85DD-6BF1-84B30A6E1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Wireless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4107" y="1476360"/>
            <a:ext cx="5988205" cy="4351320"/>
          </a:xfrm>
        </p:spPr>
        <p:txBody>
          <a:bodyPr>
            <a:normAutofit/>
          </a:bodyPr>
          <a:lstStyle/>
          <a:p>
            <a:r>
              <a:rPr sz="2400" dirty="0"/>
              <a:t>802.11i (WPA3)</a:t>
            </a:r>
            <a:endParaRPr lang="en-US" sz="2400" dirty="0"/>
          </a:p>
          <a:p>
            <a:pPr lvl="1"/>
            <a:r>
              <a:rPr lang="en-US" sz="2000" dirty="0"/>
              <a:t>A</a:t>
            </a:r>
            <a:r>
              <a:rPr sz="2000" dirty="0"/>
              <a:t>uthentication</a:t>
            </a:r>
            <a:endParaRPr lang="en-US" sz="2000" dirty="0"/>
          </a:p>
          <a:p>
            <a:pPr lvl="1"/>
            <a:r>
              <a:rPr lang="en-US" sz="2000" dirty="0"/>
              <a:t>I</a:t>
            </a:r>
            <a:r>
              <a:rPr sz="2000" dirty="0"/>
              <a:t>ntegrity</a:t>
            </a:r>
            <a:endParaRPr lang="en-US" sz="2000" dirty="0"/>
          </a:p>
          <a:p>
            <a:pPr lvl="1"/>
            <a:r>
              <a:rPr lang="en-US" sz="2000" dirty="0"/>
              <a:t>C</a:t>
            </a:r>
            <a:r>
              <a:rPr sz="2000" dirty="0"/>
              <a:t>onfidentiality</a:t>
            </a:r>
          </a:p>
          <a:p>
            <a:r>
              <a:rPr sz="2400" dirty="0"/>
              <a:t>4-way handshake establishes session keys</a:t>
            </a:r>
          </a:p>
          <a:p>
            <a:r>
              <a:rPr sz="2400" dirty="0"/>
              <a:t>CCMP provides confidentiality and integrity</a:t>
            </a:r>
          </a:p>
        </p:txBody>
      </p:sp>
      <p:pic>
        <p:nvPicPr>
          <p:cNvPr id="4" name="Picture 3" descr="auth-ser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9589" y="2277584"/>
            <a:ext cx="5181480" cy="2748871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8F17DF-E4AA-1A25-1B5F-4AD16B85B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Scheduling Transmission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5634" y="1265501"/>
            <a:ext cx="9398740" cy="1952640"/>
          </a:xfrm>
        </p:spPr>
        <p:txBody>
          <a:bodyPr>
            <a:normAutofit/>
          </a:bodyPr>
          <a:lstStyle/>
          <a:p>
            <a:r>
              <a:rPr sz="2400" dirty="0"/>
              <a:t>Best-effort; no QoS guarantees</a:t>
            </a:r>
          </a:p>
          <a:p>
            <a:r>
              <a:rPr sz="2400" dirty="0"/>
              <a:t>FIFO queue at the MAC layer</a:t>
            </a:r>
          </a:p>
          <a:p>
            <a:r>
              <a:rPr sz="2400" dirty="0"/>
              <a:t>Wi-Fi 6 </a:t>
            </a:r>
            <a:r>
              <a:rPr lang="en-US" sz="2400" dirty="0"/>
              <a:t>piggybacks </a:t>
            </a:r>
            <a:r>
              <a:rPr sz="2400" dirty="0"/>
              <a:t>RU assignment</a:t>
            </a:r>
            <a:r>
              <a:rPr lang="en-US" sz="2400" dirty="0"/>
              <a:t> on </a:t>
            </a:r>
            <a:r>
              <a:rPr sz="2400" dirty="0"/>
              <a:t>RTS/CTS messages</a:t>
            </a:r>
          </a:p>
          <a:p>
            <a:r>
              <a:rPr sz="2400" dirty="0"/>
              <a:t>Device holds its subcarriers until its packet is sent</a:t>
            </a:r>
          </a:p>
        </p:txBody>
      </p:sp>
      <p:pic>
        <p:nvPicPr>
          <p:cNvPr id="4" name="Picture 3" descr="wifi-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6946" y="3408580"/>
            <a:ext cx="5856129" cy="3337898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E1FBD8-0994-18D8-DDAA-41D960329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Mobile Cellular Network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4B23D7-EE68-BD99-4D46-97C7E795D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03454"/>
            <a:ext cx="10515600" cy="5407208"/>
          </a:xfrm>
        </p:spPr>
        <p:txBody>
          <a:bodyPr>
            <a:normAutofit/>
          </a:bodyPr>
          <a:lstStyle/>
          <a:p>
            <a:r>
              <a:rPr dirty="0"/>
              <a:t>3GPP: standards body for cellular networks</a:t>
            </a:r>
          </a:p>
          <a:p>
            <a:r>
              <a:rPr dirty="0"/>
              <a:t>5G goals</a:t>
            </a:r>
            <a:r>
              <a:rPr lang="en-US" baseline="30000" dirty="0"/>
              <a:t>*</a:t>
            </a:r>
            <a:endParaRPr baseline="30000" dirty="0"/>
          </a:p>
          <a:p>
            <a:pPr lvl="1"/>
            <a:r>
              <a:rPr dirty="0"/>
              <a:t>Massive IoT</a:t>
            </a:r>
            <a:endParaRPr lang="en-US" dirty="0"/>
          </a:p>
          <a:p>
            <a:pPr lvl="2"/>
            <a:r>
              <a:rPr lang="en-US" dirty="0"/>
              <a:t>Energy: 10+ years battery lifetime</a:t>
            </a:r>
          </a:p>
          <a:p>
            <a:pPr lvl="2"/>
            <a:r>
              <a:rPr lang="en-US" dirty="0"/>
              <a:t>Simplicity: 10s of bits per second</a:t>
            </a:r>
          </a:p>
          <a:p>
            <a:pPr lvl="2"/>
            <a:r>
              <a:rPr lang="en-US" dirty="0"/>
              <a:t>Density: 1M devices per square kilometer</a:t>
            </a:r>
          </a:p>
          <a:p>
            <a:pPr lvl="1"/>
            <a:r>
              <a:rPr dirty="0"/>
              <a:t>Mission-critical</a:t>
            </a:r>
            <a:r>
              <a:rPr lang="en-US" dirty="0"/>
              <a:t> Control</a:t>
            </a:r>
          </a:p>
          <a:p>
            <a:pPr lvl="2"/>
            <a:r>
              <a:rPr lang="en-US" dirty="0"/>
              <a:t>Availability 99.999% (</a:t>
            </a:r>
            <a:r>
              <a:rPr dirty="0"/>
              <a:t>five nines</a:t>
            </a:r>
            <a:r>
              <a:rPr lang="en-US" dirty="0"/>
              <a:t>)</a:t>
            </a:r>
          </a:p>
          <a:p>
            <a:pPr lvl="2"/>
            <a:r>
              <a:rPr lang="en-US" dirty="0"/>
              <a:t>Low Latency: under </a:t>
            </a:r>
            <a:r>
              <a:rPr dirty="0"/>
              <a:t>1ms</a:t>
            </a:r>
            <a:endParaRPr lang="en-US" dirty="0"/>
          </a:p>
          <a:p>
            <a:pPr lvl="2"/>
            <a:r>
              <a:rPr lang="en-US" dirty="0"/>
              <a:t>Mobility: up to 100 km/</a:t>
            </a:r>
            <a:r>
              <a:rPr lang="en-US" dirty="0" err="1"/>
              <a:t>hr</a:t>
            </a:r>
            <a:endParaRPr dirty="0"/>
          </a:p>
          <a:p>
            <a:pPr lvl="1"/>
            <a:r>
              <a:rPr dirty="0"/>
              <a:t>Enhanced </a:t>
            </a:r>
            <a:r>
              <a:rPr lang="en-US" dirty="0"/>
              <a:t>B</a:t>
            </a:r>
            <a:r>
              <a:rPr dirty="0"/>
              <a:t>roadband</a:t>
            </a:r>
            <a:endParaRPr lang="en-US" dirty="0"/>
          </a:p>
          <a:p>
            <a:pPr lvl="2"/>
            <a:r>
              <a:rPr lang="en-US" dirty="0"/>
              <a:t>Per-User Peak: </a:t>
            </a:r>
            <a:r>
              <a:rPr dirty="0"/>
              <a:t>multi-Gbps</a:t>
            </a:r>
            <a:endParaRPr lang="en-US" dirty="0"/>
          </a:p>
          <a:p>
            <a:pPr lvl="2"/>
            <a:r>
              <a:rPr lang="en-US" dirty="0"/>
              <a:t>Per-User Sustained: 100+ Mbps</a:t>
            </a:r>
          </a:p>
          <a:p>
            <a:pPr lvl="2"/>
            <a:r>
              <a:rPr lang="en-US" dirty="0"/>
              <a:t>Aggregate: 10 </a:t>
            </a:r>
            <a:r>
              <a:rPr lang="en-US" dirty="0" err="1"/>
              <a:t>Tbps</a:t>
            </a:r>
            <a:r>
              <a:rPr lang="en-US" dirty="0"/>
              <a:t> per square kilometer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A90108-94D4-D10F-14AA-80D5C5C012C0}"/>
              </a:ext>
            </a:extLst>
          </p:cNvPr>
          <p:cNvSpPr txBox="1"/>
          <p:nvPr/>
        </p:nvSpPr>
        <p:spPr>
          <a:xfrm>
            <a:off x="9578714" y="6220915"/>
            <a:ext cx="2143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aseline="30000" dirty="0">
                <a:latin typeface="Calibri" panose="020F0502020204030204" pitchFamily="34" charset="0"/>
                <a:cs typeface="Calibri" panose="020F0502020204030204" pitchFamily="34" charset="0"/>
              </a:rPr>
              <a:t>*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Aspirational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A97C85-A6DE-947E-00F4-04196D2E5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RAN and Mobile Core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080" y="1286793"/>
            <a:ext cx="10190476" cy="1099568"/>
          </a:xfrm>
        </p:spPr>
        <p:txBody>
          <a:bodyPr>
            <a:normAutofit/>
          </a:bodyPr>
          <a:lstStyle/>
          <a:p>
            <a:r>
              <a:rPr sz="2400" dirty="0"/>
              <a:t>Radio Access Network (RAN): </a:t>
            </a:r>
            <a:r>
              <a:rPr lang="en-US" sz="2400" dirty="0"/>
              <a:t>network of </a:t>
            </a:r>
            <a:r>
              <a:rPr sz="2400" dirty="0"/>
              <a:t>base stations (gNB)</a:t>
            </a:r>
          </a:p>
          <a:p>
            <a:r>
              <a:rPr sz="2400" dirty="0"/>
              <a:t>Mobile Core: authentication, IP connectivity, QoS, mobility, billing</a:t>
            </a:r>
          </a:p>
        </p:txBody>
      </p:sp>
      <p:pic>
        <p:nvPicPr>
          <p:cNvPr id="4" name="Picture 3" descr="cellu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7783" y="2564780"/>
            <a:ext cx="8631507" cy="3879847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BDFC65-88F1-CAB4-EFCB-DB62EB783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Control and User Plane Separation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079" y="1181686"/>
            <a:ext cx="8807726" cy="2025748"/>
          </a:xfrm>
        </p:spPr>
        <p:txBody>
          <a:bodyPr>
            <a:normAutofit fontScale="92500" lnSpcReduction="10000"/>
          </a:bodyPr>
          <a:lstStyle/>
          <a:p>
            <a:r>
              <a:rPr dirty="0"/>
              <a:t>Each base station</a:t>
            </a:r>
            <a:r>
              <a:rPr lang="en-US" dirty="0"/>
              <a:t> independently…</a:t>
            </a:r>
            <a:r>
              <a:rPr dirty="0"/>
              <a:t> </a:t>
            </a:r>
            <a:endParaRPr lang="en-US" dirty="0"/>
          </a:p>
          <a:p>
            <a:pPr lvl="1"/>
            <a:r>
              <a:rPr lang="en-US" dirty="0"/>
              <a:t>Schedules RUs for transmission</a:t>
            </a:r>
          </a:p>
          <a:p>
            <a:pPr lvl="1"/>
            <a:r>
              <a:rPr lang="en-US" dirty="0"/>
              <a:t>Handles D-to-A conversion</a:t>
            </a:r>
            <a:endParaRPr dirty="0"/>
          </a:p>
          <a:p>
            <a:r>
              <a:rPr dirty="0"/>
              <a:t>Mobile Core split into Control Plane and User Plane</a:t>
            </a:r>
          </a:p>
          <a:p>
            <a:pPr lvl="1"/>
            <a:r>
              <a:rPr lang="en-US" dirty="0"/>
              <a:t>Same idea as Data/Control Planes split</a:t>
            </a:r>
          </a:p>
        </p:txBody>
      </p:sp>
      <p:pic>
        <p:nvPicPr>
          <p:cNvPr id="4" name="Picture 3" descr="cu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0770" y="3346398"/>
            <a:ext cx="6055597" cy="3043293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8B6890-775A-734F-DD29-3467811F6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Establishing </a:t>
            </a:r>
            <a:r>
              <a:rPr lang="en-US" dirty="0"/>
              <a:t>Connectivity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080" y="1476359"/>
            <a:ext cx="5181480" cy="4497651"/>
          </a:xfrm>
        </p:spPr>
        <p:txBody>
          <a:bodyPr>
            <a:normAutofit/>
          </a:bodyPr>
          <a:lstStyle/>
          <a:p>
            <a:r>
              <a:rPr sz="2400" dirty="0"/>
              <a:t>Base station detects a UE, establishes a wireless channel</a:t>
            </a:r>
          </a:p>
          <a:p>
            <a:r>
              <a:rPr sz="2400" dirty="0"/>
              <a:t>Channel released after a period of inactivity</a:t>
            </a:r>
          </a:p>
        </p:txBody>
      </p:sp>
      <p:pic>
        <p:nvPicPr>
          <p:cNvPr id="4" name="Picture 3" descr="active-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80" y="3634069"/>
            <a:ext cx="4860193" cy="2178012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0E62BFE-37E0-08B3-4ACF-11049F4308C9}"/>
              </a:ext>
            </a:extLst>
          </p:cNvPr>
          <p:cNvSpPr txBox="1">
            <a:spLocks/>
          </p:cNvSpPr>
          <p:nvPr/>
        </p:nvSpPr>
        <p:spPr>
          <a:xfrm>
            <a:off x="6369076" y="1476360"/>
            <a:ext cx="5181480" cy="43513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20000"/>
              <a:buFont typeface="System Font Regular"/>
              <a:buChar char="-"/>
              <a:defRPr sz="2400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2000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Base station links each UE to the Core's Control Plane</a:t>
            </a:r>
          </a:p>
          <a:p>
            <a:r>
              <a:rPr lang="en-US" sz="2400" dirty="0"/>
              <a:t>Control plane authenticate the UE</a:t>
            </a:r>
          </a:p>
        </p:txBody>
      </p:sp>
      <p:pic>
        <p:nvPicPr>
          <p:cNvPr id="6" name="Picture 5" descr="control-plane.png">
            <a:extLst>
              <a:ext uri="{FF2B5EF4-FFF2-40B4-BE49-F238E27FC236}">
                <a16:creationId xmlns:a16="http://schemas.microsoft.com/office/drawing/2014/main" id="{73FCB137-DD91-C224-2AD8-44AA1225B7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0010" y="3633358"/>
            <a:ext cx="4863912" cy="2194321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C283FD4-17E6-AE54-2D15-7B66D72EE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ec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2012" y="2645320"/>
            <a:ext cx="7171973" cy="273632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Mobile Core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078" y="1476359"/>
            <a:ext cx="6019921" cy="4801777"/>
          </a:xfrm>
        </p:spPr>
        <p:txBody>
          <a:bodyPr>
            <a:noAutofit/>
          </a:bodyPr>
          <a:lstStyle/>
          <a:p>
            <a:r>
              <a:rPr sz="2400" dirty="0"/>
              <a:t>SIM holds a unique IMSI and a secret key</a:t>
            </a:r>
          </a:p>
          <a:p>
            <a:r>
              <a:rPr sz="2400" dirty="0"/>
              <a:t>IMSI encodes MCC / MNC / Subscriber ID</a:t>
            </a:r>
          </a:p>
          <a:p>
            <a:r>
              <a:rPr sz="2400" dirty="0"/>
              <a:t>Connection sequence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Mobility</a:t>
            </a:r>
          </a:p>
          <a:p>
            <a:pPr lvl="1"/>
            <a:r>
              <a:rPr lang="en-US" sz="2000" dirty="0"/>
              <a:t>Inter-</a:t>
            </a:r>
            <a:r>
              <a:rPr lang="en-US" sz="2000" dirty="0" err="1"/>
              <a:t>basestation</a:t>
            </a:r>
            <a:r>
              <a:rPr lang="en-US" sz="2000" dirty="0"/>
              <a:t> mobility is transparent</a:t>
            </a:r>
          </a:p>
          <a:p>
            <a:pPr lvl="1"/>
            <a:r>
              <a:rPr lang="en-US" sz="2000" dirty="0"/>
              <a:t>R</a:t>
            </a:r>
            <a:r>
              <a:rPr sz="2000" dirty="0"/>
              <a:t>e-run these steps </a:t>
            </a:r>
            <a:r>
              <a:rPr lang="en-US" sz="2000" dirty="0"/>
              <a:t>if </a:t>
            </a:r>
            <a:r>
              <a:rPr sz="2000" dirty="0"/>
              <a:t>UE moves</a:t>
            </a:r>
            <a:r>
              <a:rPr lang="en-US" sz="2000" dirty="0"/>
              <a:t> to new Core</a:t>
            </a:r>
            <a:endParaRPr sz="20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75B304-371F-BA63-800B-36D77C18C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Tunnel</a:t>
            </a:r>
            <a:r>
              <a:rPr lang="en-US" dirty="0"/>
              <a:t>ing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080" y="1476360"/>
            <a:ext cx="5451208" cy="4351320"/>
          </a:xfrm>
        </p:spPr>
        <p:txBody>
          <a:bodyPr>
            <a:normAutofit/>
          </a:bodyPr>
          <a:lstStyle/>
          <a:p>
            <a:r>
              <a:rPr sz="2400" dirty="0"/>
              <a:t>One or more tunnels per active UE</a:t>
            </a:r>
          </a:p>
          <a:p>
            <a:r>
              <a:rPr lang="en-US" sz="2400" dirty="0"/>
              <a:t>N</a:t>
            </a:r>
            <a:r>
              <a:rPr sz="2400" dirty="0"/>
              <a:t>etwork slicing</a:t>
            </a:r>
            <a:r>
              <a:rPr lang="en-US" sz="2400" dirty="0"/>
              <a:t> is a possibility</a:t>
            </a:r>
            <a:endParaRPr sz="2400" dirty="0"/>
          </a:p>
        </p:txBody>
      </p:sp>
      <p:pic>
        <p:nvPicPr>
          <p:cNvPr id="4" name="Picture 3" descr="user-pla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380" y="3612995"/>
            <a:ext cx="4710085" cy="2281600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CCE21B6-6554-695C-6351-505051DC3B2C}"/>
              </a:ext>
            </a:extLst>
          </p:cNvPr>
          <p:cNvSpPr txBox="1">
            <a:spLocks/>
          </p:cNvSpPr>
          <p:nvPr/>
        </p:nvSpPr>
        <p:spPr>
          <a:xfrm>
            <a:off x="6302170" y="1476360"/>
            <a:ext cx="5257920" cy="43513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20000"/>
              <a:buFont typeface="System Font Regular"/>
              <a:buChar char="-"/>
              <a:defRPr sz="2400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2000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Control plane: SCTP over IP</a:t>
            </a:r>
          </a:p>
          <a:p>
            <a:r>
              <a:rPr lang="en-US" sz="2400" dirty="0"/>
              <a:t>User plane: GTP over UDP over IP</a:t>
            </a:r>
          </a:p>
          <a:p>
            <a:r>
              <a:rPr lang="en-US" sz="2400" dirty="0"/>
              <a:t>Also for base-station-to-base-station coordination</a:t>
            </a:r>
          </a:p>
        </p:txBody>
      </p:sp>
      <p:pic>
        <p:nvPicPr>
          <p:cNvPr id="6" name="Picture 5" descr="tunnels.png">
            <a:extLst>
              <a:ext uri="{FF2B5EF4-FFF2-40B4-BE49-F238E27FC236}">
                <a16:creationId xmlns:a16="http://schemas.microsoft.com/office/drawing/2014/main" id="{8DA97B34-B8FE-4D60-4A93-3F76CE4ADA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3594" y="3612268"/>
            <a:ext cx="4710086" cy="2274340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8C9832A-0FB3-300E-4568-C5B9D5E51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 Station Coordination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080" y="1476360"/>
            <a:ext cx="5181480" cy="4351320"/>
          </a:xfrm>
        </p:spPr>
        <p:txBody>
          <a:bodyPr>
            <a:normAutofit/>
          </a:bodyPr>
          <a:lstStyle/>
          <a:p>
            <a:r>
              <a:rPr lang="en-US" sz="2400" dirty="0"/>
              <a:t>Coordinate d</a:t>
            </a:r>
            <a:r>
              <a:rPr sz="2400" dirty="0"/>
              <a:t>irectly to hand off a UE</a:t>
            </a:r>
          </a:p>
          <a:p>
            <a:r>
              <a:rPr sz="2400" dirty="0"/>
              <a:t>Decision based on measured channel quality</a:t>
            </a:r>
          </a:p>
        </p:txBody>
      </p:sp>
      <p:pic>
        <p:nvPicPr>
          <p:cNvPr id="4" name="Picture 3" descr="hand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689" y="3429000"/>
            <a:ext cx="4700264" cy="2320702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B643F23-28E1-E054-E246-F777A85BE9E8}"/>
              </a:ext>
            </a:extLst>
          </p:cNvPr>
          <p:cNvSpPr txBox="1">
            <a:spLocks/>
          </p:cNvSpPr>
          <p:nvPr/>
        </p:nvSpPr>
        <p:spPr>
          <a:xfrm>
            <a:off x="6570047" y="1476360"/>
            <a:ext cx="5181480" cy="43513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20000"/>
              <a:buFont typeface="System Font Regular"/>
              <a:buChar char="-"/>
              <a:defRPr sz="2400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2000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Also cooperate for link aggregation</a:t>
            </a:r>
          </a:p>
          <a:p>
            <a:r>
              <a:rPr lang="en-US" sz="2400" dirty="0"/>
              <a:t>Used to balance (spread out) load</a:t>
            </a:r>
          </a:p>
        </p:txBody>
      </p:sp>
      <p:pic>
        <p:nvPicPr>
          <p:cNvPr id="8" name="Picture 7" descr="link-aggregation.png">
            <a:extLst>
              <a:ext uri="{FF2B5EF4-FFF2-40B4-BE49-F238E27FC236}">
                <a16:creationId xmlns:a16="http://schemas.microsoft.com/office/drawing/2014/main" id="{B93045CD-DC8B-AFB5-4782-CB7101BFFD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8368" y="3429000"/>
            <a:ext cx="4685551" cy="2244804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F6BD10-D2F4-873F-AF23-E909F3B03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Scheduling Transmission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5196" y="1687380"/>
            <a:ext cx="5334120" cy="4403935"/>
          </a:xfrm>
        </p:spPr>
        <p:txBody>
          <a:bodyPr>
            <a:noAutofit/>
          </a:bodyPr>
          <a:lstStyle/>
          <a:p>
            <a:r>
              <a:rPr sz="2400" dirty="0"/>
              <a:t>CQI: receiver-reported channel quality</a:t>
            </a:r>
          </a:p>
          <a:p>
            <a:r>
              <a:rPr sz="2400" dirty="0"/>
              <a:t>QCI (5QI): per-traffic-class parameters</a:t>
            </a:r>
          </a:p>
          <a:p>
            <a:pPr lvl="1"/>
            <a:r>
              <a:rPr sz="2000" dirty="0"/>
              <a:t>Guaranteed vs. non-guaranteed </a:t>
            </a:r>
            <a:endParaRPr lang="en-US" sz="2000" dirty="0"/>
          </a:p>
          <a:p>
            <a:pPr lvl="1"/>
            <a:r>
              <a:rPr lang="en-US" sz="2000" dirty="0"/>
              <a:t>Delay budget</a:t>
            </a:r>
          </a:p>
          <a:p>
            <a:pPr lvl="1"/>
            <a:r>
              <a:rPr lang="en-US" sz="2000" dirty="0"/>
              <a:t>Max burst size</a:t>
            </a:r>
          </a:p>
          <a:p>
            <a:r>
              <a:rPr sz="2400" dirty="0"/>
              <a:t>Numerology tailored to frequency band</a:t>
            </a:r>
          </a:p>
          <a:p>
            <a:pPr lvl="1"/>
            <a:r>
              <a:rPr sz="2000" dirty="0"/>
              <a:t>Below 1 GHz</a:t>
            </a:r>
            <a:endParaRPr lang="en-US" sz="2000" dirty="0"/>
          </a:p>
          <a:p>
            <a:pPr lvl="2"/>
            <a:r>
              <a:rPr lang="en-US" sz="1600" dirty="0"/>
              <a:t>Subcarrier spacings of 15, 30 and 60 kHz</a:t>
            </a:r>
          </a:p>
          <a:p>
            <a:pPr lvl="2"/>
            <a:r>
              <a:rPr lang="en-US" sz="1600" dirty="0"/>
              <a:t>Scheduling intervals of 0.5, 0.25, and 0.125 </a:t>
            </a:r>
            <a:r>
              <a:rPr lang="en-US" sz="1600" dirty="0" err="1"/>
              <a:t>ms</a:t>
            </a:r>
            <a:endParaRPr lang="en-US" sz="1600" dirty="0"/>
          </a:p>
          <a:p>
            <a:pPr lvl="1"/>
            <a:r>
              <a:rPr sz="2000" dirty="0" err="1"/>
              <a:t>mmWave</a:t>
            </a:r>
            <a:endParaRPr lang="en-US" sz="2000" dirty="0"/>
          </a:p>
          <a:p>
            <a:pPr lvl="2"/>
            <a:r>
              <a:rPr lang="en-US" sz="1600" dirty="0"/>
              <a:t>Subcarrier spacings of 60 kHz and 120 kHz</a:t>
            </a:r>
          </a:p>
          <a:p>
            <a:pPr lvl="2"/>
            <a:r>
              <a:rPr lang="en-US" sz="1600" dirty="0"/>
              <a:t>Scheduling interval of 0.125 </a:t>
            </a:r>
            <a:r>
              <a:rPr lang="en-US" sz="1600" dirty="0" err="1"/>
              <a:t>ms</a:t>
            </a:r>
            <a:endParaRPr lang="en-US" sz="1600" dirty="0"/>
          </a:p>
        </p:txBody>
      </p:sp>
      <p:pic>
        <p:nvPicPr>
          <p:cNvPr id="4" name="Picture 3" descr="schedul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4364" y="2176379"/>
            <a:ext cx="5881898" cy="2482108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AA35F9-6E0B-CBF9-B586-DF69B4287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Passive Optical Network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10A869-9C18-8B5A-B5D8-BDC475DD3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079" y="1297942"/>
            <a:ext cx="9186867" cy="4351320"/>
          </a:xfrm>
        </p:spPr>
        <p:txBody>
          <a:bodyPr/>
          <a:lstStyle/>
          <a:p>
            <a:r>
              <a:rPr dirty="0"/>
              <a:t>Point-to-multipoint tree</a:t>
            </a:r>
            <a:r>
              <a:rPr lang="en-US" dirty="0"/>
              <a:t> with </a:t>
            </a:r>
            <a:r>
              <a:rPr dirty="0"/>
              <a:t>passive splitters</a:t>
            </a:r>
          </a:p>
          <a:p>
            <a:r>
              <a:rPr dirty="0"/>
              <a:t>OLT (ISP side) and ONU (home side) do the framing</a:t>
            </a:r>
          </a:p>
          <a:p>
            <a:r>
              <a:rPr dirty="0"/>
              <a:t>BNG: gateway between the access network and the Internet</a:t>
            </a:r>
          </a:p>
        </p:txBody>
      </p:sp>
      <p:pic>
        <p:nvPicPr>
          <p:cNvPr id="4" name="Picture 3" descr="p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4735" y="3124905"/>
            <a:ext cx="7343078" cy="3198193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F56EAF-170D-87C4-4906-459005FF0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Sharing the Fiber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Downstream: broadcast to every ONU</a:t>
            </a:r>
          </a:p>
          <a:p>
            <a:pPr lvl="1"/>
            <a:r>
              <a:rPr dirty="0"/>
              <a:t>Each ONU keeps only the frames addressed to it</a:t>
            </a:r>
            <a:endParaRPr lang="en-US" dirty="0"/>
          </a:p>
          <a:p>
            <a:pPr lvl="1"/>
            <a:r>
              <a:rPr lang="en-US" dirty="0"/>
              <a:t>Encryption protects against eavesdropping</a:t>
            </a:r>
            <a:endParaRPr dirty="0"/>
          </a:p>
          <a:p>
            <a:r>
              <a:rPr dirty="0"/>
              <a:t>Upstream: time-division multiplexed</a:t>
            </a:r>
          </a:p>
          <a:p>
            <a:pPr lvl="1"/>
            <a:r>
              <a:rPr dirty="0"/>
              <a:t>OLT grants each ONU a transmission interval</a:t>
            </a:r>
          </a:p>
          <a:p>
            <a:r>
              <a:rPr dirty="0"/>
              <a:t>Bandwidth has grown over generations</a:t>
            </a:r>
          </a:p>
          <a:p>
            <a:pPr lvl="1"/>
            <a:r>
              <a:rPr dirty="0"/>
              <a:t>G-PON, XGS-PON, 50G-PON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CE21AC-7688-BDFC-4F64-0B63FE3C1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1261</TotalTime>
  <Words>1449</Words>
  <Application>Microsoft Macintosh PowerPoint</Application>
  <PresentationFormat>Widescreen</PresentationFormat>
  <Paragraphs>243</Paragraphs>
  <Slides>29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Aptos</vt:lpstr>
      <vt:lpstr>Arial</vt:lpstr>
      <vt:lpstr>Calibri</vt:lpstr>
      <vt:lpstr>System Font Regular</vt:lpstr>
      <vt:lpstr>Wingdings</vt:lpstr>
      <vt:lpstr>Office Theme</vt:lpstr>
      <vt:lpstr>Chapter 5: Mediating Access</vt:lpstr>
      <vt:lpstr>Overview</vt:lpstr>
      <vt:lpstr>Media Access Control</vt:lpstr>
      <vt:lpstr>Design Considerations</vt:lpstr>
      <vt:lpstr>Managing Spectrum</vt:lpstr>
      <vt:lpstr>Overview</vt:lpstr>
      <vt:lpstr>Transmission Challenges</vt:lpstr>
      <vt:lpstr>Multiplexing: OFDM to OFDMA</vt:lpstr>
      <vt:lpstr>Resource Units</vt:lpstr>
      <vt:lpstr>Wi-Fi</vt:lpstr>
      <vt:lpstr>Overview</vt:lpstr>
      <vt:lpstr>Challenges</vt:lpstr>
      <vt:lpstr>RTS-CTS</vt:lpstr>
      <vt:lpstr>Distribution System</vt:lpstr>
      <vt:lpstr>Frame Format</vt:lpstr>
      <vt:lpstr>Wireless Security</vt:lpstr>
      <vt:lpstr>Scheduling Transmission</vt:lpstr>
      <vt:lpstr>Mobile Cellular Network</vt:lpstr>
      <vt:lpstr>Overview</vt:lpstr>
      <vt:lpstr>RAN and Mobile Core</vt:lpstr>
      <vt:lpstr>Control and User Plane Separation</vt:lpstr>
      <vt:lpstr>Establishing Connectivity</vt:lpstr>
      <vt:lpstr>Mobile Core Security</vt:lpstr>
      <vt:lpstr>Tunneling</vt:lpstr>
      <vt:lpstr>Base Station Coordination</vt:lpstr>
      <vt:lpstr>Scheduling Transmission</vt:lpstr>
      <vt:lpstr>Passive Optical Network</vt:lpstr>
      <vt:lpstr>Overview</vt:lpstr>
      <vt:lpstr>Sharing the Fiber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Larry Peterson</dc:creator>
  <cp:lastModifiedBy>Larry Peterson</cp:lastModifiedBy>
  <cp:revision>22</cp:revision>
  <dcterms:created xsi:type="dcterms:W3CDTF">2026-08-04T17:34:08Z</dcterms:created>
  <dcterms:modified xsi:type="dcterms:W3CDTF">2026-09-25T21:25:29Z</dcterms:modified>
</cp:coreProperties>
</file>