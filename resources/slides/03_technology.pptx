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9" r:id="rId4"/>
    <p:sldId id="277" r:id="rId5"/>
    <p:sldId id="258" r:id="rId6"/>
    <p:sldId id="260" r:id="rId7"/>
    <p:sldId id="261" r:id="rId8"/>
    <p:sldId id="262" r:id="rId9"/>
    <p:sldId id="263" r:id="rId10"/>
    <p:sldId id="264" r:id="rId11"/>
    <p:sldId id="278" r:id="rId12"/>
    <p:sldId id="265" r:id="rId13"/>
    <p:sldId id="266" r:id="rId14"/>
    <p:sldId id="267" r:id="rId15"/>
    <p:sldId id="268" r:id="rId16"/>
    <p:sldId id="269" r:id="rId17"/>
    <p:sldId id="276" r:id="rId18"/>
    <p:sldId id="270" r:id="rId19"/>
    <p:sldId id="271" r:id="rId20"/>
    <p:sldId id="279" r:id="rId21"/>
    <p:sldId id="274" r:id="rId22"/>
    <p:sldId id="272" r:id="rId23"/>
    <p:sldId id="27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131"/>
    <a:srgbClr val="E9E0C5"/>
    <a:srgbClr val="2F55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86438"/>
  </p:normalViewPr>
  <p:slideViewPr>
    <p:cSldViewPr snapToGrid="0">
      <p:cViewPr varScale="1">
        <p:scale>
          <a:sx n="92" d="100"/>
          <a:sy n="92" d="100"/>
        </p:scale>
        <p:origin x="184" y="44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2CAE3E-F9B4-C94A-AABF-8CE1CAEC439F}" type="datetimeFigureOut">
              <a:rPr lang="en-US" smtClean="0"/>
              <a:t>9/25/26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EDFBE2-1258-4846-AA97-15FC39B63A72}" type="slidenum">
              <a:rPr lang="en-US" smtClean="0"/>
              <a:t>‹#›</a:t>
            </a:fld>
            <a:endParaRPr lang="en-US"/>
          </a:p>
        </p:txBody>
      </p:sp>
    </p:spTree>
    <p:extLst>
      <p:ext uri="{BB962C8B-B14F-4D97-AF65-F5344CB8AC3E}">
        <p14:creationId xmlns:p14="http://schemas.microsoft.com/office/powerpoint/2010/main" val="42511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5E7130F-F05B-B150-3729-9E271DF171FA}"/>
              </a:ext>
            </a:extLst>
          </p:cNvPr>
          <p:cNvSpPr/>
          <p:nvPr userDrawn="1"/>
        </p:nvSpPr>
        <p:spPr>
          <a:xfrm>
            <a:off x="0" y="2723115"/>
            <a:ext cx="12192000" cy="4175981"/>
          </a:xfrm>
          <a:prstGeom prst="rect">
            <a:avLst/>
          </a:prstGeom>
          <a:solidFill>
            <a:srgbClr val="3331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07BDD6A-1823-8EBE-4339-8BE6A00F709B}"/>
              </a:ext>
            </a:extLst>
          </p:cNvPr>
          <p:cNvSpPr/>
          <p:nvPr userDrawn="1"/>
        </p:nvSpPr>
        <p:spPr>
          <a:xfrm>
            <a:off x="0" y="315538"/>
            <a:ext cx="12192000" cy="4622137"/>
          </a:xfrm>
          <a:prstGeom prst="rect">
            <a:avLst/>
          </a:prstGeom>
          <a:solidFill>
            <a:srgbClr val="2F55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6FEA07-9D5A-E087-CD0F-85CD617F7122}"/>
              </a:ext>
            </a:extLst>
          </p:cNvPr>
          <p:cNvSpPr>
            <a:spLocks noGrp="1"/>
          </p:cNvSpPr>
          <p:nvPr>
            <p:ph type="ctrTitle"/>
          </p:nvPr>
        </p:nvSpPr>
        <p:spPr>
          <a:xfrm>
            <a:off x="1524000" y="721677"/>
            <a:ext cx="9144000" cy="2387600"/>
          </a:xfrm>
        </p:spPr>
        <p:txBody>
          <a:bodyPr anchor="ctr"/>
          <a:lstStyle>
            <a:lvl1pPr algn="ctr">
              <a:defRPr sz="5400"/>
            </a:lvl1pPr>
          </a:lstStyle>
          <a:p>
            <a:r>
              <a:rPr lang="en-US" dirty="0"/>
              <a:t>Click to edit Master title style</a:t>
            </a:r>
          </a:p>
        </p:txBody>
      </p:sp>
      <p:sp>
        <p:nvSpPr>
          <p:cNvPr id="3" name="Subtitle 2">
            <a:extLst>
              <a:ext uri="{FF2B5EF4-FFF2-40B4-BE49-F238E27FC236}">
                <a16:creationId xmlns:a16="http://schemas.microsoft.com/office/drawing/2014/main" id="{68A209C7-F1CD-D1FA-BA76-113A478A96F8}"/>
              </a:ext>
            </a:extLst>
          </p:cNvPr>
          <p:cNvSpPr>
            <a:spLocks noGrp="1"/>
          </p:cNvSpPr>
          <p:nvPr>
            <p:ph type="subTitle" idx="1"/>
          </p:nvPr>
        </p:nvSpPr>
        <p:spPr>
          <a:xfrm>
            <a:off x="1524000" y="5235621"/>
            <a:ext cx="9144000" cy="836398"/>
          </a:xfrm>
        </p:spPr>
        <p:txBody>
          <a:bodyPr anchor="ct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7618ECE-1E6D-F8F2-58B1-71D7BE74C0F9}"/>
              </a:ext>
            </a:extLst>
          </p:cNvPr>
          <p:cNvSpPr>
            <a:spLocks noGrp="1"/>
          </p:cNvSpPr>
          <p:nvPr>
            <p:ph type="dt" sz="half" idx="10"/>
          </p:nvPr>
        </p:nvSpPr>
        <p:spPr/>
        <p:txBody>
          <a:bodyPr/>
          <a:lstStyle/>
          <a:p>
            <a:fld id="{6AD2823D-FC58-174D-8DA5-18CBC26C240B}" type="datetime1">
              <a:rPr lang="en-US" smtClean="0"/>
              <a:t>9/25/26</a:t>
            </a:fld>
            <a:endParaRPr lang="en-US"/>
          </a:p>
        </p:txBody>
      </p:sp>
      <p:sp>
        <p:nvSpPr>
          <p:cNvPr id="5" name="Footer Placeholder 4">
            <a:extLst>
              <a:ext uri="{FF2B5EF4-FFF2-40B4-BE49-F238E27FC236}">
                <a16:creationId xmlns:a16="http://schemas.microsoft.com/office/drawing/2014/main" id="{B6D2AB94-E371-30E1-1464-0D57E5C45DBB}"/>
              </a:ext>
            </a:extLst>
          </p:cNvPr>
          <p:cNvSpPr>
            <a:spLocks noGrp="1"/>
          </p:cNvSpPr>
          <p:nvPr>
            <p:ph type="ftr" sz="quarter" idx="11"/>
          </p:nvPr>
        </p:nvSpPr>
        <p:spPr/>
        <p:txBody>
          <a:bodyPr/>
          <a:lstStyle/>
          <a:p>
            <a:r>
              <a:rPr lang="en-US"/>
              <a:t>Copyright Peterson &amp; Davie, 20026</a:t>
            </a:r>
          </a:p>
        </p:txBody>
      </p:sp>
      <p:sp>
        <p:nvSpPr>
          <p:cNvPr id="6" name="Slide Number Placeholder 5">
            <a:extLst>
              <a:ext uri="{FF2B5EF4-FFF2-40B4-BE49-F238E27FC236}">
                <a16:creationId xmlns:a16="http://schemas.microsoft.com/office/drawing/2014/main" id="{339C57B5-7F35-E930-6BE6-D1855198237E}"/>
              </a:ext>
            </a:extLst>
          </p:cNvPr>
          <p:cNvSpPr>
            <a:spLocks noGrp="1"/>
          </p:cNvSpPr>
          <p:nvPr>
            <p:ph type="sldNum" sz="quarter" idx="12"/>
          </p:nvPr>
        </p:nvSpPr>
        <p:spPr/>
        <p:txBody>
          <a:bodyPr/>
          <a:lstStyle/>
          <a:p>
            <a:fld id="{394597B6-99AE-8F4E-8AC4-338DBFD9B0E5}" type="slidenum">
              <a:rPr lang="en-US" smtClean="0"/>
              <a:t>‹#›</a:t>
            </a:fld>
            <a:endParaRPr lang="en-US"/>
          </a:p>
        </p:txBody>
      </p:sp>
      <p:pic>
        <p:nvPicPr>
          <p:cNvPr id="10" name="Picture 9">
            <a:extLst>
              <a:ext uri="{FF2B5EF4-FFF2-40B4-BE49-F238E27FC236}">
                <a16:creationId xmlns:a16="http://schemas.microsoft.com/office/drawing/2014/main" id="{18DA490C-3727-1BB3-41EC-8E8B0CB16731}"/>
              </a:ext>
            </a:extLst>
          </p:cNvPr>
          <p:cNvPicPr>
            <a:picLocks noChangeAspect="1"/>
          </p:cNvPicPr>
          <p:nvPr userDrawn="1"/>
        </p:nvPicPr>
        <p:blipFill>
          <a:blip r:embed="rId2"/>
          <a:stretch>
            <a:fillRect/>
          </a:stretch>
        </p:blipFill>
        <p:spPr>
          <a:xfrm>
            <a:off x="4455810" y="3166316"/>
            <a:ext cx="3280381" cy="1551470"/>
          </a:xfrm>
          <a:prstGeom prst="rect">
            <a:avLst/>
          </a:prstGeom>
        </p:spPr>
      </p:pic>
    </p:spTree>
    <p:extLst>
      <p:ext uri="{BB962C8B-B14F-4D97-AF65-F5344CB8AC3E}">
        <p14:creationId xmlns:p14="http://schemas.microsoft.com/office/powerpoint/2010/main" val="15080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07BDD6A-1823-8EBE-4339-8BE6A00F709B}"/>
              </a:ext>
            </a:extLst>
          </p:cNvPr>
          <p:cNvSpPr/>
          <p:nvPr userDrawn="1"/>
        </p:nvSpPr>
        <p:spPr>
          <a:xfrm>
            <a:off x="0" y="1600201"/>
            <a:ext cx="12192000" cy="2412586"/>
          </a:xfrm>
          <a:prstGeom prst="rect">
            <a:avLst/>
          </a:prstGeom>
          <a:solidFill>
            <a:srgbClr val="2F55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6FEA07-9D5A-E087-CD0F-85CD617F7122}"/>
              </a:ext>
            </a:extLst>
          </p:cNvPr>
          <p:cNvSpPr>
            <a:spLocks noGrp="1"/>
          </p:cNvSpPr>
          <p:nvPr>
            <p:ph type="ctrTitle"/>
          </p:nvPr>
        </p:nvSpPr>
        <p:spPr>
          <a:xfrm>
            <a:off x="1524000" y="1625187"/>
            <a:ext cx="9144000" cy="2387600"/>
          </a:xfrm>
        </p:spPr>
        <p:txBody>
          <a:bodyPr anchor="ctr"/>
          <a:lstStyle>
            <a:lvl1pPr algn="ctr">
              <a:defRPr sz="5400"/>
            </a:lvl1pPr>
          </a:lstStyle>
          <a:p>
            <a:r>
              <a:rPr lang="en-US" dirty="0"/>
              <a:t>Click to edit Master title style</a:t>
            </a:r>
          </a:p>
        </p:txBody>
      </p:sp>
      <p:sp>
        <p:nvSpPr>
          <p:cNvPr id="4" name="Date Placeholder 3">
            <a:extLst>
              <a:ext uri="{FF2B5EF4-FFF2-40B4-BE49-F238E27FC236}">
                <a16:creationId xmlns:a16="http://schemas.microsoft.com/office/drawing/2014/main" id="{27618ECE-1E6D-F8F2-58B1-71D7BE74C0F9}"/>
              </a:ext>
            </a:extLst>
          </p:cNvPr>
          <p:cNvSpPr>
            <a:spLocks noGrp="1"/>
          </p:cNvSpPr>
          <p:nvPr>
            <p:ph type="dt" sz="half" idx="10"/>
          </p:nvPr>
        </p:nvSpPr>
        <p:spPr/>
        <p:txBody>
          <a:bodyPr/>
          <a:lstStyle/>
          <a:p>
            <a:fld id="{C1EF77D3-3065-2548-810F-6FD31CF97E9E}" type="datetime1">
              <a:rPr lang="en-US" smtClean="0"/>
              <a:t>9/25/26</a:t>
            </a:fld>
            <a:endParaRPr lang="en-US"/>
          </a:p>
        </p:txBody>
      </p:sp>
      <p:sp>
        <p:nvSpPr>
          <p:cNvPr id="5" name="Footer Placeholder 4">
            <a:extLst>
              <a:ext uri="{FF2B5EF4-FFF2-40B4-BE49-F238E27FC236}">
                <a16:creationId xmlns:a16="http://schemas.microsoft.com/office/drawing/2014/main" id="{B6D2AB94-E371-30E1-1464-0D57E5C45DBB}"/>
              </a:ext>
            </a:extLst>
          </p:cNvPr>
          <p:cNvSpPr>
            <a:spLocks noGrp="1"/>
          </p:cNvSpPr>
          <p:nvPr>
            <p:ph type="ftr" sz="quarter" idx="11"/>
          </p:nvPr>
        </p:nvSpPr>
        <p:spPr/>
        <p:txBody>
          <a:bodyPr/>
          <a:lstStyle/>
          <a:p>
            <a:r>
              <a:rPr lang="en-US"/>
              <a:t>Copyright Peterson &amp; Davie, 20026</a:t>
            </a:r>
          </a:p>
        </p:txBody>
      </p:sp>
      <p:sp>
        <p:nvSpPr>
          <p:cNvPr id="6" name="Slide Number Placeholder 5">
            <a:extLst>
              <a:ext uri="{FF2B5EF4-FFF2-40B4-BE49-F238E27FC236}">
                <a16:creationId xmlns:a16="http://schemas.microsoft.com/office/drawing/2014/main" id="{339C57B5-7F35-E930-6BE6-D1855198237E}"/>
              </a:ext>
            </a:extLst>
          </p:cNvPr>
          <p:cNvSpPr>
            <a:spLocks noGrp="1"/>
          </p:cNvSpPr>
          <p:nvPr>
            <p:ph type="sldNum" sz="quarter" idx="12"/>
          </p:nvPr>
        </p:nvSpPr>
        <p:spPr/>
        <p:txBody>
          <a:bodyPr/>
          <a:lstStyle/>
          <a:p>
            <a:fld id="{394597B6-99AE-8F4E-8AC4-338DBFD9B0E5}" type="slidenum">
              <a:rPr lang="en-US" smtClean="0"/>
              <a:t>‹#›</a:t>
            </a:fld>
            <a:endParaRPr lang="en-US"/>
          </a:p>
        </p:txBody>
      </p:sp>
      <p:sp>
        <p:nvSpPr>
          <p:cNvPr id="9" name="Rectangle 8">
            <a:extLst>
              <a:ext uri="{FF2B5EF4-FFF2-40B4-BE49-F238E27FC236}">
                <a16:creationId xmlns:a16="http://schemas.microsoft.com/office/drawing/2014/main" id="{061D39B3-5E5D-0F11-FC35-6F2C9B63E066}"/>
              </a:ext>
            </a:extLst>
          </p:cNvPr>
          <p:cNvSpPr/>
          <p:nvPr userDrawn="1"/>
        </p:nvSpPr>
        <p:spPr>
          <a:xfrm>
            <a:off x="0" y="-1813"/>
            <a:ext cx="12192000" cy="14002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8984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A4224-9B42-A3A3-FD4B-7DCB37A5FB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7AA945-E77C-96EC-A764-294BBBDFDEB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82AD0B7-B808-1B7F-CEF5-3629CD750650}"/>
              </a:ext>
            </a:extLst>
          </p:cNvPr>
          <p:cNvSpPr>
            <a:spLocks noGrp="1"/>
          </p:cNvSpPr>
          <p:nvPr>
            <p:ph type="dt" sz="half" idx="10"/>
          </p:nvPr>
        </p:nvSpPr>
        <p:spPr/>
        <p:txBody>
          <a:bodyPr/>
          <a:lstStyle/>
          <a:p>
            <a:fld id="{57DB0C94-0BDA-7D4B-82D6-6CD8BA8E6C67}" type="datetime1">
              <a:rPr lang="en-US" smtClean="0"/>
              <a:t>9/25/26</a:t>
            </a:fld>
            <a:endParaRPr lang="en-US"/>
          </a:p>
        </p:txBody>
      </p:sp>
      <p:sp>
        <p:nvSpPr>
          <p:cNvPr id="5" name="Footer Placeholder 4">
            <a:extLst>
              <a:ext uri="{FF2B5EF4-FFF2-40B4-BE49-F238E27FC236}">
                <a16:creationId xmlns:a16="http://schemas.microsoft.com/office/drawing/2014/main" id="{AFB5568F-D032-2C7B-B173-457682AC377D}"/>
              </a:ext>
            </a:extLst>
          </p:cNvPr>
          <p:cNvSpPr>
            <a:spLocks noGrp="1"/>
          </p:cNvSpPr>
          <p:nvPr>
            <p:ph type="ftr" sz="quarter" idx="11"/>
          </p:nvPr>
        </p:nvSpPr>
        <p:spPr/>
        <p:txBody>
          <a:bodyPr/>
          <a:lstStyle/>
          <a:p>
            <a:r>
              <a:rPr lang="en-US"/>
              <a:t>Copyright Peterson &amp; Davie, 20026</a:t>
            </a:r>
          </a:p>
        </p:txBody>
      </p:sp>
      <p:sp>
        <p:nvSpPr>
          <p:cNvPr id="6" name="Slide Number Placeholder 5">
            <a:extLst>
              <a:ext uri="{FF2B5EF4-FFF2-40B4-BE49-F238E27FC236}">
                <a16:creationId xmlns:a16="http://schemas.microsoft.com/office/drawing/2014/main" id="{C2F4C81A-A9BC-68BA-10CE-C19115630AEB}"/>
              </a:ext>
            </a:extLst>
          </p:cNvPr>
          <p:cNvSpPr>
            <a:spLocks noGrp="1"/>
          </p:cNvSpPr>
          <p:nvPr>
            <p:ph type="sldNum" sz="quarter" idx="12"/>
          </p:nvPr>
        </p:nvSpPr>
        <p:spPr/>
        <p:txBody>
          <a:bodyPr/>
          <a:lstStyle/>
          <a:p>
            <a:fld id="{394597B6-99AE-8F4E-8AC4-338DBFD9B0E5}" type="slidenum">
              <a:rPr lang="en-US" smtClean="0"/>
              <a:t>‹#›</a:t>
            </a:fld>
            <a:endParaRPr lang="en-US"/>
          </a:p>
        </p:txBody>
      </p:sp>
    </p:spTree>
    <p:extLst>
      <p:ext uri="{BB962C8B-B14F-4D97-AF65-F5344CB8AC3E}">
        <p14:creationId xmlns:p14="http://schemas.microsoft.com/office/powerpoint/2010/main" val="3074001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BF158-323C-D3C4-5EDF-AEB556D389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E1458E-494E-6576-E590-8D027645C9AA}"/>
              </a:ext>
            </a:extLst>
          </p:cNvPr>
          <p:cNvSpPr>
            <a:spLocks noGrp="1"/>
          </p:cNvSpPr>
          <p:nvPr>
            <p:ph sz="half" idx="1"/>
          </p:nvPr>
        </p:nvSpPr>
        <p:spPr>
          <a:xfrm>
            <a:off x="838200" y="1476306"/>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DEEC45-80B7-E5F2-1EE8-4F13C3A494EA}"/>
              </a:ext>
            </a:extLst>
          </p:cNvPr>
          <p:cNvSpPr>
            <a:spLocks noGrp="1"/>
          </p:cNvSpPr>
          <p:nvPr>
            <p:ph sz="half" idx="2"/>
          </p:nvPr>
        </p:nvSpPr>
        <p:spPr>
          <a:xfrm>
            <a:off x="6172200" y="1476306"/>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3FB021E-F3AB-3183-A464-2E0E7E6D4E0C}"/>
              </a:ext>
            </a:extLst>
          </p:cNvPr>
          <p:cNvSpPr>
            <a:spLocks noGrp="1"/>
          </p:cNvSpPr>
          <p:nvPr>
            <p:ph type="dt" sz="half" idx="10"/>
          </p:nvPr>
        </p:nvSpPr>
        <p:spPr/>
        <p:txBody>
          <a:bodyPr/>
          <a:lstStyle/>
          <a:p>
            <a:fld id="{86E89D4D-09AE-924D-BFFF-E8DAEA04F49A}" type="datetime1">
              <a:rPr lang="en-US" smtClean="0"/>
              <a:t>9/25/26</a:t>
            </a:fld>
            <a:endParaRPr lang="en-US"/>
          </a:p>
        </p:txBody>
      </p:sp>
      <p:sp>
        <p:nvSpPr>
          <p:cNvPr id="6" name="Footer Placeholder 5">
            <a:extLst>
              <a:ext uri="{FF2B5EF4-FFF2-40B4-BE49-F238E27FC236}">
                <a16:creationId xmlns:a16="http://schemas.microsoft.com/office/drawing/2014/main" id="{856BF0C7-58BA-2DE2-32B3-6B84F0FDDC72}"/>
              </a:ext>
            </a:extLst>
          </p:cNvPr>
          <p:cNvSpPr>
            <a:spLocks noGrp="1"/>
          </p:cNvSpPr>
          <p:nvPr>
            <p:ph type="ftr" sz="quarter" idx="11"/>
          </p:nvPr>
        </p:nvSpPr>
        <p:spPr/>
        <p:txBody>
          <a:bodyPr/>
          <a:lstStyle/>
          <a:p>
            <a:r>
              <a:rPr lang="en-US"/>
              <a:t>Copyright Peterson &amp; Davie, 20026</a:t>
            </a:r>
          </a:p>
        </p:txBody>
      </p:sp>
      <p:sp>
        <p:nvSpPr>
          <p:cNvPr id="7" name="Slide Number Placeholder 6">
            <a:extLst>
              <a:ext uri="{FF2B5EF4-FFF2-40B4-BE49-F238E27FC236}">
                <a16:creationId xmlns:a16="http://schemas.microsoft.com/office/drawing/2014/main" id="{970A454F-821E-AC99-31C4-2DF525F5D9AF}"/>
              </a:ext>
            </a:extLst>
          </p:cNvPr>
          <p:cNvSpPr>
            <a:spLocks noGrp="1"/>
          </p:cNvSpPr>
          <p:nvPr>
            <p:ph type="sldNum" sz="quarter" idx="12"/>
          </p:nvPr>
        </p:nvSpPr>
        <p:spPr/>
        <p:txBody>
          <a:bodyPr/>
          <a:lstStyle/>
          <a:p>
            <a:fld id="{394597B6-99AE-8F4E-8AC4-338DBFD9B0E5}" type="slidenum">
              <a:rPr lang="en-US" smtClean="0"/>
              <a:t>‹#›</a:t>
            </a:fld>
            <a:endParaRPr lang="en-US"/>
          </a:p>
        </p:txBody>
      </p:sp>
    </p:spTree>
    <p:extLst>
      <p:ext uri="{BB962C8B-B14F-4D97-AF65-F5344CB8AC3E}">
        <p14:creationId xmlns:p14="http://schemas.microsoft.com/office/powerpoint/2010/main" val="3109690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9E204-57F3-A972-D2AB-B8EB443E17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2128D8-E1CA-2D26-E644-D8B87B9C957F}"/>
              </a:ext>
            </a:extLst>
          </p:cNvPr>
          <p:cNvSpPr>
            <a:spLocks noGrp="1"/>
          </p:cNvSpPr>
          <p:nvPr>
            <p:ph type="dt" sz="half" idx="10"/>
          </p:nvPr>
        </p:nvSpPr>
        <p:spPr/>
        <p:txBody>
          <a:bodyPr/>
          <a:lstStyle/>
          <a:p>
            <a:fld id="{48B0DA72-C892-1348-890E-15B045A08A3B}" type="datetime1">
              <a:rPr lang="en-US" smtClean="0"/>
              <a:t>9/25/26</a:t>
            </a:fld>
            <a:endParaRPr lang="en-US"/>
          </a:p>
        </p:txBody>
      </p:sp>
      <p:sp>
        <p:nvSpPr>
          <p:cNvPr id="4" name="Footer Placeholder 3">
            <a:extLst>
              <a:ext uri="{FF2B5EF4-FFF2-40B4-BE49-F238E27FC236}">
                <a16:creationId xmlns:a16="http://schemas.microsoft.com/office/drawing/2014/main" id="{ACDE7C9D-573E-CCAB-347D-345D212F6DDC}"/>
              </a:ext>
            </a:extLst>
          </p:cNvPr>
          <p:cNvSpPr>
            <a:spLocks noGrp="1"/>
          </p:cNvSpPr>
          <p:nvPr>
            <p:ph type="ftr" sz="quarter" idx="11"/>
          </p:nvPr>
        </p:nvSpPr>
        <p:spPr/>
        <p:txBody>
          <a:bodyPr/>
          <a:lstStyle/>
          <a:p>
            <a:r>
              <a:rPr lang="en-US"/>
              <a:t>Copyright Peterson &amp; Davie, 20026</a:t>
            </a:r>
          </a:p>
        </p:txBody>
      </p:sp>
      <p:sp>
        <p:nvSpPr>
          <p:cNvPr id="5" name="Slide Number Placeholder 4">
            <a:extLst>
              <a:ext uri="{FF2B5EF4-FFF2-40B4-BE49-F238E27FC236}">
                <a16:creationId xmlns:a16="http://schemas.microsoft.com/office/drawing/2014/main" id="{22D19D84-0242-52EC-3A47-A0A3D5B647E5}"/>
              </a:ext>
            </a:extLst>
          </p:cNvPr>
          <p:cNvSpPr>
            <a:spLocks noGrp="1"/>
          </p:cNvSpPr>
          <p:nvPr>
            <p:ph type="sldNum" sz="quarter" idx="12"/>
          </p:nvPr>
        </p:nvSpPr>
        <p:spPr/>
        <p:txBody>
          <a:bodyPr/>
          <a:lstStyle/>
          <a:p>
            <a:fld id="{394597B6-99AE-8F4E-8AC4-338DBFD9B0E5}" type="slidenum">
              <a:rPr lang="en-US" smtClean="0"/>
              <a:t>‹#›</a:t>
            </a:fld>
            <a:endParaRPr lang="en-US"/>
          </a:p>
        </p:txBody>
      </p:sp>
    </p:spTree>
    <p:extLst>
      <p:ext uri="{BB962C8B-B14F-4D97-AF65-F5344CB8AC3E}">
        <p14:creationId xmlns:p14="http://schemas.microsoft.com/office/powerpoint/2010/main" val="746931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D7A92FF-B703-4780-1EBB-1AE0E3CF735C}"/>
              </a:ext>
            </a:extLst>
          </p:cNvPr>
          <p:cNvSpPr>
            <a:spLocks noGrp="1"/>
          </p:cNvSpPr>
          <p:nvPr>
            <p:ph type="body" idx="1"/>
          </p:nvPr>
        </p:nvSpPr>
        <p:spPr>
          <a:xfrm>
            <a:off x="838200" y="15482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FCCB9E3-427E-4369-98EC-BD677B2D53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1EE9AA-732A-664F-A59D-8078D5FCC658}" type="datetime1">
              <a:rPr lang="en-US" smtClean="0"/>
              <a:t>9/25/26</a:t>
            </a:fld>
            <a:endParaRPr lang="en-US"/>
          </a:p>
        </p:txBody>
      </p:sp>
      <p:sp>
        <p:nvSpPr>
          <p:cNvPr id="5" name="Footer Placeholder 4">
            <a:extLst>
              <a:ext uri="{FF2B5EF4-FFF2-40B4-BE49-F238E27FC236}">
                <a16:creationId xmlns:a16="http://schemas.microsoft.com/office/drawing/2014/main" id="{F8E7B86C-AB67-018D-C428-7A1EC0C20E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Copyright Peterson &amp; Davie, 20026</a:t>
            </a:r>
          </a:p>
        </p:txBody>
      </p:sp>
      <p:sp>
        <p:nvSpPr>
          <p:cNvPr id="6" name="Slide Number Placeholder 5">
            <a:extLst>
              <a:ext uri="{FF2B5EF4-FFF2-40B4-BE49-F238E27FC236}">
                <a16:creationId xmlns:a16="http://schemas.microsoft.com/office/drawing/2014/main" id="{3C29F652-BA41-5373-A931-0B0D06827F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4597B6-99AE-8F4E-8AC4-338DBFD9B0E5}" type="slidenum">
              <a:rPr lang="en-US" smtClean="0"/>
              <a:t>‹#›</a:t>
            </a:fld>
            <a:endParaRPr lang="en-US"/>
          </a:p>
        </p:txBody>
      </p:sp>
      <p:sp>
        <p:nvSpPr>
          <p:cNvPr id="7" name="Rectangle 6">
            <a:extLst>
              <a:ext uri="{FF2B5EF4-FFF2-40B4-BE49-F238E27FC236}">
                <a16:creationId xmlns:a16="http://schemas.microsoft.com/office/drawing/2014/main" id="{32BF1A77-8AB3-41F4-86D3-BFA6FEEDF61A}"/>
              </a:ext>
            </a:extLst>
          </p:cNvPr>
          <p:cNvSpPr/>
          <p:nvPr userDrawn="1"/>
        </p:nvSpPr>
        <p:spPr>
          <a:xfrm>
            <a:off x="0" y="0"/>
            <a:ext cx="12192000" cy="914400"/>
          </a:xfrm>
          <a:prstGeom prst="rect">
            <a:avLst/>
          </a:prstGeom>
          <a:solidFill>
            <a:srgbClr val="2F55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69470494-B9BA-F0AA-4595-820C4E478661}"/>
              </a:ext>
            </a:extLst>
          </p:cNvPr>
          <p:cNvSpPr>
            <a:spLocks noGrp="1"/>
          </p:cNvSpPr>
          <p:nvPr>
            <p:ph type="title"/>
          </p:nvPr>
        </p:nvSpPr>
        <p:spPr>
          <a:xfrm>
            <a:off x="838200" y="15809"/>
            <a:ext cx="10515600" cy="898592"/>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849538796"/>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4" r:id="rId5"/>
  </p:sldLayoutIdLst>
  <p:hf sldNum="0" hdr="0" dt="0"/>
  <p:txStyles>
    <p:titleStyle>
      <a:lvl1pPr algn="l" defTabSz="914400" rtl="0" eaLnBrk="1" latinLnBrk="0" hangingPunct="1">
        <a:lnSpc>
          <a:spcPct val="90000"/>
        </a:lnSpc>
        <a:spcBef>
          <a:spcPct val="0"/>
        </a:spcBef>
        <a:buNone/>
        <a:defRPr sz="4400" kern="1200">
          <a:solidFill>
            <a:srgbClr val="E9E0C5"/>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SzPct val="120000"/>
        <a:buFont typeface="System Font Regular"/>
        <a:buChar char="-"/>
        <a:defRPr sz="2400" kern="1200" baseline="0">
          <a:solidFill>
            <a:schemeClr val="tx1"/>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000" kern="1200" baseline="0">
          <a:solidFill>
            <a:schemeClr val="tx1"/>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820830"/>
            <a:ext cx="9144000" cy="2387600"/>
          </a:xfrm>
        </p:spPr>
        <p:txBody>
          <a:bodyPr/>
          <a:lstStyle/>
          <a:p>
            <a:r>
              <a:rPr dirty="0"/>
              <a:t>Chapter 3: Packet Switching</a:t>
            </a:r>
          </a:p>
        </p:txBody>
      </p:sp>
      <p:sp>
        <p:nvSpPr>
          <p:cNvPr id="3" name="Subtitle 2"/>
          <p:cNvSpPr>
            <a:spLocks noGrp="1"/>
          </p:cNvSpPr>
          <p:nvPr>
            <p:ph type="subTitle" idx="1"/>
          </p:nvPr>
        </p:nvSpPr>
        <p:spPr/>
        <p:txBody>
          <a:bodyPr>
            <a:normAutofit/>
          </a:bodyPr>
          <a:lstStyle/>
          <a:p>
            <a:r>
              <a:rPr lang="en-US" dirty="0"/>
              <a:t>Computer Networks: A Systems Approach</a:t>
            </a:r>
          </a:p>
        </p:txBody>
      </p:sp>
      <p:sp>
        <p:nvSpPr>
          <p:cNvPr id="4" name="Footer Placeholder 3">
            <a:extLst>
              <a:ext uri="{FF2B5EF4-FFF2-40B4-BE49-F238E27FC236}">
                <a16:creationId xmlns:a16="http://schemas.microsoft.com/office/drawing/2014/main" id="{FBA2187E-68EF-C823-5E5C-CBDAA18AA603}"/>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Overview</a:t>
            </a:r>
          </a:p>
        </p:txBody>
      </p:sp>
      <p:sp>
        <p:nvSpPr>
          <p:cNvPr id="3" name="Content Placeholder 2"/>
          <p:cNvSpPr>
            <a:spLocks noGrp="1"/>
          </p:cNvSpPr>
          <p:nvPr>
            <p:ph idx="1"/>
          </p:nvPr>
        </p:nvSpPr>
        <p:spPr>
          <a:xfrm>
            <a:off x="838200" y="1548225"/>
            <a:ext cx="10515600" cy="2954502"/>
          </a:xfrm>
        </p:spPr>
        <p:txBody>
          <a:bodyPr/>
          <a:lstStyle/>
          <a:p>
            <a:pPr marL="0" indent="0">
              <a:buNone/>
            </a:pPr>
            <a:r>
              <a:rPr lang="en-US" i="1" dirty="0"/>
              <a:t>For any system you set out to build, you first have to identify the available building blocks. Throughout its history, many network technologies have come and gone, but Ethernet has survived and adapted to become a ubiquitous building block. This chapter describes Ethernet (both as a </a:t>
            </a:r>
            <a:r>
              <a:rPr lang="en-US" i="1" u="sng" dirty="0"/>
              <a:t>link</a:t>
            </a:r>
            <a:r>
              <a:rPr lang="en-US" i="1" dirty="0"/>
              <a:t> technology and a </a:t>
            </a:r>
            <a:r>
              <a:rPr lang="en-US" i="1" u="sng" dirty="0"/>
              <a:t>switching</a:t>
            </a:r>
            <a:r>
              <a:rPr lang="en-US" i="1" dirty="0"/>
              <a:t> technology), which then serves as the foundation for everything else that makes up the Internet.</a:t>
            </a:r>
            <a:r>
              <a:rPr lang="en-US" i="1" dirty="0">
                <a:solidFill>
                  <a:srgbClr val="0070C0"/>
                </a:solidFill>
              </a:rPr>
              <a:t>*</a:t>
            </a:r>
          </a:p>
        </p:txBody>
      </p:sp>
      <p:sp>
        <p:nvSpPr>
          <p:cNvPr id="4" name="Content Placeholder 2">
            <a:extLst>
              <a:ext uri="{FF2B5EF4-FFF2-40B4-BE49-F238E27FC236}">
                <a16:creationId xmlns:a16="http://schemas.microsoft.com/office/drawing/2014/main" id="{001688E2-D536-CA9A-6155-E63E39999A7E}"/>
              </a:ext>
            </a:extLst>
          </p:cNvPr>
          <p:cNvSpPr txBox="1">
            <a:spLocks/>
          </p:cNvSpPr>
          <p:nvPr/>
        </p:nvSpPr>
        <p:spPr>
          <a:xfrm>
            <a:off x="838200" y="5344375"/>
            <a:ext cx="10515600" cy="6962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SzPct val="120000"/>
              <a:buFont typeface="System Font Regular"/>
              <a:buChar char="-"/>
              <a:defRPr sz="2400" kern="1200" baseline="0">
                <a:solidFill>
                  <a:schemeClr val="tx1"/>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000" kern="1200" baseline="0">
                <a:solidFill>
                  <a:schemeClr val="tx1"/>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i="1" dirty="0">
                <a:solidFill>
                  <a:srgbClr val="0070C0"/>
                </a:solidFill>
              </a:rPr>
              <a:t>*</a:t>
            </a:r>
            <a:r>
              <a:rPr lang="en-US" sz="2000" i="1" dirty="0"/>
              <a:t>Of course wireless networks are important (and we cover them in Chapter 5), but as a foundational chapter, we need to start with switches.</a:t>
            </a:r>
          </a:p>
        </p:txBody>
      </p:sp>
      <p:sp>
        <p:nvSpPr>
          <p:cNvPr id="5" name="Footer Placeholder 4">
            <a:extLst>
              <a:ext uri="{FF2B5EF4-FFF2-40B4-BE49-F238E27FC236}">
                <a16:creationId xmlns:a16="http://schemas.microsoft.com/office/drawing/2014/main" id="{9387B106-7646-3298-AF61-D1019EC495A2}"/>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Spectrum</a:t>
            </a:r>
            <a:endParaRPr dirty="0"/>
          </a:p>
        </p:txBody>
      </p:sp>
      <p:sp>
        <p:nvSpPr>
          <p:cNvPr id="3" name="Content Placeholder 2"/>
          <p:cNvSpPr>
            <a:spLocks noGrp="1"/>
          </p:cNvSpPr>
          <p:nvPr>
            <p:ph idx="1"/>
          </p:nvPr>
        </p:nvSpPr>
        <p:spPr>
          <a:xfrm>
            <a:off x="838079" y="1476360"/>
            <a:ext cx="9192611" cy="4351320"/>
          </a:xfrm>
        </p:spPr>
        <p:txBody>
          <a:bodyPr>
            <a:normAutofit/>
          </a:bodyPr>
          <a:lstStyle/>
          <a:p>
            <a:r>
              <a:rPr lang="en-US" dirty="0"/>
              <a:t>Networks </a:t>
            </a:r>
            <a:r>
              <a:rPr dirty="0"/>
              <a:t>carr</a:t>
            </a:r>
            <a:r>
              <a:rPr lang="en-US" dirty="0"/>
              <a:t>y</a:t>
            </a:r>
            <a:r>
              <a:rPr dirty="0"/>
              <a:t> information as electromagnetic waves</a:t>
            </a:r>
          </a:p>
          <a:p>
            <a:r>
              <a:rPr lang="en-US" dirty="0"/>
              <a:t>Networks run over a range of f</a:t>
            </a:r>
            <a:r>
              <a:rPr dirty="0"/>
              <a:t>requency band</a:t>
            </a:r>
            <a:r>
              <a:rPr lang="en-US" dirty="0"/>
              <a:t>s</a:t>
            </a:r>
          </a:p>
        </p:txBody>
      </p:sp>
      <p:pic>
        <p:nvPicPr>
          <p:cNvPr id="4" name="Picture 3" descr="spectrum.png"/>
          <p:cNvPicPr>
            <a:picLocks noChangeAspect="1"/>
          </p:cNvPicPr>
          <p:nvPr/>
        </p:nvPicPr>
        <p:blipFill>
          <a:blip r:embed="rId2"/>
          <a:stretch>
            <a:fillRect/>
          </a:stretch>
        </p:blipFill>
        <p:spPr>
          <a:xfrm>
            <a:off x="2001410" y="2563092"/>
            <a:ext cx="8189181" cy="2964868"/>
          </a:xfrm>
          <a:prstGeom prst="rect">
            <a:avLst/>
          </a:prstGeom>
        </p:spPr>
      </p:pic>
      <p:sp>
        <p:nvSpPr>
          <p:cNvPr id="5" name="Footer Placeholder 4">
            <a:extLst>
              <a:ext uri="{FF2B5EF4-FFF2-40B4-BE49-F238E27FC236}">
                <a16:creationId xmlns:a16="http://schemas.microsoft.com/office/drawing/2014/main" id="{DFD2A6B4-0FA0-2A2B-0D49-3078BAEED784}"/>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30088-ACDB-C34C-44C9-C8F0B2EEAD91}"/>
              </a:ext>
            </a:extLst>
          </p:cNvPr>
          <p:cNvSpPr>
            <a:spLocks noGrp="1"/>
          </p:cNvSpPr>
          <p:nvPr>
            <p:ph type="ctrTitle"/>
          </p:nvPr>
        </p:nvSpPr>
        <p:spPr/>
        <p:txBody>
          <a:bodyPr/>
          <a:lstStyle/>
          <a:p>
            <a:r>
              <a:rPr lang="en-US" dirty="0"/>
              <a:t>Link Technology</a:t>
            </a:r>
          </a:p>
        </p:txBody>
      </p:sp>
      <p:sp>
        <p:nvSpPr>
          <p:cNvPr id="3" name="Footer Placeholder 2">
            <a:extLst>
              <a:ext uri="{FF2B5EF4-FFF2-40B4-BE49-F238E27FC236}">
                <a16:creationId xmlns:a16="http://schemas.microsoft.com/office/drawing/2014/main" id="{9600B410-66CC-55F7-105B-70371D01B051}"/>
              </a:ext>
            </a:extLst>
          </p:cNvPr>
          <p:cNvSpPr>
            <a:spLocks noGrp="1"/>
          </p:cNvSpPr>
          <p:nvPr>
            <p:ph type="ftr" sz="quarter" idx="11"/>
          </p:nvPr>
        </p:nvSpPr>
        <p:spPr/>
        <p:txBody>
          <a:bodyPr/>
          <a:lstStyle/>
          <a:p>
            <a:r>
              <a:rPr lang="en-US"/>
              <a:t>Copyright Peterson &amp; Davie, 20026</a:t>
            </a:r>
          </a:p>
        </p:txBody>
      </p:sp>
    </p:spTree>
    <p:extLst>
      <p:ext uri="{BB962C8B-B14F-4D97-AF65-F5344CB8AC3E}">
        <p14:creationId xmlns:p14="http://schemas.microsoft.com/office/powerpoint/2010/main" val="3400199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Link Layer</a:t>
            </a:r>
          </a:p>
        </p:txBody>
      </p:sp>
      <p:sp>
        <p:nvSpPr>
          <p:cNvPr id="3" name="Content Placeholder 2"/>
          <p:cNvSpPr>
            <a:spLocks noGrp="1"/>
          </p:cNvSpPr>
          <p:nvPr>
            <p:ph idx="1"/>
          </p:nvPr>
        </p:nvSpPr>
        <p:spPr/>
        <p:txBody>
          <a:bodyPr/>
          <a:lstStyle/>
          <a:p>
            <a:r>
              <a:rPr dirty="0"/>
              <a:t>Directly connects nodes sharing a physical medium</a:t>
            </a:r>
            <a:endParaRPr lang="en-US" dirty="0"/>
          </a:p>
          <a:p>
            <a:pPr lvl="1"/>
            <a:r>
              <a:rPr lang="en-US" dirty="0"/>
              <a:t>Sometimes called “Media Access Control” (MAC)</a:t>
            </a:r>
            <a:endParaRPr dirty="0"/>
          </a:p>
          <a:p>
            <a:r>
              <a:rPr dirty="0"/>
              <a:t>IP runs on top of whatever link technology is available</a:t>
            </a:r>
          </a:p>
          <a:p>
            <a:pPr lvl="1"/>
            <a:r>
              <a:rPr dirty="0"/>
              <a:t>Ethernet, </a:t>
            </a:r>
            <a:r>
              <a:rPr dirty="0" err="1"/>
              <a:t>WiFi</a:t>
            </a:r>
            <a:r>
              <a:rPr dirty="0"/>
              <a:t>, 4G/5G</a:t>
            </a:r>
            <a:r>
              <a:rPr lang="en-US" dirty="0"/>
              <a:t>, SONET…</a:t>
            </a:r>
          </a:p>
          <a:p>
            <a:r>
              <a:rPr lang="en-US" dirty="0"/>
              <a:t>Three key problems to address</a:t>
            </a:r>
          </a:p>
          <a:p>
            <a:pPr lvl="1"/>
            <a:r>
              <a:rPr lang="en-US" dirty="0"/>
              <a:t>How to encode bits on signals sent over the physical medium</a:t>
            </a:r>
          </a:p>
          <a:p>
            <a:pPr lvl="1"/>
            <a:r>
              <a:rPr lang="en-US" dirty="0"/>
              <a:t>How to group bits into frames</a:t>
            </a:r>
          </a:p>
          <a:p>
            <a:pPr lvl="1"/>
            <a:r>
              <a:rPr lang="en-US" dirty="0"/>
              <a:t>How to detect if there are any bit errors in a delivered frame</a:t>
            </a:r>
          </a:p>
        </p:txBody>
      </p:sp>
      <p:sp>
        <p:nvSpPr>
          <p:cNvPr id="4" name="Footer Placeholder 3">
            <a:extLst>
              <a:ext uri="{FF2B5EF4-FFF2-40B4-BE49-F238E27FC236}">
                <a16:creationId xmlns:a16="http://schemas.microsoft.com/office/drawing/2014/main" id="{1DD750B9-B1AC-84D2-4072-F3275B845E45}"/>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Encoding</a:t>
            </a:r>
          </a:p>
        </p:txBody>
      </p:sp>
      <p:sp>
        <p:nvSpPr>
          <p:cNvPr id="3" name="Content Placeholder 2"/>
          <p:cNvSpPr>
            <a:spLocks noGrp="1"/>
          </p:cNvSpPr>
          <p:nvPr>
            <p:ph idx="1"/>
          </p:nvPr>
        </p:nvSpPr>
        <p:spPr>
          <a:xfrm>
            <a:off x="838079" y="1476360"/>
            <a:ext cx="10515599" cy="2929385"/>
          </a:xfrm>
        </p:spPr>
        <p:txBody>
          <a:bodyPr>
            <a:normAutofit/>
          </a:bodyPr>
          <a:lstStyle/>
          <a:p>
            <a:r>
              <a:rPr lang="en-US" dirty="0"/>
              <a:t>NRZ: Non-Return to Zero</a:t>
            </a:r>
          </a:p>
          <a:p>
            <a:pPr lvl="1"/>
            <a:r>
              <a:rPr lang="en-US" dirty="0"/>
              <a:t>Simplest mapping: </a:t>
            </a:r>
            <a:r>
              <a:rPr dirty="0"/>
              <a:t>1 = high voltage, 0 = low voltage</a:t>
            </a:r>
          </a:p>
          <a:p>
            <a:r>
              <a:rPr dirty="0"/>
              <a:t>Problem</a:t>
            </a:r>
            <a:r>
              <a:rPr lang="en-US" dirty="0"/>
              <a:t>s</a:t>
            </a:r>
          </a:p>
          <a:p>
            <a:pPr lvl="1"/>
            <a:r>
              <a:rPr lang="en-US" dirty="0"/>
              <a:t>Clock drift means that l</a:t>
            </a:r>
            <a:r>
              <a:rPr dirty="0"/>
              <a:t>ong runs of same value </a:t>
            </a:r>
            <a:r>
              <a:rPr lang="en-US" dirty="0"/>
              <a:t>are hard to dissect</a:t>
            </a:r>
            <a:endParaRPr dirty="0"/>
          </a:p>
          <a:p>
            <a:pPr lvl="1"/>
            <a:r>
              <a:rPr lang="en-US" dirty="0"/>
              <a:t>Signal is sampled to detect above/below average </a:t>
            </a:r>
            <a:r>
              <a:rPr lang="en-US" dirty="0">
                <a:sym typeface="Wingdings" pitchFamily="2" charset="2"/>
              </a:rPr>
              <a:t> average drifts</a:t>
            </a:r>
            <a:endParaRPr dirty="0"/>
          </a:p>
        </p:txBody>
      </p:sp>
      <p:pic>
        <p:nvPicPr>
          <p:cNvPr id="4" name="Picture 3" descr="f02-04.png"/>
          <p:cNvPicPr>
            <a:picLocks noChangeAspect="1"/>
          </p:cNvPicPr>
          <p:nvPr/>
        </p:nvPicPr>
        <p:blipFill>
          <a:blip r:embed="rId2"/>
          <a:stretch>
            <a:fillRect/>
          </a:stretch>
        </p:blipFill>
        <p:spPr>
          <a:xfrm>
            <a:off x="1712714" y="4184996"/>
            <a:ext cx="8766327" cy="1565415"/>
          </a:xfrm>
          <a:prstGeom prst="rect">
            <a:avLst/>
          </a:prstGeom>
        </p:spPr>
      </p:pic>
      <p:sp>
        <p:nvSpPr>
          <p:cNvPr id="5" name="Footer Placeholder 4">
            <a:extLst>
              <a:ext uri="{FF2B5EF4-FFF2-40B4-BE49-F238E27FC236}">
                <a16:creationId xmlns:a16="http://schemas.microsoft.com/office/drawing/2014/main" id="{B806AA8A-C26A-5964-42F7-943A57E89121}"/>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Encoding</a:t>
            </a:r>
            <a:r>
              <a:rPr lang="en-US" dirty="0"/>
              <a:t> (</a:t>
            </a:r>
            <a:r>
              <a:rPr lang="en-US" dirty="0" err="1"/>
              <a:t>cont</a:t>
            </a:r>
            <a:r>
              <a:rPr lang="en-US" dirty="0"/>
              <a:t>)</a:t>
            </a:r>
            <a:endParaRPr dirty="0"/>
          </a:p>
        </p:txBody>
      </p:sp>
      <p:sp>
        <p:nvSpPr>
          <p:cNvPr id="3" name="Content Placeholder 2"/>
          <p:cNvSpPr>
            <a:spLocks noGrp="1"/>
          </p:cNvSpPr>
          <p:nvPr>
            <p:ph idx="1"/>
          </p:nvPr>
        </p:nvSpPr>
        <p:spPr>
          <a:xfrm>
            <a:off x="609476" y="1228720"/>
            <a:ext cx="5319837" cy="5343525"/>
          </a:xfrm>
        </p:spPr>
        <p:txBody>
          <a:bodyPr>
            <a:normAutofit fontScale="92500" lnSpcReduction="10000"/>
          </a:bodyPr>
          <a:lstStyle/>
          <a:p>
            <a:r>
              <a:rPr dirty="0"/>
              <a:t>NRZI</a:t>
            </a:r>
            <a:endParaRPr lang="en-US" dirty="0"/>
          </a:p>
          <a:p>
            <a:pPr lvl="1"/>
            <a:r>
              <a:rPr lang="en-US" dirty="0"/>
              <a:t>T</a:t>
            </a:r>
            <a:r>
              <a:rPr dirty="0"/>
              <a:t>ransition </a:t>
            </a:r>
            <a:r>
              <a:rPr lang="en-US" dirty="0"/>
              <a:t>to encode a</a:t>
            </a:r>
            <a:r>
              <a:rPr dirty="0"/>
              <a:t> 1</a:t>
            </a:r>
            <a:endParaRPr lang="en-US" dirty="0"/>
          </a:p>
          <a:p>
            <a:pPr lvl="1"/>
            <a:r>
              <a:rPr lang="en-US" dirty="0"/>
              <a:t>N</a:t>
            </a:r>
            <a:r>
              <a:rPr dirty="0"/>
              <a:t>o change </a:t>
            </a:r>
            <a:r>
              <a:rPr lang="en-US" dirty="0"/>
              <a:t>to encode a</a:t>
            </a:r>
            <a:r>
              <a:rPr dirty="0"/>
              <a:t> 0</a:t>
            </a:r>
            <a:endParaRPr lang="en-US" dirty="0"/>
          </a:p>
          <a:p>
            <a:pPr lvl="1"/>
            <a:r>
              <a:rPr lang="en-US" dirty="0"/>
              <a:t>F</a:t>
            </a:r>
            <a:r>
              <a:rPr dirty="0"/>
              <a:t>ixes long runs of 1s</a:t>
            </a:r>
            <a:endParaRPr lang="en-US" dirty="0"/>
          </a:p>
          <a:p>
            <a:pPr lvl="1"/>
            <a:r>
              <a:rPr lang="en-US" dirty="0"/>
              <a:t>Suitable if long runs of 0 are rare</a:t>
            </a:r>
            <a:endParaRPr dirty="0"/>
          </a:p>
          <a:p>
            <a:r>
              <a:rPr dirty="0"/>
              <a:t>Manchester</a:t>
            </a:r>
            <a:endParaRPr lang="en-US" dirty="0"/>
          </a:p>
          <a:p>
            <a:pPr lvl="1"/>
            <a:r>
              <a:rPr lang="en-US" dirty="0"/>
              <a:t>Transmit XOR of NRZ and clock</a:t>
            </a:r>
          </a:p>
          <a:p>
            <a:pPr lvl="1"/>
            <a:r>
              <a:rPr lang="en-US" dirty="0"/>
              <a:t>50% overhead</a:t>
            </a:r>
            <a:endParaRPr dirty="0"/>
          </a:p>
          <a:p>
            <a:r>
              <a:rPr dirty="0"/>
              <a:t>4B/5B</a:t>
            </a:r>
            <a:r>
              <a:rPr lang="en-US" dirty="0"/>
              <a:t> (8B/10B)</a:t>
            </a:r>
          </a:p>
          <a:p>
            <a:pPr lvl="1"/>
            <a:r>
              <a:rPr lang="en-US" dirty="0"/>
              <a:t>M</a:t>
            </a:r>
            <a:r>
              <a:rPr dirty="0"/>
              <a:t>ap every 4 data bits to a 5-bit code</a:t>
            </a:r>
          </a:p>
          <a:p>
            <a:pPr lvl="1"/>
            <a:r>
              <a:rPr dirty="0"/>
              <a:t>Only 16 of 32 code words used </a:t>
            </a:r>
            <a:r>
              <a:rPr lang="en-US" dirty="0"/>
              <a:t>for </a:t>
            </a:r>
            <a:r>
              <a:rPr dirty="0"/>
              <a:t>data</a:t>
            </a:r>
            <a:endParaRPr lang="en-US" dirty="0"/>
          </a:p>
          <a:p>
            <a:pPr lvl="1"/>
            <a:r>
              <a:rPr lang="en-US" dirty="0"/>
              <a:t>No </a:t>
            </a:r>
            <a:r>
              <a:rPr dirty="0"/>
              <a:t>code has more than one leading 0</a:t>
            </a:r>
          </a:p>
          <a:p>
            <a:pPr lvl="1"/>
            <a:r>
              <a:rPr lang="en-US" dirty="0"/>
              <a:t>Encode code words</a:t>
            </a:r>
            <a:r>
              <a:rPr dirty="0"/>
              <a:t> with NRZI</a:t>
            </a:r>
            <a:endParaRPr lang="en-US" dirty="0"/>
          </a:p>
          <a:p>
            <a:pPr lvl="1"/>
            <a:r>
              <a:rPr dirty="0"/>
              <a:t>25% overhead</a:t>
            </a:r>
          </a:p>
        </p:txBody>
      </p:sp>
      <p:pic>
        <p:nvPicPr>
          <p:cNvPr id="4" name="Picture 3" descr="f02-05.png"/>
          <p:cNvPicPr>
            <a:picLocks noChangeAspect="1"/>
          </p:cNvPicPr>
          <p:nvPr/>
        </p:nvPicPr>
        <p:blipFill>
          <a:blip r:embed="rId2"/>
          <a:stretch>
            <a:fillRect/>
          </a:stretch>
        </p:blipFill>
        <p:spPr>
          <a:xfrm>
            <a:off x="5319808" y="1400166"/>
            <a:ext cx="6364837" cy="2886080"/>
          </a:xfrm>
          <a:prstGeom prst="rect">
            <a:avLst/>
          </a:prstGeom>
        </p:spPr>
      </p:pic>
      <p:sp>
        <p:nvSpPr>
          <p:cNvPr id="5" name="Footer Placeholder 4">
            <a:extLst>
              <a:ext uri="{FF2B5EF4-FFF2-40B4-BE49-F238E27FC236}">
                <a16:creationId xmlns:a16="http://schemas.microsoft.com/office/drawing/2014/main" id="{7FBCA438-9055-CA0E-851C-D247347A9EB0}"/>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Framing</a:t>
            </a:r>
          </a:p>
        </p:txBody>
      </p:sp>
      <p:sp>
        <p:nvSpPr>
          <p:cNvPr id="3" name="Content Placeholder 2"/>
          <p:cNvSpPr>
            <a:spLocks noGrp="1"/>
          </p:cNvSpPr>
          <p:nvPr>
            <p:ph idx="1"/>
          </p:nvPr>
        </p:nvSpPr>
        <p:spPr>
          <a:xfrm>
            <a:off x="838200" y="1548225"/>
            <a:ext cx="10515600" cy="4925146"/>
          </a:xfrm>
        </p:spPr>
        <p:txBody>
          <a:bodyPr/>
          <a:lstStyle/>
          <a:p>
            <a:r>
              <a:rPr dirty="0"/>
              <a:t>Raw bit stream must be grouped into frames for processing</a:t>
            </a:r>
            <a:endParaRPr lang="en-US" dirty="0"/>
          </a:p>
          <a:p>
            <a:pPr lvl="1"/>
            <a:r>
              <a:rPr lang="en-US" dirty="0"/>
              <a:t>Frames are passed between host and network adaptor (NIC)</a:t>
            </a:r>
            <a:endParaRPr dirty="0"/>
          </a:p>
          <a:p>
            <a:r>
              <a:rPr lang="en-US" dirty="0"/>
              <a:t>Techniques</a:t>
            </a:r>
          </a:p>
          <a:p>
            <a:pPr lvl="1"/>
            <a:r>
              <a:rPr dirty="0"/>
              <a:t>Sentinel-based: special pattern marks frame boundaries</a:t>
            </a:r>
          </a:p>
          <a:p>
            <a:pPr lvl="1"/>
            <a:r>
              <a:rPr dirty="0"/>
              <a:t>Length-based: header field declares number of bytes in frame</a:t>
            </a:r>
          </a:p>
          <a:p>
            <a:pPr lvl="1"/>
            <a:r>
              <a:rPr dirty="0"/>
              <a:t>Clock-based: fixed-size frames tied to a master clock</a:t>
            </a:r>
          </a:p>
          <a:p>
            <a:r>
              <a:rPr dirty="0"/>
              <a:t>Every link-layer protocol defines its own frame format</a:t>
            </a:r>
            <a:endParaRPr lang="en-US" dirty="0"/>
          </a:p>
          <a:p>
            <a:pPr lvl="1"/>
            <a:r>
              <a:rPr lang="en-US" dirty="0"/>
              <a:t>e.g., Ethernet has a 64-bit preamble </a:t>
            </a:r>
            <a:r>
              <a:rPr lang="en-US" dirty="0">
                <a:sym typeface="Wingdings" pitchFamily="2" charset="2"/>
              </a:rPr>
              <a:t>(</a:t>
            </a:r>
            <a:r>
              <a:rPr lang="en-US" dirty="0"/>
              <a:t>alternating 0s and 1s), followed by…</a:t>
            </a:r>
          </a:p>
          <a:p>
            <a:pPr marL="457200" lvl="1" indent="0">
              <a:buNone/>
            </a:pPr>
            <a:endParaRPr dirty="0"/>
          </a:p>
        </p:txBody>
      </p:sp>
      <p:pic>
        <p:nvPicPr>
          <p:cNvPr id="5" name="Picture 4">
            <a:extLst>
              <a:ext uri="{FF2B5EF4-FFF2-40B4-BE49-F238E27FC236}">
                <a16:creationId xmlns:a16="http://schemas.microsoft.com/office/drawing/2014/main" id="{9063AFBD-F633-F907-C10A-E1BA73171784}"/>
              </a:ext>
            </a:extLst>
          </p:cNvPr>
          <p:cNvPicPr>
            <a:picLocks noChangeAspect="1"/>
          </p:cNvPicPr>
          <p:nvPr/>
        </p:nvPicPr>
        <p:blipFill>
          <a:blip r:embed="rId2"/>
          <a:stretch>
            <a:fillRect/>
          </a:stretch>
        </p:blipFill>
        <p:spPr>
          <a:xfrm>
            <a:off x="2209800" y="5031221"/>
            <a:ext cx="7772400" cy="774493"/>
          </a:xfrm>
          <a:prstGeom prst="rect">
            <a:avLst/>
          </a:prstGeom>
        </p:spPr>
      </p:pic>
      <p:sp>
        <p:nvSpPr>
          <p:cNvPr id="4" name="Footer Placeholder 3">
            <a:extLst>
              <a:ext uri="{FF2B5EF4-FFF2-40B4-BE49-F238E27FC236}">
                <a16:creationId xmlns:a16="http://schemas.microsoft.com/office/drawing/2014/main" id="{BEC5EFF7-6D1D-568B-A4D3-CAB0B522E0A7}"/>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Error Detection</a:t>
            </a:r>
          </a:p>
        </p:txBody>
      </p:sp>
      <p:sp>
        <p:nvSpPr>
          <p:cNvPr id="3" name="Content Placeholder 2"/>
          <p:cNvSpPr>
            <a:spLocks noGrp="1"/>
          </p:cNvSpPr>
          <p:nvPr>
            <p:ph idx="1"/>
          </p:nvPr>
        </p:nvSpPr>
        <p:spPr>
          <a:xfrm>
            <a:off x="838079" y="1476359"/>
            <a:ext cx="5491283" cy="4967304"/>
          </a:xfrm>
        </p:spPr>
        <p:txBody>
          <a:bodyPr>
            <a:normAutofit fontScale="92500" lnSpcReduction="10000"/>
          </a:bodyPr>
          <a:lstStyle/>
          <a:p>
            <a:r>
              <a:rPr dirty="0"/>
              <a:t>Corruption on the wire is inevitable</a:t>
            </a:r>
            <a:endParaRPr lang="en-US" dirty="0"/>
          </a:p>
          <a:p>
            <a:pPr lvl="1"/>
            <a:r>
              <a:rPr lang="en-US" dirty="0"/>
              <a:t>R</a:t>
            </a:r>
            <a:r>
              <a:rPr dirty="0"/>
              <a:t>eceiver must detect it</a:t>
            </a:r>
          </a:p>
          <a:p>
            <a:r>
              <a:rPr lang="en-US" dirty="0"/>
              <a:t>Cyclic Redundancy Code (CRC)</a:t>
            </a:r>
          </a:p>
          <a:p>
            <a:pPr lvl="1"/>
            <a:r>
              <a:rPr lang="en-US" dirty="0"/>
              <a:t>T</a:t>
            </a:r>
            <a:r>
              <a:rPr dirty="0"/>
              <a:t>reat frame as a polynomial</a:t>
            </a:r>
            <a:r>
              <a:rPr lang="en-US" dirty="0"/>
              <a:t> M(x)</a:t>
            </a:r>
          </a:p>
          <a:p>
            <a:pPr lvl="1"/>
            <a:r>
              <a:rPr lang="en-US" dirty="0"/>
              <a:t>D</a:t>
            </a:r>
            <a:r>
              <a:rPr dirty="0"/>
              <a:t>ivide </a:t>
            </a:r>
            <a:r>
              <a:rPr lang="en-US" dirty="0"/>
              <a:t>M(x) </a:t>
            </a:r>
            <a:r>
              <a:rPr dirty="0"/>
              <a:t>by generator </a:t>
            </a:r>
            <a:r>
              <a:rPr lang="en-US" dirty="0"/>
              <a:t>C</a:t>
            </a:r>
            <a:r>
              <a:rPr dirty="0"/>
              <a:t>(x)</a:t>
            </a:r>
            <a:endParaRPr lang="en-US" dirty="0"/>
          </a:p>
          <a:p>
            <a:pPr lvl="1"/>
            <a:r>
              <a:rPr lang="en-US" dirty="0"/>
              <a:t>Attach “remainder” as error code</a:t>
            </a:r>
            <a:endParaRPr dirty="0"/>
          </a:p>
          <a:p>
            <a:r>
              <a:rPr dirty="0"/>
              <a:t>Receiver redivides</a:t>
            </a:r>
            <a:r>
              <a:rPr lang="en-US" dirty="0"/>
              <a:t> by same C(x)</a:t>
            </a:r>
          </a:p>
          <a:p>
            <a:pPr lvl="1"/>
            <a:r>
              <a:rPr lang="en-US" dirty="0"/>
              <a:t>N</a:t>
            </a:r>
            <a:r>
              <a:rPr dirty="0"/>
              <a:t>onzero remainder </a:t>
            </a:r>
            <a:r>
              <a:rPr lang="en-US" dirty="0"/>
              <a:t>implies</a:t>
            </a:r>
            <a:r>
              <a:rPr dirty="0"/>
              <a:t> corruption</a:t>
            </a:r>
          </a:p>
          <a:p>
            <a:r>
              <a:rPr dirty="0"/>
              <a:t>CRC-32 </a:t>
            </a:r>
            <a:r>
              <a:rPr lang="en-US" dirty="0"/>
              <a:t>specifies a specific C(x)</a:t>
            </a:r>
          </a:p>
          <a:p>
            <a:pPr lvl="1"/>
            <a:r>
              <a:rPr lang="en-US" dirty="0"/>
              <a:t>C</a:t>
            </a:r>
            <a:r>
              <a:rPr dirty="0"/>
              <a:t>atches all</a:t>
            </a:r>
            <a:r>
              <a:rPr lang="en-US" dirty="0"/>
              <a:t> </a:t>
            </a:r>
            <a:r>
              <a:rPr dirty="0"/>
              <a:t>1-bit</a:t>
            </a:r>
            <a:r>
              <a:rPr lang="en-US" dirty="0"/>
              <a:t> and </a:t>
            </a:r>
            <a:r>
              <a:rPr dirty="0"/>
              <a:t>2-bit</a:t>
            </a:r>
            <a:r>
              <a:rPr lang="en-US" dirty="0"/>
              <a:t> errors</a:t>
            </a:r>
          </a:p>
          <a:p>
            <a:pPr lvl="1"/>
            <a:r>
              <a:rPr lang="en-US" dirty="0"/>
              <a:t>Catches all </a:t>
            </a:r>
            <a:r>
              <a:rPr dirty="0"/>
              <a:t>odd-bit errors </a:t>
            </a:r>
            <a:endParaRPr lang="en-US" dirty="0"/>
          </a:p>
          <a:p>
            <a:pPr lvl="1"/>
            <a:r>
              <a:rPr lang="en-US" dirty="0"/>
              <a:t>Catches all b</a:t>
            </a:r>
            <a:r>
              <a:rPr dirty="0"/>
              <a:t>urst errors ≤ 32 bits</a:t>
            </a:r>
          </a:p>
          <a:p>
            <a:r>
              <a:rPr dirty="0"/>
              <a:t>Computed in hardware at </a:t>
            </a:r>
            <a:r>
              <a:rPr lang="en-US" dirty="0"/>
              <a:t>line</a:t>
            </a:r>
            <a:r>
              <a:rPr dirty="0"/>
              <a:t> speed</a:t>
            </a:r>
          </a:p>
        </p:txBody>
      </p:sp>
      <p:pic>
        <p:nvPicPr>
          <p:cNvPr id="4" name="Picture 3" descr="f02-16-9780123850591.png"/>
          <p:cNvPicPr>
            <a:picLocks noChangeAspect="1"/>
          </p:cNvPicPr>
          <p:nvPr/>
        </p:nvPicPr>
        <p:blipFill>
          <a:blip r:embed="rId2"/>
          <a:stretch>
            <a:fillRect/>
          </a:stretch>
        </p:blipFill>
        <p:spPr>
          <a:xfrm>
            <a:off x="6629400" y="2636197"/>
            <a:ext cx="5181480" cy="2031644"/>
          </a:xfrm>
          <a:prstGeom prst="rect">
            <a:avLst/>
          </a:prstGeom>
        </p:spPr>
      </p:pic>
      <p:sp>
        <p:nvSpPr>
          <p:cNvPr id="5" name="Footer Placeholder 4">
            <a:extLst>
              <a:ext uri="{FF2B5EF4-FFF2-40B4-BE49-F238E27FC236}">
                <a16:creationId xmlns:a16="http://schemas.microsoft.com/office/drawing/2014/main" id="{E9C5F1DA-192C-C986-9934-E8C7CEC5C76C}"/>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Evolution</a:t>
            </a:r>
            <a:r>
              <a:rPr lang="en-US" dirty="0"/>
              <a:t> of Ethernet</a:t>
            </a:r>
            <a:endParaRPr dirty="0"/>
          </a:p>
        </p:txBody>
      </p:sp>
      <p:sp>
        <p:nvSpPr>
          <p:cNvPr id="3" name="Content Placeholder 2"/>
          <p:cNvSpPr>
            <a:spLocks noGrp="1"/>
          </p:cNvSpPr>
          <p:nvPr>
            <p:ph idx="1"/>
          </p:nvPr>
        </p:nvSpPr>
        <p:spPr>
          <a:xfrm>
            <a:off x="838200" y="1271588"/>
            <a:ext cx="10515600" cy="5300661"/>
          </a:xfrm>
        </p:spPr>
        <p:txBody>
          <a:bodyPr>
            <a:normAutofit/>
          </a:bodyPr>
          <a:lstStyle/>
          <a:p>
            <a:r>
              <a:rPr dirty="0"/>
              <a:t>Invented at Xerox PARC in 1973</a:t>
            </a:r>
            <a:endParaRPr lang="en-US" dirty="0"/>
          </a:p>
          <a:p>
            <a:pPr lvl="1"/>
            <a:r>
              <a:rPr dirty="0"/>
              <a:t>10 Mbps over shared coaxial cable</a:t>
            </a:r>
            <a:endParaRPr lang="en-US" dirty="0"/>
          </a:p>
          <a:p>
            <a:pPr lvl="1"/>
            <a:r>
              <a:rPr lang="en-US" dirty="0"/>
              <a:t>Inspired by ALOHA wireless network</a:t>
            </a:r>
            <a:endParaRPr dirty="0"/>
          </a:p>
          <a:p>
            <a:r>
              <a:rPr dirty="0"/>
              <a:t>CSMA/CD</a:t>
            </a:r>
            <a:r>
              <a:rPr lang="en-US" dirty="0"/>
              <a:t> – Carrier Sense Multiple Access with Collision Detection</a:t>
            </a:r>
          </a:p>
          <a:p>
            <a:pPr lvl="1"/>
            <a:r>
              <a:rPr lang="en-US" dirty="0"/>
              <a:t>L</a:t>
            </a:r>
            <a:r>
              <a:rPr dirty="0"/>
              <a:t>isten </a:t>
            </a:r>
            <a:r>
              <a:rPr lang="en-US" dirty="0"/>
              <a:t>for idle channel </a:t>
            </a:r>
            <a:r>
              <a:rPr dirty="0"/>
              <a:t>before transmit</a:t>
            </a:r>
            <a:r>
              <a:rPr lang="en-US" dirty="0"/>
              <a:t>ting</a:t>
            </a:r>
          </a:p>
          <a:p>
            <a:pPr lvl="1"/>
            <a:r>
              <a:rPr lang="en-US" dirty="0"/>
              <a:t>B</a:t>
            </a:r>
            <a:r>
              <a:rPr dirty="0"/>
              <a:t>ackoff exponentially </a:t>
            </a:r>
            <a:r>
              <a:rPr lang="en-US" dirty="0"/>
              <a:t>if a </a:t>
            </a:r>
            <a:r>
              <a:rPr dirty="0"/>
              <a:t>collision</a:t>
            </a:r>
            <a:r>
              <a:rPr lang="en-US" dirty="0"/>
              <a:t> is detected</a:t>
            </a:r>
            <a:endParaRPr dirty="0"/>
          </a:p>
          <a:p>
            <a:r>
              <a:rPr lang="en-US" dirty="0"/>
              <a:t>Adapted Over Time</a:t>
            </a:r>
          </a:p>
          <a:p>
            <a:pPr lvl="1"/>
            <a:r>
              <a:rPr dirty="0"/>
              <a:t>10M → 100M → 1G → 10G → 100G → 400G</a:t>
            </a:r>
            <a:endParaRPr lang="en-US" dirty="0"/>
          </a:p>
          <a:p>
            <a:pPr lvl="2"/>
            <a:r>
              <a:rPr lang="en-US" dirty="0"/>
              <a:t>Improved encoding</a:t>
            </a:r>
          </a:p>
          <a:p>
            <a:pPr lvl="2"/>
            <a:r>
              <a:rPr lang="en-US" dirty="0"/>
              <a:t>Improved signaling</a:t>
            </a:r>
          </a:p>
          <a:p>
            <a:pPr lvl="2"/>
            <a:r>
              <a:rPr lang="en-US" dirty="0"/>
              <a:t>New media (e.g., fiber)</a:t>
            </a:r>
          </a:p>
          <a:p>
            <a:pPr lvl="1"/>
            <a:r>
              <a:rPr lang="en-US" dirty="0"/>
              <a:t>Multi-Access → Point-to-Point</a:t>
            </a:r>
            <a:r>
              <a:rPr lang="en-US" dirty="0">
                <a:sym typeface="Wingdings" pitchFamily="2" charset="2"/>
              </a:rPr>
              <a:t> (became a switched network)</a:t>
            </a:r>
            <a:endParaRPr dirty="0"/>
          </a:p>
          <a:p>
            <a:pPr lvl="1"/>
            <a:r>
              <a:rPr lang="en-US" dirty="0"/>
              <a:t>Always backwards compatible (frame format, 48-bit </a:t>
            </a:r>
            <a:r>
              <a:rPr dirty="0"/>
              <a:t>address</a:t>
            </a:r>
            <a:r>
              <a:rPr lang="en-US" dirty="0"/>
              <a:t>es)</a:t>
            </a:r>
            <a:endParaRPr dirty="0"/>
          </a:p>
        </p:txBody>
      </p:sp>
      <p:sp>
        <p:nvSpPr>
          <p:cNvPr id="4" name="Footer Placeholder 3">
            <a:extLst>
              <a:ext uri="{FF2B5EF4-FFF2-40B4-BE49-F238E27FC236}">
                <a16:creationId xmlns:a16="http://schemas.microsoft.com/office/drawing/2014/main" id="{9314A0EA-E610-37EE-7F7E-46B057E8BC1F}"/>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65478-D335-15B2-2C7B-178683FBD76F}"/>
              </a:ext>
            </a:extLst>
          </p:cNvPr>
          <p:cNvSpPr>
            <a:spLocks noGrp="1"/>
          </p:cNvSpPr>
          <p:nvPr>
            <p:ph type="ctrTitle"/>
          </p:nvPr>
        </p:nvSpPr>
        <p:spPr/>
        <p:txBody>
          <a:bodyPr/>
          <a:lstStyle/>
          <a:p>
            <a:r>
              <a:rPr lang="en-US" dirty="0"/>
              <a:t>Switch Technology</a:t>
            </a:r>
          </a:p>
        </p:txBody>
      </p:sp>
      <p:sp>
        <p:nvSpPr>
          <p:cNvPr id="3" name="Footer Placeholder 2">
            <a:extLst>
              <a:ext uri="{FF2B5EF4-FFF2-40B4-BE49-F238E27FC236}">
                <a16:creationId xmlns:a16="http://schemas.microsoft.com/office/drawing/2014/main" id="{302CB0B6-0953-D723-5F9B-611D797F391C}"/>
              </a:ext>
            </a:extLst>
          </p:cNvPr>
          <p:cNvSpPr>
            <a:spLocks noGrp="1"/>
          </p:cNvSpPr>
          <p:nvPr>
            <p:ph type="ftr" sz="quarter" idx="11"/>
          </p:nvPr>
        </p:nvSpPr>
        <p:spPr/>
        <p:txBody>
          <a:bodyPr/>
          <a:lstStyle/>
          <a:p>
            <a:r>
              <a:rPr lang="en-US"/>
              <a:t>Copyright Peterson &amp; Davie, 20026</a:t>
            </a:r>
          </a:p>
        </p:txBody>
      </p:sp>
    </p:spTree>
    <p:extLst>
      <p:ext uri="{BB962C8B-B14F-4D97-AF65-F5344CB8AC3E}">
        <p14:creationId xmlns:p14="http://schemas.microsoft.com/office/powerpoint/2010/main" val="2650919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Packet Switch</a:t>
            </a:r>
            <a:r>
              <a:rPr lang="en-US" dirty="0"/>
              <a:t>es</a:t>
            </a:r>
            <a:endParaRPr dirty="0"/>
          </a:p>
        </p:txBody>
      </p:sp>
      <p:sp>
        <p:nvSpPr>
          <p:cNvPr id="3" name="Content Placeholder 2"/>
          <p:cNvSpPr>
            <a:spLocks noGrp="1"/>
          </p:cNvSpPr>
          <p:nvPr>
            <p:ph idx="1"/>
          </p:nvPr>
        </p:nvSpPr>
        <p:spPr>
          <a:xfrm>
            <a:off x="838200" y="1548225"/>
            <a:ext cx="10515600" cy="4952588"/>
          </a:xfrm>
        </p:spPr>
        <p:txBody>
          <a:bodyPr>
            <a:normAutofit/>
          </a:bodyPr>
          <a:lstStyle/>
          <a:p>
            <a:r>
              <a:rPr lang="en-US" dirty="0"/>
              <a:t>Building block of the Internet</a:t>
            </a:r>
          </a:p>
          <a:p>
            <a:pPr lvl="1"/>
            <a:r>
              <a:rPr lang="en-US" dirty="0"/>
              <a:t>Switches are to Networking as Servers are to Computing</a:t>
            </a:r>
          </a:p>
          <a:p>
            <a:pPr lvl="1"/>
            <a:r>
              <a:rPr lang="en-US" dirty="0"/>
              <a:t>Where functionality described in Part II is implemented</a:t>
            </a:r>
          </a:p>
          <a:p>
            <a:r>
              <a:rPr lang="en-US" dirty="0"/>
              <a:t>Common Platform</a:t>
            </a:r>
          </a:p>
          <a:p>
            <a:pPr lvl="1"/>
            <a:r>
              <a:rPr dirty="0"/>
              <a:t>Receive frames</a:t>
            </a:r>
            <a:r>
              <a:rPr lang="en-US" dirty="0"/>
              <a:t> on input ports</a:t>
            </a:r>
          </a:p>
          <a:p>
            <a:pPr lvl="1"/>
            <a:r>
              <a:rPr lang="en-US" dirty="0"/>
              <a:t>M</a:t>
            </a:r>
            <a:r>
              <a:rPr dirty="0"/>
              <a:t>ake</a:t>
            </a:r>
            <a:r>
              <a:rPr lang="en-US" dirty="0"/>
              <a:t> a</a:t>
            </a:r>
            <a:r>
              <a:rPr dirty="0"/>
              <a:t> forwarding decision</a:t>
            </a:r>
            <a:endParaRPr lang="en-US" dirty="0"/>
          </a:p>
          <a:p>
            <a:pPr lvl="1"/>
            <a:r>
              <a:rPr lang="en-US" dirty="0"/>
              <a:t>Transmit frames on output ports</a:t>
            </a:r>
          </a:p>
          <a:p>
            <a:r>
              <a:rPr lang="en-US" dirty="0"/>
              <a:t>Configured (programmed) for varied deployments</a:t>
            </a:r>
          </a:p>
          <a:p>
            <a:pPr lvl="1"/>
            <a:r>
              <a:rPr lang="en-US" dirty="0"/>
              <a:t>IP packets (L3 Switch, Router)</a:t>
            </a:r>
          </a:p>
          <a:p>
            <a:pPr lvl="1"/>
            <a:r>
              <a:rPr lang="en-US" dirty="0"/>
              <a:t>Ethernet packets (L2 Switch, Bridge)</a:t>
            </a:r>
          </a:p>
          <a:p>
            <a:pPr lvl="1"/>
            <a:r>
              <a:rPr lang="en-US" dirty="0"/>
              <a:t>Both (L2/L3 Switch)</a:t>
            </a:r>
          </a:p>
        </p:txBody>
      </p:sp>
      <p:sp>
        <p:nvSpPr>
          <p:cNvPr id="4" name="Footer Placeholder 3">
            <a:extLst>
              <a:ext uri="{FF2B5EF4-FFF2-40B4-BE49-F238E27FC236}">
                <a16:creationId xmlns:a16="http://schemas.microsoft.com/office/drawing/2014/main" id="{9347C190-952E-4EBD-68A5-4854944E7A75}"/>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Control and Data Planes</a:t>
            </a:r>
          </a:p>
        </p:txBody>
      </p:sp>
      <p:sp>
        <p:nvSpPr>
          <p:cNvPr id="3" name="Content Placeholder 2"/>
          <p:cNvSpPr>
            <a:spLocks noGrp="1"/>
          </p:cNvSpPr>
          <p:nvPr>
            <p:ph idx="1"/>
          </p:nvPr>
        </p:nvSpPr>
        <p:spPr>
          <a:xfrm>
            <a:off x="838080" y="1476360"/>
            <a:ext cx="5376983" cy="4351320"/>
          </a:xfrm>
        </p:spPr>
        <p:txBody>
          <a:bodyPr>
            <a:normAutofit/>
          </a:bodyPr>
          <a:lstStyle/>
          <a:p>
            <a:r>
              <a:rPr lang="en-US" dirty="0"/>
              <a:t>Control Plane</a:t>
            </a:r>
          </a:p>
          <a:p>
            <a:pPr lvl="1"/>
            <a:r>
              <a:rPr dirty="0"/>
              <a:t>RIB (Routing Information Base</a:t>
            </a:r>
            <a:r>
              <a:rPr lang="en-US" dirty="0"/>
              <a:t>)</a:t>
            </a:r>
          </a:p>
          <a:p>
            <a:pPr lvl="1"/>
            <a:r>
              <a:rPr lang="en-US" dirty="0"/>
              <a:t>Routing algorithms learn routes</a:t>
            </a:r>
          </a:p>
          <a:p>
            <a:pPr lvl="1"/>
            <a:r>
              <a:rPr lang="en-US" dirty="0"/>
              <a:t>e.g., </a:t>
            </a:r>
            <a:r>
              <a:rPr dirty="0"/>
              <a:t>BGP, OSPF</a:t>
            </a:r>
          </a:p>
          <a:p>
            <a:r>
              <a:rPr lang="en-US" dirty="0"/>
              <a:t>Data Plane</a:t>
            </a:r>
          </a:p>
          <a:p>
            <a:pPr lvl="1"/>
            <a:r>
              <a:rPr dirty="0"/>
              <a:t>FIB (Forwarding Information Base)</a:t>
            </a:r>
          </a:p>
          <a:p>
            <a:pPr lvl="1"/>
            <a:r>
              <a:rPr lang="en-US" dirty="0"/>
              <a:t>Optimized for forwarding decisions </a:t>
            </a:r>
          </a:p>
          <a:p>
            <a:r>
              <a:rPr lang="en-US" dirty="0"/>
              <a:t>Driving towards an open API</a:t>
            </a:r>
          </a:p>
          <a:p>
            <a:pPr lvl="1"/>
            <a:r>
              <a:rPr lang="en-US" dirty="0"/>
              <a:t>OpenFlow (1</a:t>
            </a:r>
            <a:r>
              <a:rPr lang="en-US" baseline="30000" dirty="0"/>
              <a:t>st</a:t>
            </a:r>
            <a:r>
              <a:rPr lang="en-US" dirty="0"/>
              <a:t> generation)</a:t>
            </a:r>
          </a:p>
          <a:p>
            <a:pPr lvl="1"/>
            <a:r>
              <a:rPr lang="en-US" dirty="0"/>
              <a:t>P4 (2</a:t>
            </a:r>
            <a:r>
              <a:rPr lang="en-US" baseline="30000" dirty="0"/>
              <a:t>nd</a:t>
            </a:r>
            <a:r>
              <a:rPr lang="en-US" dirty="0"/>
              <a:t> generation)</a:t>
            </a:r>
            <a:endParaRPr dirty="0"/>
          </a:p>
        </p:txBody>
      </p:sp>
      <p:pic>
        <p:nvPicPr>
          <p:cNvPr id="4" name="Picture 3" descr="fib.png"/>
          <p:cNvPicPr>
            <a:picLocks noChangeAspect="1"/>
          </p:cNvPicPr>
          <p:nvPr/>
        </p:nvPicPr>
        <p:blipFill>
          <a:blip r:embed="rId2"/>
          <a:stretch>
            <a:fillRect/>
          </a:stretch>
        </p:blipFill>
        <p:spPr>
          <a:xfrm>
            <a:off x="7170411" y="1476360"/>
            <a:ext cx="3185057" cy="4351320"/>
          </a:xfrm>
          <a:prstGeom prst="rect">
            <a:avLst/>
          </a:prstGeom>
        </p:spPr>
      </p:pic>
      <p:sp>
        <p:nvSpPr>
          <p:cNvPr id="5" name="Footer Placeholder 4">
            <a:extLst>
              <a:ext uri="{FF2B5EF4-FFF2-40B4-BE49-F238E27FC236}">
                <a16:creationId xmlns:a16="http://schemas.microsoft.com/office/drawing/2014/main" id="{C30682BE-3C66-C675-F471-08697890A5F1}"/>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Software Switch</a:t>
            </a:r>
          </a:p>
        </p:txBody>
      </p:sp>
      <p:sp>
        <p:nvSpPr>
          <p:cNvPr id="3" name="Content Placeholder 2"/>
          <p:cNvSpPr>
            <a:spLocks noGrp="1"/>
          </p:cNvSpPr>
          <p:nvPr>
            <p:ph idx="1"/>
          </p:nvPr>
        </p:nvSpPr>
        <p:spPr>
          <a:xfrm>
            <a:off x="838079" y="1476359"/>
            <a:ext cx="5376983" cy="5138754"/>
          </a:xfrm>
        </p:spPr>
        <p:txBody>
          <a:bodyPr>
            <a:normAutofit fontScale="92500"/>
          </a:bodyPr>
          <a:lstStyle/>
          <a:p>
            <a:r>
              <a:rPr lang="en-US" dirty="0"/>
              <a:t>C</a:t>
            </a:r>
            <a:r>
              <a:rPr dirty="0"/>
              <a:t>ommodity server </a:t>
            </a:r>
            <a:r>
              <a:rPr lang="en-US" dirty="0"/>
              <a:t>+ multiple NICs </a:t>
            </a:r>
          </a:p>
          <a:p>
            <a:pPr lvl="1"/>
            <a:r>
              <a:rPr lang="en-US" dirty="0"/>
              <a:t>Packets stored in main memory</a:t>
            </a:r>
          </a:p>
          <a:p>
            <a:pPr lvl="1"/>
            <a:r>
              <a:rPr lang="en-US" dirty="0"/>
              <a:t>Both control &amp; data plane run on CPU</a:t>
            </a:r>
          </a:p>
          <a:p>
            <a:pPr lvl="1"/>
            <a:r>
              <a:rPr lang="en-US" dirty="0"/>
              <a:t>PCI bus serves as “cross-connect”</a:t>
            </a:r>
            <a:endParaRPr dirty="0"/>
          </a:p>
          <a:p>
            <a:r>
              <a:rPr lang="en-US" dirty="0"/>
              <a:t>Bus limitations (large packets)</a:t>
            </a:r>
          </a:p>
          <a:p>
            <a:pPr lvl="1"/>
            <a:r>
              <a:rPr lang="en-US" dirty="0"/>
              <a:t>Cross bus twice per packet</a:t>
            </a:r>
          </a:p>
          <a:p>
            <a:pPr lvl="1"/>
            <a:r>
              <a:rPr lang="en-US" dirty="0"/>
              <a:t>100 Gbps implies ~5 x 10-Gbps NICs</a:t>
            </a:r>
          </a:p>
          <a:p>
            <a:r>
              <a:rPr lang="en-US" dirty="0"/>
              <a:t>CPU limitations (small packets)</a:t>
            </a:r>
          </a:p>
          <a:p>
            <a:pPr lvl="1"/>
            <a:r>
              <a:rPr lang="en-US" dirty="0"/>
              <a:t>40M </a:t>
            </a:r>
            <a:r>
              <a:rPr lang="en-US" dirty="0" err="1"/>
              <a:t>pps</a:t>
            </a:r>
            <a:r>
              <a:rPr lang="en-US" dirty="0"/>
              <a:t> is a reasonable target</a:t>
            </a:r>
          </a:p>
          <a:p>
            <a:pPr marL="457200" lvl="1" indent="0">
              <a:buNone/>
            </a:pPr>
            <a:r>
              <a:rPr lang="en-US" dirty="0"/>
              <a:t>    Throughput = </a:t>
            </a:r>
            <a:r>
              <a:rPr lang="en-US" dirty="0" err="1"/>
              <a:t>pps</a:t>
            </a:r>
            <a:r>
              <a:rPr lang="en-US" dirty="0"/>
              <a:t> x </a:t>
            </a:r>
            <a:r>
              <a:rPr lang="en-US" dirty="0" err="1"/>
              <a:t>BitsPerPacket</a:t>
            </a:r>
            <a:endParaRPr lang="en-US" dirty="0"/>
          </a:p>
          <a:p>
            <a:pPr marL="457200" lvl="1" indent="0">
              <a:buNone/>
            </a:pPr>
            <a:r>
              <a:rPr lang="en-US" dirty="0"/>
              <a:t>                          = 40 x 10</a:t>
            </a:r>
            <a:r>
              <a:rPr lang="en-US" sz="2600" baseline="30000" dirty="0"/>
              <a:t>6 </a:t>
            </a:r>
            <a:r>
              <a:rPr lang="en-US" sz="2600" dirty="0"/>
              <a:t> x 64 x 8</a:t>
            </a:r>
            <a:endParaRPr lang="en-US" sz="2600" baseline="30000" dirty="0"/>
          </a:p>
          <a:p>
            <a:pPr marL="457200" lvl="1" indent="0">
              <a:buNone/>
            </a:pPr>
            <a:r>
              <a:rPr lang="en-US" b="1" dirty="0"/>
              <a:t>                          = </a:t>
            </a:r>
            <a:r>
              <a:rPr lang="en-US" dirty="0"/>
              <a:t>2048 × 10</a:t>
            </a:r>
            <a:r>
              <a:rPr lang="en-US" baseline="30000" dirty="0"/>
              <a:t>7</a:t>
            </a:r>
          </a:p>
          <a:p>
            <a:pPr marL="457200" lvl="1" indent="0">
              <a:buNone/>
            </a:pPr>
            <a:r>
              <a:rPr lang="en-US" dirty="0"/>
              <a:t>                          = 20 Gbps</a:t>
            </a:r>
            <a:endParaRPr dirty="0"/>
          </a:p>
        </p:txBody>
      </p:sp>
      <p:pic>
        <p:nvPicPr>
          <p:cNvPr id="4" name="Picture 3" descr="softswitch.png"/>
          <p:cNvPicPr>
            <a:picLocks noChangeAspect="1"/>
          </p:cNvPicPr>
          <p:nvPr/>
        </p:nvPicPr>
        <p:blipFill>
          <a:blip r:embed="rId2"/>
          <a:stretch>
            <a:fillRect/>
          </a:stretch>
        </p:blipFill>
        <p:spPr>
          <a:xfrm>
            <a:off x="6536628" y="1476360"/>
            <a:ext cx="4738381" cy="4351319"/>
          </a:xfrm>
          <a:prstGeom prst="rect">
            <a:avLst/>
          </a:prstGeom>
        </p:spPr>
      </p:pic>
      <p:sp>
        <p:nvSpPr>
          <p:cNvPr id="5" name="Footer Placeholder 4">
            <a:extLst>
              <a:ext uri="{FF2B5EF4-FFF2-40B4-BE49-F238E27FC236}">
                <a16:creationId xmlns:a16="http://schemas.microsoft.com/office/drawing/2014/main" id="{2DC078B4-96B4-AFF2-50FB-0BEB10383625}"/>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Hardware Switch</a:t>
            </a:r>
          </a:p>
        </p:txBody>
      </p:sp>
      <p:sp>
        <p:nvSpPr>
          <p:cNvPr id="3" name="Content Placeholder 2"/>
          <p:cNvSpPr>
            <a:spLocks noGrp="1"/>
          </p:cNvSpPr>
          <p:nvPr>
            <p:ph idx="1"/>
          </p:nvPr>
        </p:nvSpPr>
        <p:spPr>
          <a:xfrm>
            <a:off x="838080" y="1362057"/>
            <a:ext cx="5181480" cy="5253056"/>
          </a:xfrm>
        </p:spPr>
        <p:txBody>
          <a:bodyPr>
            <a:normAutofit fontScale="92500" lnSpcReduction="10000"/>
          </a:bodyPr>
          <a:lstStyle/>
          <a:p>
            <a:r>
              <a:rPr lang="en-US" dirty="0"/>
              <a:t>Switching Chip</a:t>
            </a:r>
          </a:p>
          <a:p>
            <a:pPr lvl="1"/>
            <a:r>
              <a:rPr lang="en-US" dirty="0"/>
              <a:t>Domain Specific Architecture</a:t>
            </a:r>
          </a:p>
          <a:p>
            <a:pPr lvl="1"/>
            <a:r>
              <a:rPr lang="en-US" dirty="0"/>
              <a:t>Similar to GPU (graphics), TPU (AI)</a:t>
            </a:r>
          </a:p>
          <a:p>
            <a:r>
              <a:rPr lang="en-US" dirty="0"/>
              <a:t>Forwarding Pipeline</a:t>
            </a:r>
          </a:p>
          <a:p>
            <a:pPr lvl="1"/>
            <a:r>
              <a:rPr lang="en-US" dirty="0"/>
              <a:t>Implements matching logic</a:t>
            </a:r>
          </a:p>
          <a:p>
            <a:r>
              <a:rPr lang="en-US" dirty="0"/>
              <a:t>TCAM</a:t>
            </a:r>
          </a:p>
          <a:p>
            <a:pPr lvl="1"/>
            <a:r>
              <a:rPr lang="en-US" dirty="0"/>
              <a:t>Stores patterns to match</a:t>
            </a:r>
            <a:endParaRPr dirty="0"/>
          </a:p>
          <a:p>
            <a:pPr lvl="1"/>
            <a:r>
              <a:rPr dirty="0"/>
              <a:t>Ternary</a:t>
            </a:r>
            <a:r>
              <a:rPr lang="en-US" dirty="0"/>
              <a:t> supports wildcard matches</a:t>
            </a:r>
          </a:p>
          <a:p>
            <a:r>
              <a:rPr dirty="0"/>
              <a:t>SRAM</a:t>
            </a:r>
            <a:endParaRPr lang="en-US" dirty="0"/>
          </a:p>
          <a:p>
            <a:pPr lvl="1"/>
            <a:r>
              <a:rPr lang="en-US" dirty="0"/>
              <a:t>Buffers packets</a:t>
            </a:r>
          </a:p>
          <a:p>
            <a:pPr lvl="1"/>
            <a:r>
              <a:rPr lang="en-US" dirty="0"/>
              <a:t>Faster than DRAM</a:t>
            </a:r>
          </a:p>
          <a:p>
            <a:r>
              <a:rPr lang="en-US" dirty="0"/>
              <a:t>Bare-metal switches available</a:t>
            </a:r>
          </a:p>
          <a:p>
            <a:pPr lvl="1"/>
            <a:r>
              <a:rPr lang="en-US" dirty="0"/>
              <a:t>Includes high-speed ports</a:t>
            </a:r>
          </a:p>
          <a:p>
            <a:pPr lvl="1"/>
            <a:r>
              <a:rPr lang="en-US" dirty="0"/>
              <a:t>Just add software</a:t>
            </a:r>
          </a:p>
        </p:txBody>
      </p:sp>
      <p:pic>
        <p:nvPicPr>
          <p:cNvPr id="4" name="Picture 3" descr="baremetal.png"/>
          <p:cNvPicPr>
            <a:picLocks noChangeAspect="1"/>
          </p:cNvPicPr>
          <p:nvPr/>
        </p:nvPicPr>
        <p:blipFill>
          <a:blip r:embed="rId2"/>
          <a:stretch>
            <a:fillRect/>
          </a:stretch>
        </p:blipFill>
        <p:spPr>
          <a:xfrm>
            <a:off x="6016422" y="1600201"/>
            <a:ext cx="5786614" cy="3715130"/>
          </a:xfrm>
          <a:prstGeom prst="rect">
            <a:avLst/>
          </a:prstGeom>
        </p:spPr>
      </p:pic>
      <p:sp>
        <p:nvSpPr>
          <p:cNvPr id="5" name="Footer Placeholder 4">
            <a:extLst>
              <a:ext uri="{FF2B5EF4-FFF2-40B4-BE49-F238E27FC236}">
                <a16:creationId xmlns:a16="http://schemas.microsoft.com/office/drawing/2014/main" id="{9CB6812E-5101-7BC4-9179-940A12661F2E}"/>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Flow Rule</a:t>
            </a:r>
            <a:r>
              <a:rPr lang="en-US" dirty="0"/>
              <a:t>s</a:t>
            </a:r>
            <a:endParaRPr dirty="0"/>
          </a:p>
        </p:txBody>
      </p:sp>
      <p:sp>
        <p:nvSpPr>
          <p:cNvPr id="3" name="Content Placeholder 2"/>
          <p:cNvSpPr>
            <a:spLocks noGrp="1"/>
          </p:cNvSpPr>
          <p:nvPr>
            <p:ph idx="1"/>
          </p:nvPr>
        </p:nvSpPr>
        <p:spPr>
          <a:xfrm>
            <a:off x="838080" y="1114423"/>
            <a:ext cx="6077070" cy="5543549"/>
          </a:xfrm>
        </p:spPr>
        <p:txBody>
          <a:bodyPr>
            <a:normAutofit/>
          </a:bodyPr>
          <a:lstStyle/>
          <a:p>
            <a:r>
              <a:rPr dirty="0"/>
              <a:t>OpenFlow</a:t>
            </a:r>
            <a:endParaRPr lang="en-US" dirty="0"/>
          </a:p>
          <a:p>
            <a:pPr lvl="1"/>
            <a:r>
              <a:rPr lang="en-US" sz="2200" dirty="0">
                <a:cs typeface="Calibri" panose="020F0502020204030204" pitchFamily="34" charset="0"/>
              </a:rPr>
              <a:t>Set of </a:t>
            </a:r>
            <a:r>
              <a:rPr lang="en-US" sz="2200" i="1" dirty="0">
                <a:latin typeface="Lucida Sans" panose="020B0602030504020204" pitchFamily="34" charset="77"/>
              </a:rPr>
              <a:t>&lt;Match, Action&gt; </a:t>
            </a:r>
            <a:r>
              <a:rPr lang="en-US" dirty="0"/>
              <a:t>rules</a:t>
            </a:r>
          </a:p>
          <a:p>
            <a:r>
              <a:rPr dirty="0"/>
              <a:t>Match</a:t>
            </a:r>
            <a:endParaRPr lang="en-US" dirty="0"/>
          </a:p>
          <a:p>
            <a:pPr lvl="1"/>
            <a:r>
              <a:rPr lang="en-US" dirty="0"/>
              <a:t>C</a:t>
            </a:r>
            <a:r>
              <a:rPr dirty="0"/>
              <a:t>ombination</a:t>
            </a:r>
            <a:r>
              <a:rPr lang="en-US" dirty="0"/>
              <a:t> packet header fields</a:t>
            </a:r>
          </a:p>
          <a:p>
            <a:r>
              <a:rPr dirty="0"/>
              <a:t>Action</a:t>
            </a:r>
            <a:endParaRPr lang="en-US" dirty="0"/>
          </a:p>
          <a:p>
            <a:pPr lvl="1"/>
            <a:r>
              <a:rPr lang="en-US" dirty="0"/>
              <a:t>F</a:t>
            </a:r>
            <a:r>
              <a:rPr dirty="0"/>
              <a:t>orward to </a:t>
            </a:r>
            <a:r>
              <a:rPr lang="en-US" dirty="0"/>
              <a:t>specified </a:t>
            </a:r>
            <a:r>
              <a:rPr dirty="0"/>
              <a:t>port</a:t>
            </a:r>
            <a:endParaRPr lang="en-US" dirty="0"/>
          </a:p>
          <a:p>
            <a:pPr lvl="1"/>
            <a:r>
              <a:rPr lang="en-US" dirty="0"/>
              <a:t>D</a:t>
            </a:r>
            <a:r>
              <a:rPr dirty="0"/>
              <a:t>rop</a:t>
            </a:r>
            <a:endParaRPr lang="en-US" dirty="0"/>
          </a:p>
          <a:p>
            <a:pPr lvl="1"/>
            <a:r>
              <a:rPr lang="en-US" dirty="0"/>
              <a:t>M</a:t>
            </a:r>
            <a:r>
              <a:rPr dirty="0"/>
              <a:t>odify </a:t>
            </a:r>
            <a:r>
              <a:rPr lang="en-US" dirty="0"/>
              <a:t>header &amp; forward</a:t>
            </a:r>
          </a:p>
          <a:p>
            <a:pPr lvl="1"/>
            <a:r>
              <a:rPr lang="en-US" dirty="0"/>
              <a:t>Pass up to controller</a:t>
            </a:r>
          </a:p>
          <a:p>
            <a:r>
              <a:rPr lang="en-US" dirty="0"/>
              <a:t>Forwarding Pipeline</a:t>
            </a:r>
          </a:p>
          <a:p>
            <a:pPr lvl="1"/>
            <a:r>
              <a:rPr lang="en-US" dirty="0"/>
              <a:t>Sequence of “Lookup Tables”</a:t>
            </a:r>
          </a:p>
          <a:p>
            <a:pPr lvl="1"/>
            <a:r>
              <a:rPr lang="en-US" dirty="0"/>
              <a:t>Processes packets in parallel</a:t>
            </a:r>
          </a:p>
          <a:p>
            <a:pPr lvl="1"/>
            <a:r>
              <a:rPr lang="en-US" dirty="0"/>
              <a:t>Accumulate Actions to execute at the end</a:t>
            </a:r>
            <a:endParaRPr dirty="0"/>
          </a:p>
        </p:txBody>
      </p:sp>
      <p:pic>
        <p:nvPicPr>
          <p:cNvPr id="4" name="Picture 3" descr="headers.png"/>
          <p:cNvPicPr>
            <a:picLocks noChangeAspect="1"/>
          </p:cNvPicPr>
          <p:nvPr/>
        </p:nvPicPr>
        <p:blipFill>
          <a:blip r:embed="rId2"/>
          <a:stretch>
            <a:fillRect/>
          </a:stretch>
        </p:blipFill>
        <p:spPr>
          <a:xfrm>
            <a:off x="6172441" y="1915149"/>
            <a:ext cx="5555851" cy="898591"/>
          </a:xfrm>
          <a:prstGeom prst="rect">
            <a:avLst/>
          </a:prstGeom>
        </p:spPr>
      </p:pic>
      <p:pic>
        <p:nvPicPr>
          <p:cNvPr id="5" name="Picture 4" descr="pipeline.png">
            <a:extLst>
              <a:ext uri="{FF2B5EF4-FFF2-40B4-BE49-F238E27FC236}">
                <a16:creationId xmlns:a16="http://schemas.microsoft.com/office/drawing/2014/main" id="{F5C30261-EF6C-1C30-40CF-D7BB94A334EA}"/>
              </a:ext>
            </a:extLst>
          </p:cNvPr>
          <p:cNvPicPr>
            <a:picLocks noChangeAspect="1"/>
          </p:cNvPicPr>
          <p:nvPr/>
        </p:nvPicPr>
        <p:blipFill>
          <a:blip r:embed="rId3"/>
          <a:stretch>
            <a:fillRect/>
          </a:stretch>
        </p:blipFill>
        <p:spPr>
          <a:xfrm>
            <a:off x="6172200" y="4002062"/>
            <a:ext cx="5555850" cy="1244870"/>
          </a:xfrm>
          <a:prstGeom prst="rect">
            <a:avLst/>
          </a:prstGeom>
        </p:spPr>
      </p:pic>
      <p:cxnSp>
        <p:nvCxnSpPr>
          <p:cNvPr id="7" name="Straight Arrow Connector 6">
            <a:extLst>
              <a:ext uri="{FF2B5EF4-FFF2-40B4-BE49-F238E27FC236}">
                <a16:creationId xmlns:a16="http://schemas.microsoft.com/office/drawing/2014/main" id="{1B2D0DC2-0590-3814-5D39-9588CBA67864}"/>
              </a:ext>
            </a:extLst>
          </p:cNvPr>
          <p:cNvCxnSpPr/>
          <p:nvPr/>
        </p:nvCxnSpPr>
        <p:spPr>
          <a:xfrm>
            <a:off x="6743700" y="2813740"/>
            <a:ext cx="528638" cy="14867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842C1955-0CB4-21C7-E9ED-87476895D8C4}"/>
              </a:ext>
            </a:extLst>
          </p:cNvPr>
          <p:cNvCxnSpPr>
            <a:cxnSpLocks/>
            <a:stCxn id="4" idx="2"/>
          </p:cNvCxnSpPr>
          <p:nvPr/>
        </p:nvCxnSpPr>
        <p:spPr>
          <a:xfrm flipH="1">
            <a:off x="8158163" y="2813740"/>
            <a:ext cx="792204" cy="14867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36F4ACD-045D-2626-9FDD-ABB372105E8D}"/>
              </a:ext>
            </a:extLst>
          </p:cNvPr>
          <p:cNvCxnSpPr>
            <a:cxnSpLocks/>
          </p:cNvCxnSpPr>
          <p:nvPr/>
        </p:nvCxnSpPr>
        <p:spPr>
          <a:xfrm flipH="1">
            <a:off x="9729788" y="2813740"/>
            <a:ext cx="106404" cy="14867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Footer Placeholder 5">
            <a:extLst>
              <a:ext uri="{FF2B5EF4-FFF2-40B4-BE49-F238E27FC236}">
                <a16:creationId xmlns:a16="http://schemas.microsoft.com/office/drawing/2014/main" id="{858A10BA-6AB1-62F6-065D-CB2D32F68174}"/>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3674E-6249-4D61-E5F1-509A11980A23}"/>
              </a:ext>
            </a:extLst>
          </p:cNvPr>
          <p:cNvSpPr>
            <a:spLocks noGrp="1"/>
          </p:cNvSpPr>
          <p:nvPr>
            <p:ph type="title"/>
          </p:nvPr>
        </p:nvSpPr>
        <p:spPr/>
        <p:txBody>
          <a:bodyPr/>
          <a:lstStyle/>
          <a:p>
            <a:r>
              <a:rPr lang="en-US" dirty="0"/>
              <a:t>OpenFlow</a:t>
            </a:r>
          </a:p>
        </p:txBody>
      </p:sp>
      <p:pic>
        <p:nvPicPr>
          <p:cNvPr id="5" name="Content Placeholder 4">
            <a:extLst>
              <a:ext uri="{FF2B5EF4-FFF2-40B4-BE49-F238E27FC236}">
                <a16:creationId xmlns:a16="http://schemas.microsoft.com/office/drawing/2014/main" id="{C3F604CE-16B3-A50C-A54A-68A73F73649F}"/>
              </a:ext>
            </a:extLst>
          </p:cNvPr>
          <p:cNvPicPr>
            <a:picLocks noChangeAspect="1"/>
          </p:cNvPicPr>
          <p:nvPr/>
        </p:nvPicPr>
        <p:blipFill>
          <a:blip r:embed="rId2"/>
          <a:stretch>
            <a:fillRect/>
          </a:stretch>
        </p:blipFill>
        <p:spPr>
          <a:xfrm>
            <a:off x="1458543" y="1743076"/>
            <a:ext cx="9274915" cy="4856094"/>
          </a:xfrm>
          <a:prstGeom prst="rect">
            <a:avLst/>
          </a:prstGeom>
        </p:spPr>
      </p:pic>
      <p:sp>
        <p:nvSpPr>
          <p:cNvPr id="7" name="Content Placeholder 6">
            <a:extLst>
              <a:ext uri="{FF2B5EF4-FFF2-40B4-BE49-F238E27FC236}">
                <a16:creationId xmlns:a16="http://schemas.microsoft.com/office/drawing/2014/main" id="{C24B955F-2D54-B1B8-523E-FDA5FF43F9A6}"/>
              </a:ext>
            </a:extLst>
          </p:cNvPr>
          <p:cNvSpPr>
            <a:spLocks noGrp="1"/>
          </p:cNvSpPr>
          <p:nvPr>
            <p:ph sz="half" idx="1"/>
          </p:nvPr>
        </p:nvSpPr>
        <p:spPr>
          <a:xfrm>
            <a:off x="838200" y="1249260"/>
            <a:ext cx="10308086" cy="493816"/>
          </a:xfrm>
        </p:spPr>
        <p:txBody>
          <a:bodyPr/>
          <a:lstStyle/>
          <a:p>
            <a:pPr marL="0" indent="0">
              <a:buNone/>
            </a:pPr>
            <a:r>
              <a:rPr lang="en-US" dirty="0"/>
              <a:t>Full Pipeline (Many of these  tables covered in later chapters)</a:t>
            </a:r>
          </a:p>
        </p:txBody>
      </p:sp>
      <p:sp>
        <p:nvSpPr>
          <p:cNvPr id="3" name="Footer Placeholder 2">
            <a:extLst>
              <a:ext uri="{FF2B5EF4-FFF2-40B4-BE49-F238E27FC236}">
                <a16:creationId xmlns:a16="http://schemas.microsoft.com/office/drawing/2014/main" id="{968D5038-80DF-BBF9-BC3E-BF85FE528658}"/>
              </a:ext>
            </a:extLst>
          </p:cNvPr>
          <p:cNvSpPr>
            <a:spLocks noGrp="1"/>
          </p:cNvSpPr>
          <p:nvPr>
            <p:ph type="ftr" sz="quarter" idx="11"/>
          </p:nvPr>
        </p:nvSpPr>
        <p:spPr/>
        <p:txBody>
          <a:bodyPr/>
          <a:lstStyle/>
          <a:p>
            <a:r>
              <a:rPr lang="en-US"/>
              <a:t>Copyright Peterson &amp; Davie, 20026</a:t>
            </a:r>
          </a:p>
        </p:txBody>
      </p:sp>
    </p:spTree>
    <p:extLst>
      <p:ext uri="{BB962C8B-B14F-4D97-AF65-F5344CB8AC3E}">
        <p14:creationId xmlns:p14="http://schemas.microsoft.com/office/powerpoint/2010/main" val="64646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Programmable Pipeline</a:t>
            </a:r>
            <a:endParaRPr dirty="0"/>
          </a:p>
        </p:txBody>
      </p:sp>
      <p:sp>
        <p:nvSpPr>
          <p:cNvPr id="3" name="Content Placeholder 2"/>
          <p:cNvSpPr>
            <a:spLocks noGrp="1"/>
          </p:cNvSpPr>
          <p:nvPr>
            <p:ph idx="1"/>
          </p:nvPr>
        </p:nvSpPr>
        <p:spPr>
          <a:xfrm>
            <a:off x="838200" y="1162030"/>
            <a:ext cx="10328564" cy="5438796"/>
          </a:xfrm>
        </p:spPr>
        <p:txBody>
          <a:bodyPr>
            <a:normAutofit/>
          </a:bodyPr>
          <a:lstStyle/>
          <a:p>
            <a:r>
              <a:rPr lang="en-US" dirty="0"/>
              <a:t>OpenFlow uses a </a:t>
            </a:r>
            <a:r>
              <a:rPr lang="en-US" i="1" dirty="0"/>
              <a:t>Fixed Pipeline</a:t>
            </a:r>
          </a:p>
          <a:p>
            <a:pPr lvl="1"/>
            <a:r>
              <a:rPr lang="en-US" dirty="0"/>
              <a:t>Each table is hardwired to specific hearer field(s)</a:t>
            </a:r>
          </a:p>
          <a:p>
            <a:pPr lvl="1"/>
            <a:r>
              <a:rPr lang="en-US" dirty="0"/>
              <a:t>Change requires a change to the standard</a:t>
            </a:r>
          </a:p>
          <a:p>
            <a:pPr lvl="1"/>
            <a:r>
              <a:rPr lang="en-US" dirty="0"/>
              <a:t>Vendors introduced vendor-specific features</a:t>
            </a:r>
          </a:p>
          <a:p>
            <a:pPr lvl="1"/>
            <a:r>
              <a:rPr lang="en-US" dirty="0"/>
              <a:t>A programmable alternative is more flexible</a:t>
            </a:r>
          </a:p>
          <a:p>
            <a:r>
              <a:rPr lang="en-US" dirty="0"/>
              <a:t>P4: Programming Protocol-independent Packet Processors</a:t>
            </a:r>
          </a:p>
          <a:p>
            <a:pPr lvl="1"/>
            <a:r>
              <a:rPr lang="en-US" dirty="0"/>
              <a:t>L</a:t>
            </a:r>
            <a:r>
              <a:rPr dirty="0"/>
              <a:t>anguage for defining custom packet processing</a:t>
            </a:r>
            <a:endParaRPr lang="en-US" dirty="0"/>
          </a:p>
          <a:p>
            <a:pPr lvl="1"/>
            <a:r>
              <a:rPr lang="en-US" dirty="0"/>
              <a:t>Similar to C, but with constructs for matching headers</a:t>
            </a:r>
          </a:p>
          <a:p>
            <a:r>
              <a:rPr dirty="0"/>
              <a:t>PISA</a:t>
            </a:r>
            <a:r>
              <a:rPr lang="en-US" dirty="0"/>
              <a:t>: Protocol-independent Switch Architecture</a:t>
            </a:r>
          </a:p>
          <a:p>
            <a:pPr lvl="1"/>
            <a:r>
              <a:rPr lang="en-US" dirty="0"/>
              <a:t>Forwarding pipeline with programmable stages/tables</a:t>
            </a:r>
          </a:p>
          <a:p>
            <a:pPr lvl="1"/>
            <a:r>
              <a:rPr lang="en-US" dirty="0"/>
              <a:t>Serves as the target “instruction set” for P4 compiler</a:t>
            </a:r>
          </a:p>
          <a:p>
            <a:r>
              <a:rPr lang="en-US" dirty="0"/>
              <a:t>Toolchain for generating Control/Data Plane API from P4 programs</a:t>
            </a:r>
            <a:endParaRPr dirty="0"/>
          </a:p>
        </p:txBody>
      </p:sp>
      <p:sp>
        <p:nvSpPr>
          <p:cNvPr id="4" name="Footer Placeholder 3">
            <a:extLst>
              <a:ext uri="{FF2B5EF4-FFF2-40B4-BE49-F238E27FC236}">
                <a16:creationId xmlns:a16="http://schemas.microsoft.com/office/drawing/2014/main" id="{BA383369-DE1A-53AD-133A-B8C1ECF88D39}"/>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Switch OS</a:t>
            </a:r>
          </a:p>
        </p:txBody>
      </p:sp>
      <p:sp>
        <p:nvSpPr>
          <p:cNvPr id="3" name="Content Placeholder 2"/>
          <p:cNvSpPr>
            <a:spLocks noGrp="1"/>
          </p:cNvSpPr>
          <p:nvPr>
            <p:ph idx="1"/>
          </p:nvPr>
        </p:nvSpPr>
        <p:spPr>
          <a:xfrm>
            <a:off x="838080" y="1476359"/>
            <a:ext cx="5340222" cy="4567253"/>
          </a:xfrm>
        </p:spPr>
        <p:txBody>
          <a:bodyPr>
            <a:normAutofit/>
          </a:bodyPr>
          <a:lstStyle/>
          <a:p>
            <a:r>
              <a:rPr lang="en-US" dirty="0"/>
              <a:t>Switch OS runs on switch CPU</a:t>
            </a:r>
          </a:p>
          <a:p>
            <a:pPr lvl="1"/>
            <a:r>
              <a:rPr lang="en-US" dirty="0"/>
              <a:t>SONIC: open Linux-based option</a:t>
            </a:r>
            <a:endParaRPr dirty="0"/>
          </a:p>
          <a:p>
            <a:r>
              <a:rPr lang="en-US" dirty="0"/>
              <a:t>Switch OS hosts the Control Plane</a:t>
            </a:r>
          </a:p>
          <a:p>
            <a:pPr lvl="1"/>
            <a:r>
              <a:rPr lang="en-US" dirty="0"/>
              <a:t>Offers </a:t>
            </a:r>
            <a:r>
              <a:rPr dirty="0"/>
              <a:t>Northbound Interface</a:t>
            </a:r>
            <a:r>
              <a:rPr lang="en-US" dirty="0"/>
              <a:t> (NBI</a:t>
            </a:r>
            <a:r>
              <a:rPr dirty="0"/>
              <a:t>)</a:t>
            </a:r>
          </a:p>
          <a:p>
            <a:r>
              <a:rPr lang="en-US" dirty="0"/>
              <a:t>Off-Switch Management Plane</a:t>
            </a:r>
          </a:p>
          <a:p>
            <a:pPr lvl="1"/>
            <a:r>
              <a:rPr lang="en-US" dirty="0"/>
              <a:t>Uses NBI to manage switch</a:t>
            </a:r>
            <a:endParaRPr dirty="0"/>
          </a:p>
        </p:txBody>
      </p:sp>
      <p:pic>
        <p:nvPicPr>
          <p:cNvPr id="4" name="Picture 3" descr="nbi.png"/>
          <p:cNvPicPr>
            <a:picLocks noChangeAspect="1"/>
          </p:cNvPicPr>
          <p:nvPr/>
        </p:nvPicPr>
        <p:blipFill>
          <a:blip r:embed="rId2"/>
          <a:stretch>
            <a:fillRect/>
          </a:stretch>
        </p:blipFill>
        <p:spPr>
          <a:xfrm>
            <a:off x="6178302" y="1476360"/>
            <a:ext cx="5169275" cy="4351320"/>
          </a:xfrm>
          <a:prstGeom prst="rect">
            <a:avLst/>
          </a:prstGeom>
        </p:spPr>
      </p:pic>
      <p:sp>
        <p:nvSpPr>
          <p:cNvPr id="5" name="Footer Placeholder 4">
            <a:extLst>
              <a:ext uri="{FF2B5EF4-FFF2-40B4-BE49-F238E27FC236}">
                <a16:creationId xmlns:a16="http://schemas.microsoft.com/office/drawing/2014/main" id="{5D6AF437-0708-A64A-9659-2B1449B4F316}"/>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8D146-E3F9-BA94-1851-B0C0933709B8}"/>
              </a:ext>
            </a:extLst>
          </p:cNvPr>
          <p:cNvSpPr>
            <a:spLocks noGrp="1"/>
          </p:cNvSpPr>
          <p:nvPr>
            <p:ph type="ctrTitle"/>
          </p:nvPr>
        </p:nvSpPr>
        <p:spPr/>
        <p:txBody>
          <a:bodyPr/>
          <a:lstStyle/>
          <a:p>
            <a:r>
              <a:rPr lang="en-US" dirty="0"/>
              <a:t>Circuit Switching</a:t>
            </a:r>
          </a:p>
        </p:txBody>
      </p:sp>
      <p:sp>
        <p:nvSpPr>
          <p:cNvPr id="3" name="Footer Placeholder 2">
            <a:extLst>
              <a:ext uri="{FF2B5EF4-FFF2-40B4-BE49-F238E27FC236}">
                <a16:creationId xmlns:a16="http://schemas.microsoft.com/office/drawing/2014/main" id="{F06BD0A6-1454-D5FB-A027-9765BBCC3503}"/>
              </a:ext>
            </a:extLst>
          </p:cNvPr>
          <p:cNvSpPr>
            <a:spLocks noGrp="1"/>
          </p:cNvSpPr>
          <p:nvPr>
            <p:ph type="ftr" sz="quarter" idx="11"/>
          </p:nvPr>
        </p:nvSpPr>
        <p:spPr/>
        <p:txBody>
          <a:bodyPr/>
          <a:lstStyle/>
          <a:p>
            <a:r>
              <a:rPr lang="en-US"/>
              <a:t>Copyright Peterson &amp; Davie, 20026</a:t>
            </a:r>
          </a:p>
        </p:txBody>
      </p:sp>
    </p:spTree>
    <p:extLst>
      <p:ext uri="{BB962C8B-B14F-4D97-AF65-F5344CB8AC3E}">
        <p14:creationId xmlns:p14="http://schemas.microsoft.com/office/powerpoint/2010/main" val="38394903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endParaRPr dirty="0"/>
          </a:p>
        </p:txBody>
      </p:sp>
      <p:sp>
        <p:nvSpPr>
          <p:cNvPr id="3" name="Content Placeholder 2"/>
          <p:cNvSpPr>
            <a:spLocks noGrp="1"/>
          </p:cNvSpPr>
          <p:nvPr>
            <p:ph idx="1"/>
          </p:nvPr>
        </p:nvSpPr>
        <p:spPr>
          <a:xfrm>
            <a:off x="838200" y="1548224"/>
            <a:ext cx="10515600" cy="4452525"/>
          </a:xfrm>
        </p:spPr>
        <p:txBody>
          <a:bodyPr>
            <a:normAutofit/>
          </a:bodyPr>
          <a:lstStyle/>
          <a:p>
            <a:r>
              <a:rPr lang="en-US" dirty="0"/>
              <a:t>Focused on Packet Switching up to this point</a:t>
            </a:r>
          </a:p>
          <a:p>
            <a:pPr lvl="1"/>
            <a:r>
              <a:rPr lang="en-US" dirty="0"/>
              <a:t>Built around statistical multiplexing</a:t>
            </a:r>
          </a:p>
          <a:p>
            <a:pPr lvl="1"/>
            <a:r>
              <a:rPr lang="en-US" dirty="0"/>
              <a:t>Adopts Store-and-Forward model</a:t>
            </a:r>
          </a:p>
          <a:p>
            <a:r>
              <a:rPr lang="en-US" dirty="0"/>
              <a:t>Alternative is </a:t>
            </a:r>
            <a:r>
              <a:rPr dirty="0"/>
              <a:t>Circuit </a:t>
            </a:r>
            <a:r>
              <a:rPr lang="en-US" dirty="0"/>
              <a:t>S</a:t>
            </a:r>
            <a:r>
              <a:rPr dirty="0"/>
              <a:t>witching</a:t>
            </a:r>
            <a:endParaRPr lang="en-US" dirty="0"/>
          </a:p>
          <a:p>
            <a:pPr lvl="1"/>
            <a:r>
              <a:rPr lang="en-US" dirty="0"/>
              <a:t>Set up end-to-end path before using</a:t>
            </a:r>
          </a:p>
          <a:p>
            <a:pPr lvl="1"/>
            <a:r>
              <a:rPr lang="en-US" dirty="0"/>
              <a:t>R</a:t>
            </a:r>
            <a:r>
              <a:rPr dirty="0"/>
              <a:t>eserve </a:t>
            </a:r>
            <a:r>
              <a:rPr lang="en-US" dirty="0"/>
              <a:t>link bandwidth and switching capacity along circuit</a:t>
            </a:r>
          </a:p>
          <a:p>
            <a:pPr lvl="1"/>
            <a:r>
              <a:rPr lang="en-US" dirty="0"/>
              <a:t>Bits (or signals) flow through switch without buffering</a:t>
            </a:r>
          </a:p>
          <a:p>
            <a:r>
              <a:rPr lang="en-US" dirty="0"/>
              <a:t>Two Examples</a:t>
            </a:r>
          </a:p>
          <a:p>
            <a:pPr lvl="1"/>
            <a:r>
              <a:rPr lang="en-US" dirty="0"/>
              <a:t>Modern: All-optical networks using Wave Division Multiplexing</a:t>
            </a:r>
          </a:p>
          <a:p>
            <a:pPr lvl="1"/>
            <a:r>
              <a:rPr lang="en-US" dirty="0"/>
              <a:t>Legacy: Electrical switches (optical fiber) using Time Division Multiplexing</a:t>
            </a:r>
            <a:endParaRPr dirty="0"/>
          </a:p>
        </p:txBody>
      </p:sp>
      <p:sp>
        <p:nvSpPr>
          <p:cNvPr id="4" name="Footer Placeholder 3">
            <a:extLst>
              <a:ext uri="{FF2B5EF4-FFF2-40B4-BE49-F238E27FC236}">
                <a16:creationId xmlns:a16="http://schemas.microsoft.com/office/drawing/2014/main" id="{74F2D8B3-391B-44F9-C3F2-84702B0B3535}"/>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All-Optical Networks</a:t>
            </a:r>
          </a:p>
        </p:txBody>
      </p:sp>
      <p:sp>
        <p:nvSpPr>
          <p:cNvPr id="3" name="Content Placeholder 2"/>
          <p:cNvSpPr>
            <a:spLocks noGrp="1"/>
          </p:cNvSpPr>
          <p:nvPr>
            <p:ph idx="1"/>
          </p:nvPr>
        </p:nvSpPr>
        <p:spPr>
          <a:xfrm>
            <a:off x="838080" y="1476360"/>
            <a:ext cx="5181480" cy="4351320"/>
          </a:xfrm>
        </p:spPr>
        <p:txBody>
          <a:bodyPr>
            <a:normAutofit/>
          </a:bodyPr>
          <a:lstStyle/>
          <a:p>
            <a:r>
              <a:rPr dirty="0"/>
              <a:t>D</a:t>
            </a:r>
            <a:r>
              <a:rPr lang="en-US" dirty="0"/>
              <a:t>WDM</a:t>
            </a:r>
          </a:p>
          <a:p>
            <a:pPr lvl="1"/>
            <a:r>
              <a:rPr lang="en-US" dirty="0"/>
              <a:t>M</a:t>
            </a:r>
            <a:r>
              <a:rPr dirty="0"/>
              <a:t>ultiple </a:t>
            </a:r>
            <a:r>
              <a:rPr lang="en-US" dirty="0"/>
              <a:t>"</a:t>
            </a:r>
            <a:r>
              <a:rPr dirty="0"/>
              <a:t>colors</a:t>
            </a:r>
            <a:r>
              <a:rPr lang="en-US" dirty="0"/>
              <a:t>"</a:t>
            </a:r>
            <a:r>
              <a:rPr dirty="0"/>
              <a:t> share one fiber</a:t>
            </a:r>
          </a:p>
          <a:p>
            <a:pPr lvl="1"/>
            <a:r>
              <a:rPr dirty="0"/>
              <a:t>80+ channels at 100 Gbps each</a:t>
            </a:r>
            <a:endParaRPr lang="en-US" dirty="0"/>
          </a:p>
          <a:p>
            <a:r>
              <a:rPr dirty="0"/>
              <a:t>ROADM</a:t>
            </a:r>
            <a:endParaRPr lang="en-US" dirty="0"/>
          </a:p>
          <a:p>
            <a:pPr lvl="1"/>
            <a:r>
              <a:rPr lang="en-US" dirty="0"/>
              <a:t>I</a:t>
            </a:r>
            <a:r>
              <a:rPr dirty="0"/>
              <a:t>ndividual wavelengths </a:t>
            </a:r>
            <a:r>
              <a:rPr lang="en-US" dirty="0"/>
              <a:t>routed end-to-end without </a:t>
            </a:r>
            <a:r>
              <a:rPr dirty="0"/>
              <a:t>converting to electrical signals</a:t>
            </a:r>
          </a:p>
          <a:p>
            <a:pPr lvl="1"/>
            <a:r>
              <a:rPr lang="en-US" dirty="0"/>
              <a:t>Packet switches at either end of an all-optical circuit</a:t>
            </a:r>
            <a:endParaRPr dirty="0"/>
          </a:p>
        </p:txBody>
      </p:sp>
      <p:pic>
        <p:nvPicPr>
          <p:cNvPr id="4" name="Picture 3" descr="roadm.png"/>
          <p:cNvPicPr>
            <a:picLocks noChangeAspect="1"/>
          </p:cNvPicPr>
          <p:nvPr/>
        </p:nvPicPr>
        <p:blipFill>
          <a:blip r:embed="rId2"/>
          <a:stretch>
            <a:fillRect/>
          </a:stretch>
        </p:blipFill>
        <p:spPr>
          <a:xfrm>
            <a:off x="6172199" y="2643189"/>
            <a:ext cx="5471027" cy="1916248"/>
          </a:xfrm>
          <a:prstGeom prst="rect">
            <a:avLst/>
          </a:prstGeom>
        </p:spPr>
      </p:pic>
      <p:sp>
        <p:nvSpPr>
          <p:cNvPr id="5" name="Footer Placeholder 4">
            <a:extLst>
              <a:ext uri="{FF2B5EF4-FFF2-40B4-BE49-F238E27FC236}">
                <a16:creationId xmlns:a16="http://schemas.microsoft.com/office/drawing/2014/main" id="{D81254BC-96D8-9F19-289E-F2787B0EDBB5}"/>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SONET</a:t>
            </a:r>
          </a:p>
        </p:txBody>
      </p:sp>
      <p:sp>
        <p:nvSpPr>
          <p:cNvPr id="3" name="Content Placeholder 2"/>
          <p:cNvSpPr>
            <a:spLocks noGrp="1"/>
          </p:cNvSpPr>
          <p:nvPr>
            <p:ph idx="1"/>
          </p:nvPr>
        </p:nvSpPr>
        <p:spPr>
          <a:xfrm>
            <a:off x="838200" y="1214396"/>
            <a:ext cx="10515600" cy="5099318"/>
          </a:xfrm>
        </p:spPr>
        <p:txBody>
          <a:bodyPr>
            <a:normAutofit/>
          </a:bodyPr>
          <a:lstStyle/>
          <a:p>
            <a:r>
              <a:rPr lang="en-US" dirty="0"/>
              <a:t>Synchronous Optical Networking</a:t>
            </a:r>
          </a:p>
          <a:p>
            <a:pPr lvl="1"/>
            <a:r>
              <a:rPr lang="en-US" dirty="0"/>
              <a:t>Comes out of Telephony Networks</a:t>
            </a:r>
          </a:p>
          <a:p>
            <a:r>
              <a:rPr lang="en-US" dirty="0"/>
              <a:t>Hierarchy of byte-streams (circuits) switched end-to-end</a:t>
            </a:r>
          </a:p>
          <a:p>
            <a:r>
              <a:rPr lang="en-US" dirty="0"/>
              <a:t>Multiplex by sending a frame every 125 µs</a:t>
            </a:r>
          </a:p>
          <a:p>
            <a:r>
              <a:rPr lang="en-US" dirty="0"/>
              <a:t>Base level is STS-1 = 51.84 Mbps (810 bytes per frame)</a:t>
            </a:r>
          </a:p>
          <a:p>
            <a:r>
              <a:rPr lang="en-US" dirty="0"/>
              <a:t>STS-1 can carry 810 x 64-Kbps voice circuits</a:t>
            </a:r>
          </a:p>
          <a:p>
            <a:pPr lvl="1"/>
            <a:r>
              <a:rPr lang="en-US" dirty="0"/>
              <a:t>One byte for each voice circuit every 125 µs</a:t>
            </a:r>
          </a:p>
          <a:p>
            <a:r>
              <a:rPr lang="en-US" dirty="0"/>
              <a:t>Aggregating STS-1 yields higher bandwidth circuits</a:t>
            </a:r>
          </a:p>
          <a:p>
            <a:pPr lvl="1"/>
            <a:r>
              <a:rPr lang="en-US" dirty="0"/>
              <a:t>Three STS-1 yields STS-3 = 155.52 Mbps </a:t>
            </a:r>
          </a:p>
          <a:p>
            <a:pPr lvl="1"/>
            <a:r>
              <a:rPr lang="en-US" dirty="0"/>
              <a:t>N STS-1 yields STS-N = Nx51.84 Mbps</a:t>
            </a:r>
          </a:p>
          <a:p>
            <a:pPr lvl="1"/>
            <a:r>
              <a:rPr lang="en-US" dirty="0"/>
              <a:t>Tops out at  STS-768 = 39,813.12 Mbps (~40 Gbps)</a:t>
            </a:r>
          </a:p>
        </p:txBody>
      </p:sp>
      <p:sp>
        <p:nvSpPr>
          <p:cNvPr id="4" name="Footer Placeholder 3">
            <a:extLst>
              <a:ext uri="{FF2B5EF4-FFF2-40B4-BE49-F238E27FC236}">
                <a16:creationId xmlns:a16="http://schemas.microsoft.com/office/drawing/2014/main" id="{FA9504F6-8EE6-2A78-1F19-00B3B7AB1298}"/>
              </a:ext>
            </a:extLst>
          </p:cNvPr>
          <p:cNvSpPr>
            <a:spLocks noGrp="1"/>
          </p:cNvSpPr>
          <p:nvPr>
            <p:ph type="ftr" sz="quarter" idx="11"/>
          </p:nvPr>
        </p:nvSpPr>
        <p:spPr/>
        <p:txBody>
          <a:bodyPr/>
          <a:lstStyle/>
          <a:p>
            <a:r>
              <a:rPr lang="en-US"/>
              <a:t>Copyright Peterson &amp; Davie, 20026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1463</TotalTime>
  <Words>1381</Words>
  <Application>Microsoft Macintosh PowerPoint</Application>
  <PresentationFormat>Widescreen</PresentationFormat>
  <Paragraphs>219</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Arial</vt:lpstr>
      <vt:lpstr>Calibri</vt:lpstr>
      <vt:lpstr>Lucida Sans</vt:lpstr>
      <vt:lpstr>System Font Regular</vt:lpstr>
      <vt:lpstr>Wingdings</vt:lpstr>
      <vt:lpstr>Office Theme</vt:lpstr>
      <vt:lpstr>Chapter 3: Packet Switching</vt:lpstr>
      <vt:lpstr>Overview</vt:lpstr>
      <vt:lpstr>Spectrum</vt:lpstr>
      <vt:lpstr>Link Technology</vt:lpstr>
      <vt:lpstr>Link Layer</vt:lpstr>
      <vt:lpstr>Encoding</vt:lpstr>
      <vt:lpstr>Encoding (cont)</vt:lpstr>
      <vt:lpstr>Framing</vt:lpstr>
      <vt:lpstr>Error Detection</vt:lpstr>
      <vt:lpstr>Evolution of Ethernet</vt:lpstr>
      <vt:lpstr>Switch Technology</vt:lpstr>
      <vt:lpstr>Packet Switches</vt:lpstr>
      <vt:lpstr>Control and Data Planes</vt:lpstr>
      <vt:lpstr>Software Switch</vt:lpstr>
      <vt:lpstr>Hardware Switch</vt:lpstr>
      <vt:lpstr>Flow Rules</vt:lpstr>
      <vt:lpstr>OpenFlow</vt:lpstr>
      <vt:lpstr>Programmable Pipeline</vt:lpstr>
      <vt:lpstr>Switch OS</vt:lpstr>
      <vt:lpstr>Circuit Switching</vt:lpstr>
      <vt:lpstr>Overview</vt:lpstr>
      <vt:lpstr>All-Optical Networks</vt:lpstr>
      <vt:lpstr>SONET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Larry Peterson</dc:creator>
  <cp:lastModifiedBy>Larry Peterson</cp:lastModifiedBy>
  <cp:revision>19</cp:revision>
  <dcterms:created xsi:type="dcterms:W3CDTF">2026-08-04T17:34:08Z</dcterms:created>
  <dcterms:modified xsi:type="dcterms:W3CDTF">2026-09-25T21:23:37Z</dcterms:modified>
</cp:coreProperties>
</file>