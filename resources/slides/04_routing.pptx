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2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1"/>
    <p:restoredTop sz="94658"/>
  </p:normalViewPr>
  <p:slideViewPr>
    <p:cSldViewPr snapToGrid="0">
      <p:cViewPr varScale="1">
        <p:scale>
          <a:sx n="112" d="100"/>
          <a:sy n="112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7F42E-0C12-044E-AD10-3170CA209CC6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C57C6-338F-784A-BD62-92324E299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2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FA45-BD61-E34D-A37F-81065189F029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E3CEE-E305-8045-A805-47D567B3833D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A8630-0436-FF47-9B42-7F891D038AD4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4AEA8-D0BB-A14E-97AE-DBA385F6B8E8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2E31-4AEA-F940-A207-25E5E65EE68D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47D43-07C2-CF40-9A9C-B68537DC7AD6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4: Routing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Networks: A Systems Approach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3A8B-E3B3-9C47-7EA2-5A5B9657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dirty="0"/>
              <a:t>Once a network grows beyond a single switch, </a:t>
            </a:r>
            <a:r>
              <a:rPr lang="en-US" i="1" dirty="0"/>
              <a:t>we need a way to determine the path </a:t>
            </a:r>
            <a:r>
              <a:rPr i="1" dirty="0"/>
              <a:t>packets need </a:t>
            </a:r>
            <a:r>
              <a:rPr lang="en-US" i="1" dirty="0"/>
              <a:t>to follow to reach their </a:t>
            </a:r>
            <a:r>
              <a:rPr i="1" dirty="0"/>
              <a:t>destination.</a:t>
            </a:r>
            <a:r>
              <a:rPr lang="en-US" i="1" dirty="0"/>
              <a:t> This is the job of the routing algorithm. </a:t>
            </a:r>
            <a:r>
              <a:rPr i="1" dirty="0"/>
              <a:t>This chapter </a:t>
            </a:r>
            <a:r>
              <a:rPr lang="en-US" i="1" dirty="0"/>
              <a:t>describes</a:t>
            </a:r>
            <a:r>
              <a:rPr i="1" dirty="0"/>
              <a:t> </a:t>
            </a:r>
            <a:r>
              <a:rPr lang="en-US" i="1" dirty="0"/>
              <a:t>four different approaches.</a:t>
            </a:r>
            <a:endParaRPr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8C1D0-9D0A-6587-9A1C-12E00958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Routing v</a:t>
            </a:r>
            <a:r>
              <a:rPr lang="en-US" dirty="0"/>
              <a:t>s</a:t>
            </a:r>
            <a:r>
              <a:rPr dirty="0"/>
              <a:t> Forwarding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Forwarding</a:t>
            </a:r>
            <a:r>
              <a:rPr lang="en-US" dirty="0"/>
              <a:t>: Data Plane</a:t>
            </a:r>
          </a:p>
          <a:p>
            <a:pPr lvl="1"/>
            <a:r>
              <a:rPr lang="en-US" dirty="0"/>
              <a:t>Lookup destination address in the forwarding </a:t>
            </a:r>
            <a:r>
              <a:rPr dirty="0"/>
              <a:t>table</a:t>
            </a:r>
          </a:p>
          <a:p>
            <a:r>
              <a:rPr dirty="0"/>
              <a:t>Routing</a:t>
            </a:r>
            <a:r>
              <a:rPr lang="en-US" dirty="0"/>
              <a:t>:</a:t>
            </a:r>
            <a:r>
              <a:rPr lang="en-US" dirty="0">
                <a:sym typeface="Wingdings" pitchFamily="2" charset="2"/>
              </a:rPr>
              <a:t> Control Plane</a:t>
            </a:r>
          </a:p>
          <a:p>
            <a:pPr lvl="1"/>
            <a:r>
              <a:rPr lang="en-US" dirty="0"/>
              <a:t>Collect information about network topology and capacity</a:t>
            </a:r>
          </a:p>
          <a:p>
            <a:pPr lvl="1"/>
            <a:r>
              <a:rPr lang="en-US" dirty="0"/>
              <a:t>Calculate best next hop for each destination</a:t>
            </a:r>
          </a:p>
          <a:p>
            <a:r>
              <a:rPr lang="en-US" dirty="0"/>
              <a:t>Independent decision at at different levels</a:t>
            </a:r>
            <a:endParaRPr dirty="0"/>
          </a:p>
          <a:p>
            <a:pPr lvl="1"/>
            <a:r>
              <a:rPr lang="en-US" dirty="0"/>
              <a:t>L2: Based on “best” path to destination’s Ethernet address</a:t>
            </a:r>
            <a:endParaRPr dirty="0"/>
          </a:p>
          <a:p>
            <a:pPr lvl="1"/>
            <a:r>
              <a:rPr lang="en-US" dirty="0"/>
              <a:t>L3: Based on ”best” path to destination’s IP address</a:t>
            </a:r>
            <a:endParaRPr dirty="0"/>
          </a:p>
          <a:p>
            <a:r>
              <a:rPr dirty="0"/>
              <a:t>Scope: </a:t>
            </a:r>
            <a:r>
              <a:rPr lang="en-US" dirty="0"/>
              <a:t>I</a:t>
            </a:r>
            <a:r>
              <a:rPr dirty="0"/>
              <a:t>ntradomain routing</a:t>
            </a:r>
          </a:p>
          <a:p>
            <a:pPr lvl="1"/>
            <a:r>
              <a:rPr dirty="0"/>
              <a:t>Works within a single routing domain</a:t>
            </a:r>
            <a:r>
              <a:rPr lang="en-US" dirty="0"/>
              <a:t> (ISP backbone, enterprise network)</a:t>
            </a:r>
            <a:endParaRPr dirty="0"/>
          </a:p>
          <a:p>
            <a:pPr lvl="1"/>
            <a:r>
              <a:rPr lang="en-US" dirty="0"/>
              <a:t>Scales to hundreds of </a:t>
            </a:r>
            <a:r>
              <a:rPr dirty="0"/>
              <a:t>switches</a:t>
            </a:r>
          </a:p>
          <a:p>
            <a:pPr lvl="1"/>
            <a:r>
              <a:rPr lang="en-US" dirty="0"/>
              <a:t>Will look at interdomain routing later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334A4-FD45-5498-FB50-7008C4C8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as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40" y="1260809"/>
            <a:ext cx="6339960" cy="4351320"/>
          </a:xfrm>
        </p:spPr>
        <p:txBody>
          <a:bodyPr>
            <a:normAutofit/>
          </a:bodyPr>
          <a:lstStyle/>
          <a:p>
            <a:r>
              <a:rPr sz="2400" dirty="0"/>
              <a:t>Nodes: hosts, switches, routers, networks</a:t>
            </a:r>
          </a:p>
          <a:p>
            <a:r>
              <a:rPr sz="2400" dirty="0"/>
              <a:t>Edges: links, each with a cost</a:t>
            </a:r>
          </a:p>
          <a:p>
            <a:r>
              <a:rPr sz="2400" dirty="0"/>
              <a:t>Goal: lowest-cost path between any two nodes</a:t>
            </a:r>
          </a:p>
          <a:p>
            <a:r>
              <a:rPr sz="2400" dirty="0"/>
              <a:t>Why not just precompute static routes?</a:t>
            </a:r>
          </a:p>
          <a:p>
            <a:pPr lvl="1"/>
            <a:r>
              <a:rPr sz="2000" dirty="0"/>
              <a:t>Doesn't handle failures</a:t>
            </a:r>
          </a:p>
          <a:p>
            <a:pPr lvl="1"/>
            <a:r>
              <a:rPr sz="2000" dirty="0"/>
              <a:t>Doesn't handle new nodes or links</a:t>
            </a:r>
          </a:p>
          <a:p>
            <a:pPr lvl="1"/>
            <a:r>
              <a:rPr sz="2000" dirty="0"/>
              <a:t>Costs may change over time</a:t>
            </a:r>
          </a:p>
        </p:txBody>
      </p:sp>
      <p:pic>
        <p:nvPicPr>
          <p:cNvPr id="4" name="Picture 3" descr="f03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699" y="3090526"/>
            <a:ext cx="5489101" cy="252160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6D361-5E1D-07CB-98D5-E1198756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Spanning Tree</a:t>
            </a:r>
            <a:r>
              <a:rPr lang="en-US" dirty="0"/>
              <a:t> Protocol</a:t>
            </a:r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34F01-1A7E-EFF4-DB1B-5A4A60B2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Ethernet </a:t>
            </a:r>
            <a:r>
              <a:rPr lang="en-US" dirty="0"/>
              <a:t>Basic</a:t>
            </a:r>
            <a:r>
              <a:rPr dirty="0"/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517000" cy="4726136"/>
          </a:xfrm>
        </p:spPr>
        <p:txBody>
          <a:bodyPr>
            <a:normAutofit/>
          </a:bodyPr>
          <a:lstStyle/>
          <a:p>
            <a:r>
              <a:rPr lang="en-US" sz="2400" dirty="0"/>
              <a:t>Simple b</a:t>
            </a:r>
            <a:r>
              <a:rPr sz="2400" dirty="0"/>
              <a:t>ridges </a:t>
            </a:r>
            <a:r>
              <a:rPr lang="en-US" sz="2400" dirty="0"/>
              <a:t>(L2 switches) </a:t>
            </a:r>
          </a:p>
          <a:p>
            <a:pPr lvl="1"/>
            <a:r>
              <a:rPr lang="en-US" sz="2000" dirty="0"/>
              <a:t>Forward onto all outgoing ports</a:t>
            </a:r>
          </a:p>
          <a:p>
            <a:r>
              <a:rPr lang="en-US" sz="2400" dirty="0"/>
              <a:t>Learning bridges </a:t>
            </a:r>
          </a:p>
          <a:p>
            <a:pPr lvl="1"/>
            <a:r>
              <a:rPr lang="en-US" sz="2000" dirty="0"/>
              <a:t>Record (input port / source </a:t>
            </a:r>
            <a:r>
              <a:rPr lang="en-US" sz="2000" dirty="0" err="1"/>
              <a:t>addr</a:t>
            </a:r>
            <a:r>
              <a:rPr lang="en-US" sz="2000" dirty="0"/>
              <a:t>) pairs</a:t>
            </a:r>
          </a:p>
          <a:p>
            <a:pPr lvl="1"/>
            <a:r>
              <a:rPr lang="en-US" sz="2000" dirty="0"/>
              <a:t>Use for future destination </a:t>
            </a:r>
            <a:r>
              <a:rPr lang="en-US" sz="2000" dirty="0" err="1"/>
              <a:t>addr</a:t>
            </a:r>
            <a:endParaRPr lang="en-US" sz="2000" dirty="0"/>
          </a:p>
          <a:p>
            <a:pPr lvl="1"/>
            <a:r>
              <a:rPr lang="en-US" sz="2000" dirty="0"/>
              <a:t>Discard pair if not refreshed</a:t>
            </a:r>
          </a:p>
          <a:p>
            <a:r>
              <a:rPr sz="2400" dirty="0"/>
              <a:t>Loops </a:t>
            </a:r>
            <a:r>
              <a:rPr lang="en-US" sz="2400" dirty="0"/>
              <a:t>are possible</a:t>
            </a:r>
            <a:endParaRPr sz="2400" dirty="0"/>
          </a:p>
          <a:p>
            <a:pPr lvl="1"/>
            <a:r>
              <a:rPr sz="2000" dirty="0"/>
              <a:t>Ethernet has no TTL to stop them</a:t>
            </a:r>
          </a:p>
          <a:p>
            <a:r>
              <a:rPr sz="2400" dirty="0"/>
              <a:t>Why loops happen</a:t>
            </a:r>
          </a:p>
          <a:p>
            <a:pPr lvl="1"/>
            <a:r>
              <a:rPr sz="2000" dirty="0"/>
              <a:t>Multiple administrators, accidental redundancy</a:t>
            </a:r>
          </a:p>
          <a:p>
            <a:pPr lvl="1"/>
            <a:r>
              <a:rPr sz="2000" dirty="0"/>
              <a:t>Intentional redundancy for failure recovery</a:t>
            </a:r>
          </a:p>
        </p:txBody>
      </p:sp>
      <p:pic>
        <p:nvPicPr>
          <p:cNvPr id="4" name="Picture 3" descr="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33" y="1306722"/>
            <a:ext cx="5020587" cy="345958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C11C4-36AA-3DEC-0C16-23F88A71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rPr dirty="0"/>
              <a:t>Spanning </a:t>
            </a:r>
            <a:r>
              <a:rPr lang="en-US" dirty="0"/>
              <a:t>T</a:t>
            </a:r>
            <a:r>
              <a:rPr dirty="0"/>
              <a:t>ree</a:t>
            </a:r>
            <a:endParaRPr lang="en-US" dirty="0"/>
          </a:p>
          <a:p>
            <a:pPr lvl="1"/>
            <a:r>
              <a:rPr lang="en-US" dirty="0"/>
              <a:t>Subgraph with </a:t>
            </a:r>
            <a:r>
              <a:rPr dirty="0"/>
              <a:t>no cycles</a:t>
            </a:r>
            <a:endParaRPr lang="en-US" dirty="0"/>
          </a:p>
          <a:p>
            <a:pPr lvl="1"/>
            <a:r>
              <a:rPr lang="en-US" dirty="0"/>
              <a:t>Forward packets “down” the tree</a:t>
            </a:r>
            <a:endParaRPr dirty="0"/>
          </a:p>
          <a:p>
            <a:r>
              <a:rPr lang="en-US" dirty="0"/>
              <a:t>Challenge</a:t>
            </a:r>
          </a:p>
          <a:p>
            <a:pPr lvl="1"/>
            <a:r>
              <a:rPr dirty="0"/>
              <a:t>M</a:t>
            </a:r>
            <a:r>
              <a:rPr lang="en-US" dirty="0"/>
              <a:t>ultiple</a:t>
            </a:r>
            <a:r>
              <a:rPr dirty="0"/>
              <a:t> spanning trees </a:t>
            </a:r>
            <a:r>
              <a:rPr lang="en-US" dirty="0"/>
              <a:t>possible</a:t>
            </a:r>
          </a:p>
          <a:p>
            <a:pPr lvl="1"/>
            <a:r>
              <a:rPr lang="en-US" dirty="0"/>
              <a:t>Reach agreement </a:t>
            </a:r>
            <a:r>
              <a:rPr dirty="0"/>
              <a:t>on a single tre</a:t>
            </a:r>
            <a:r>
              <a:rPr lang="en-US" dirty="0"/>
              <a:t>e</a:t>
            </a:r>
          </a:p>
        </p:txBody>
      </p:sp>
      <p:pic>
        <p:nvPicPr>
          <p:cNvPr id="4" name="Picture 3" descr="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560" y="1476360"/>
            <a:ext cx="5867347" cy="26335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3E926-B29B-CF46-7633-E7397DE2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Spanning Tree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Distributed Algorithm</a:t>
            </a:r>
          </a:p>
          <a:p>
            <a:pPr lvl="1"/>
            <a:r>
              <a:rPr dirty="0"/>
              <a:t>Developed by Radia Perlman</a:t>
            </a:r>
            <a:endParaRPr lang="en-US" dirty="0"/>
          </a:p>
          <a:p>
            <a:pPr lvl="1"/>
            <a:r>
              <a:rPr lang="en-US" dirty="0"/>
              <a:t>B</a:t>
            </a:r>
            <a:r>
              <a:rPr dirty="0"/>
              <a:t>asis for IEEE 802.1</a:t>
            </a:r>
          </a:p>
          <a:p>
            <a:r>
              <a:rPr dirty="0"/>
              <a:t>Each switch has a unique ID</a:t>
            </a:r>
          </a:p>
          <a:p>
            <a:r>
              <a:rPr dirty="0"/>
              <a:t>Elect a root switch</a:t>
            </a:r>
          </a:p>
          <a:p>
            <a:pPr lvl="1"/>
            <a:r>
              <a:rPr dirty="0"/>
              <a:t>Smallest ID wins</a:t>
            </a:r>
          </a:p>
          <a:p>
            <a:r>
              <a:rPr dirty="0"/>
              <a:t>Elect a designated switch per link</a:t>
            </a:r>
          </a:p>
          <a:p>
            <a:pPr lvl="1"/>
            <a:r>
              <a:rPr dirty="0"/>
              <a:t>Closest to root</a:t>
            </a:r>
            <a:endParaRPr lang="en-US" dirty="0"/>
          </a:p>
          <a:p>
            <a:pPr lvl="1"/>
            <a:r>
              <a:rPr dirty="0"/>
              <a:t>ID breaks ties</a:t>
            </a:r>
          </a:p>
          <a:p>
            <a:r>
              <a:rPr dirty="0"/>
              <a:t>Dynamic</a:t>
            </a:r>
            <a:r>
              <a:t>: </a:t>
            </a:r>
            <a:r>
              <a:rPr lang="en-US"/>
              <a:t>R</a:t>
            </a:r>
            <a:r>
              <a:t>econfigures </a:t>
            </a:r>
            <a:r>
              <a:rPr dirty="0"/>
              <a:t>on failure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AD666-353E-501C-6FD6-1DC0870D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Tree</a:t>
            </a:r>
          </a:p>
        </p:txBody>
      </p:sp>
      <p:pic>
        <p:nvPicPr>
          <p:cNvPr id="4" name="Picture 3" descr="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320" y="1676837"/>
            <a:ext cx="5181480" cy="361336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210" y="1476360"/>
            <a:ext cx="6374250" cy="4351320"/>
          </a:xfrm>
        </p:spPr>
        <p:txBody>
          <a:bodyPr>
            <a:normAutofit/>
          </a:bodyPr>
          <a:lstStyle/>
          <a:p>
            <a:r>
              <a:rPr sz="2400" dirty="0"/>
              <a:t>Configuration message</a:t>
            </a:r>
            <a:endParaRPr lang="en-US" sz="2400" dirty="0"/>
          </a:p>
          <a:p>
            <a:pPr lvl="1"/>
            <a:r>
              <a:rPr sz="2000" dirty="0"/>
              <a:t>(root ID, distance, switch ID)</a:t>
            </a:r>
          </a:p>
          <a:p>
            <a:r>
              <a:rPr sz="2400" dirty="0"/>
              <a:t>Switch adopts a message if it's "better"</a:t>
            </a:r>
          </a:p>
          <a:p>
            <a:pPr lvl="1"/>
            <a:r>
              <a:rPr sz="2000" dirty="0"/>
              <a:t>Smaller root ID</a:t>
            </a:r>
            <a:endParaRPr lang="en-US" sz="2000" dirty="0"/>
          </a:p>
          <a:p>
            <a:pPr lvl="1"/>
            <a:r>
              <a:rPr lang="en-US" sz="2000" dirty="0"/>
              <a:t>O</a:t>
            </a:r>
            <a:r>
              <a:rPr sz="2000" dirty="0"/>
              <a:t>r shorter distance</a:t>
            </a:r>
            <a:endParaRPr lang="en-US" sz="2000" dirty="0"/>
          </a:p>
          <a:p>
            <a:pPr lvl="1"/>
            <a:r>
              <a:rPr lang="en-US" sz="2000" dirty="0"/>
              <a:t>O</a:t>
            </a:r>
            <a:r>
              <a:rPr sz="2000" dirty="0"/>
              <a:t>r smaller switch ID</a:t>
            </a:r>
          </a:p>
          <a:p>
            <a:r>
              <a:rPr sz="2400" dirty="0"/>
              <a:t>Only root and designated switches keep sending</a:t>
            </a:r>
          </a:p>
          <a:p>
            <a:r>
              <a:rPr sz="2400" dirty="0"/>
              <a:t>Stabilizes into a single loop-free tree</a:t>
            </a:r>
            <a:endParaRPr lang="en-US" sz="2400" dirty="0"/>
          </a:p>
          <a:p>
            <a:r>
              <a:rPr lang="en-US" sz="2400" dirty="0"/>
              <a:t>Failure causes switches to start over</a:t>
            </a:r>
            <a:endParaRPr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B21BE-7C4F-0B23-3B9E-31D508D4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Link-State Routing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8C955-F692-F3E9-CB35-0FB6CB05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Widely used among service providers</a:t>
            </a:r>
            <a:r>
              <a:rPr lang="en-US" dirty="0"/>
              <a:t> and enterprises</a:t>
            </a:r>
            <a:endParaRPr dirty="0"/>
          </a:p>
          <a:p>
            <a:r>
              <a:rPr dirty="0"/>
              <a:t>Every node learns the state of its own links</a:t>
            </a:r>
          </a:p>
          <a:p>
            <a:r>
              <a:rPr dirty="0"/>
              <a:t>Two mechanisms</a:t>
            </a:r>
          </a:p>
          <a:p>
            <a:pPr lvl="1"/>
            <a:r>
              <a:rPr dirty="0"/>
              <a:t>Reliable dissemination of link-state info</a:t>
            </a:r>
          </a:p>
          <a:p>
            <a:pPr lvl="1"/>
            <a:r>
              <a:rPr dirty="0"/>
              <a:t>Shortest-path calculation from that info</a:t>
            </a:r>
          </a:p>
          <a:p>
            <a:r>
              <a:rPr dirty="0"/>
              <a:t>Converge</a:t>
            </a:r>
            <a:r>
              <a:rPr lang="en-US" dirty="0"/>
              <a:t>s when </a:t>
            </a:r>
            <a:r>
              <a:rPr lang="en-US" dirty="0" err="1"/>
              <a:t>a</a:t>
            </a:r>
            <a:r>
              <a:rPr dirty="0" err="1"/>
              <a:t>all</a:t>
            </a:r>
            <a:r>
              <a:rPr dirty="0"/>
              <a:t> nodes share a common 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8D7DB-A139-E0DC-036D-E372518B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Flooding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Link-State Packet (LSP) contents</a:t>
            </a:r>
          </a:p>
          <a:p>
            <a:pPr lvl="1"/>
            <a:r>
              <a:t>Node ID</a:t>
            </a:r>
          </a:p>
          <a:p>
            <a:pPr lvl="1"/>
            <a:r>
              <a:t>List of neighbors and link costs</a:t>
            </a:r>
          </a:p>
          <a:p>
            <a:pPr lvl="1"/>
            <a:r>
              <a:t>Sequence number</a:t>
            </a:r>
          </a:p>
          <a:p>
            <a:pPr lvl="1"/>
            <a:r>
              <a:t>Time to live</a:t>
            </a:r>
          </a:p>
          <a:p>
            <a:r>
              <a:t>Forward new LSPs to all neighbors but one</a:t>
            </a:r>
          </a:p>
          <a:p>
            <a:pPr lvl="1"/>
            <a:r>
              <a:t>Not back to the sender</a:t>
            </a:r>
          </a:p>
          <a:p>
            <a:r>
              <a:t>Sequence numbers and TTL prevent stale or looping LSPs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57B6F-F96C-35C2-DF61-1C0D8B1D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t>LSP arrives at node X</a:t>
            </a:r>
          </a:p>
          <a:p>
            <a:r>
              <a:t>X floods to neighbors A and C</a:t>
            </a:r>
          </a:p>
          <a:p>
            <a:r>
              <a:t>A and C flood onward, but not back to X</a:t>
            </a:r>
          </a:p>
          <a:p>
            <a:r>
              <a:t>Duplicate copies are recognized and dropped</a:t>
            </a:r>
          </a:p>
        </p:txBody>
      </p:sp>
      <p:pic>
        <p:nvPicPr>
          <p:cNvPr id="4" name="Picture 3" descr="f03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26674"/>
            <a:ext cx="5181480" cy="28506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FEA3E-2F7E-89D6-53D1-381D32FC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Search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1540" y="1936224"/>
            <a:ext cx="9258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Lucida Console"/>
              </a:rPr>
              <a:t>Confirmed = { (self, 0, -) }</a:t>
            </a:r>
            <a:endParaRPr lang="en-US" sz="1600" dirty="0">
              <a:latin typeface="Lucida Console"/>
            </a:endParaRPr>
          </a:p>
          <a:p>
            <a:r>
              <a:rPr lang="en-US" sz="1600" dirty="0">
                <a:latin typeface="Lucida Console"/>
              </a:rPr>
              <a:t>Tentative = {}</a:t>
            </a:r>
            <a:endParaRPr sz="1600" dirty="0">
              <a:latin typeface="Lucida Console"/>
            </a:endParaRPr>
          </a:p>
          <a:p>
            <a:r>
              <a:rPr sz="1600" dirty="0">
                <a:latin typeface="Lucida Console"/>
              </a:rPr>
              <a:t> </a:t>
            </a:r>
          </a:p>
          <a:p>
            <a:r>
              <a:rPr sz="1600" dirty="0">
                <a:latin typeface="Lucida Console"/>
              </a:rPr>
              <a:t>loop:</a:t>
            </a:r>
          </a:p>
          <a:p>
            <a:r>
              <a:rPr sz="1600" dirty="0">
                <a:latin typeface="Lucida Console"/>
              </a:rPr>
              <a:t>    Next = node just added to Confirmed</a:t>
            </a:r>
          </a:p>
          <a:p>
            <a:r>
              <a:rPr sz="1600" dirty="0">
                <a:latin typeface="Lucida Console"/>
              </a:rPr>
              <a:t>    for each Neighbor of Next (from Next's LSP):</a:t>
            </a:r>
          </a:p>
          <a:p>
            <a:r>
              <a:rPr sz="1600" dirty="0">
                <a:latin typeface="Lucida Console"/>
              </a:rPr>
              <a:t>        Cost = cost(self, Next) + cost(Next, Neighbor)</a:t>
            </a:r>
          </a:p>
          <a:p>
            <a:r>
              <a:rPr sz="1600" dirty="0">
                <a:latin typeface="Lucida Console"/>
              </a:rPr>
              <a:t>        if Neighbor not in Confirmed or Tentative:</a:t>
            </a:r>
          </a:p>
          <a:p>
            <a:r>
              <a:rPr sz="1600" dirty="0">
                <a:latin typeface="Lucida Console"/>
              </a:rPr>
              <a:t>            add (Neighbor, Cost, </a:t>
            </a:r>
            <a:r>
              <a:rPr sz="1600" dirty="0" err="1">
                <a:latin typeface="Lucida Console"/>
              </a:rPr>
              <a:t>NextHop</a:t>
            </a:r>
            <a:r>
              <a:rPr sz="1600" dirty="0">
                <a:latin typeface="Lucida Console"/>
              </a:rPr>
              <a:t>) to Tentative</a:t>
            </a:r>
          </a:p>
          <a:p>
            <a:r>
              <a:rPr sz="1600" dirty="0">
                <a:latin typeface="Lucida Console"/>
              </a:rPr>
              <a:t>        el</a:t>
            </a:r>
            <a:r>
              <a:rPr lang="en-US" sz="1600" dirty="0">
                <a:latin typeface="Lucida Console"/>
              </a:rPr>
              <a:t>se</a:t>
            </a:r>
            <a:r>
              <a:rPr sz="1600" dirty="0">
                <a:latin typeface="Lucida Console"/>
              </a:rPr>
              <a:t>if Neighbor in Tentative and Cost &lt; its current cost:</a:t>
            </a:r>
          </a:p>
          <a:p>
            <a:r>
              <a:rPr sz="1600" dirty="0">
                <a:latin typeface="Lucida Console"/>
              </a:rPr>
              <a:t>            replace with (Neighbor, Cost, </a:t>
            </a:r>
            <a:r>
              <a:rPr sz="1600" dirty="0" err="1">
                <a:latin typeface="Lucida Console"/>
              </a:rPr>
              <a:t>NextHop</a:t>
            </a:r>
            <a:r>
              <a:rPr sz="1600" dirty="0">
                <a:latin typeface="Lucida Console"/>
              </a:rPr>
              <a:t>)</a:t>
            </a:r>
          </a:p>
          <a:p>
            <a:r>
              <a:rPr sz="1600" dirty="0">
                <a:latin typeface="Lucida Console"/>
              </a:rPr>
              <a:t> </a:t>
            </a:r>
          </a:p>
          <a:p>
            <a:r>
              <a:rPr sz="1600" dirty="0">
                <a:latin typeface="Lucida Console"/>
              </a:rPr>
              <a:t>    if Tentative is empty:</a:t>
            </a:r>
          </a:p>
          <a:p>
            <a:r>
              <a:rPr sz="1600" dirty="0">
                <a:latin typeface="Lucida Console"/>
              </a:rPr>
              <a:t>        stop</a:t>
            </a:r>
          </a:p>
          <a:p>
            <a:r>
              <a:rPr sz="1600" dirty="0">
                <a:latin typeface="Lucida Console"/>
              </a:rPr>
              <a:t>    move lowest-cost Tentative entry to Confirmed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ED0E66-01BB-3A76-DB20-C8B674C55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605"/>
            <a:ext cx="10515600" cy="577755"/>
          </a:xfrm>
        </p:spPr>
        <p:txBody>
          <a:bodyPr/>
          <a:lstStyle/>
          <a:p>
            <a:r>
              <a:rPr lang="en-US" dirty="0"/>
              <a:t>Variant of Dijkstra’s Shortest-Path Algorithm</a:t>
            </a:r>
            <a:endParaRPr dirty="0"/>
          </a:p>
        </p:txBody>
      </p:sp>
      <p:pic>
        <p:nvPicPr>
          <p:cNvPr id="8" name="Picture 7" descr="f03-33.png">
            <a:extLst>
              <a:ext uri="{FF2B5EF4-FFF2-40B4-BE49-F238E27FC236}">
                <a16:creationId xmlns:a16="http://schemas.microsoft.com/office/drawing/2014/main" id="{9BA2AF7B-777C-6DA8-CC4A-10CEEB2A1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04172"/>
            <a:ext cx="3741299" cy="19597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D7F5D-F3C8-2499-B1B5-98EA58C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Node D's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t>Confirmed list starts with D alone, at cost 0</a:t>
            </a:r>
          </a:p>
          <a:p>
            <a:r>
              <a:t>Lowest-cost tentative entry moves to Confirmed each round</a:t>
            </a:r>
          </a:p>
          <a:p>
            <a:pPr lvl="1"/>
            <a:r>
              <a:t>Its LSP may reveal cheaper paths to others</a:t>
            </a:r>
          </a:p>
          <a:p>
            <a:r>
              <a:t>Early guess of cost 11 to B is later replaced by cost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476360"/>
          <a:ext cx="5181480" cy="4639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Tentative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(B,11,B) (C,2,C)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 (C,2,C)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(B,11,B)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 (C,2,C)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(B,5,C) (A,12,C)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 (C,2,C) (B,5,C)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(A,12,C)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 (C,2,C) (B,5,C)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(A,10,C)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(D,0,–) (C,2,C) (B,5,C) (A,10,C)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0378-FBF7-D980-F64D-FBA37A53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Open Shortest Path First</a:t>
            </a:r>
            <a:endParaRPr lang="en-US" dirty="0"/>
          </a:p>
          <a:p>
            <a:pPr lvl="1"/>
            <a:r>
              <a:rPr lang="en-US" dirty="0"/>
              <a:t>Version 2 defined in RFC 2328 (most widely used)</a:t>
            </a:r>
          </a:p>
          <a:p>
            <a:pPr lvl="1"/>
            <a:r>
              <a:rPr lang="en-US" dirty="0"/>
              <a:t>Version 3 adds IPv6 support (RFC 5340)</a:t>
            </a:r>
          </a:p>
          <a:p>
            <a:pPr lvl="1"/>
            <a:r>
              <a:rPr dirty="0"/>
              <a:t>IS-IS</a:t>
            </a:r>
            <a:r>
              <a:rPr lang="en-US" dirty="0"/>
              <a:t> (Intermediate System to Intermediate System) is another option</a:t>
            </a:r>
            <a:endParaRPr dirty="0"/>
          </a:p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Supports </a:t>
            </a:r>
            <a:r>
              <a:rPr dirty="0"/>
              <a:t>balanc</a:t>
            </a:r>
            <a:r>
              <a:rPr lang="en-US" dirty="0"/>
              <a:t>es</a:t>
            </a:r>
            <a:r>
              <a:rPr dirty="0"/>
              <a:t> across equal-cost routes</a:t>
            </a:r>
            <a:endParaRPr lang="en-US" dirty="0"/>
          </a:p>
          <a:p>
            <a:pPr lvl="1"/>
            <a:r>
              <a:rPr lang="en-US" dirty="0"/>
              <a:t>Adds another level of hierarchy (areas)</a:t>
            </a:r>
          </a:p>
          <a:p>
            <a:pPr lvl="1"/>
            <a:r>
              <a:rPr lang="en-US" dirty="0"/>
              <a:t>Supports authentication of update messages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89465-BD52-A236-B057-FCD807BC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780" y="1259190"/>
            <a:ext cx="4819770" cy="898592"/>
          </a:xfrm>
        </p:spPr>
        <p:txBody>
          <a:bodyPr>
            <a:normAutofit/>
          </a:bodyPr>
          <a:lstStyle/>
          <a:p>
            <a:r>
              <a:rPr dirty="0"/>
              <a:t>Common header for all</a:t>
            </a:r>
            <a:r>
              <a:rPr lang="en-US" dirty="0"/>
              <a:t> </a:t>
            </a:r>
            <a:r>
              <a:rPr dirty="0"/>
              <a:t>message type</a:t>
            </a:r>
            <a:r>
              <a:rPr lang="en-US" dirty="0"/>
              <a:t>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f03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0" y="2224081"/>
            <a:ext cx="4712850" cy="28769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27680A-5C11-8174-535D-681E5ABD653E}"/>
              </a:ext>
            </a:extLst>
          </p:cNvPr>
          <p:cNvSpPr txBox="1">
            <a:spLocks/>
          </p:cNvSpPr>
          <p:nvPr/>
        </p:nvSpPr>
        <p:spPr>
          <a:xfrm>
            <a:off x="6374010" y="1251570"/>
            <a:ext cx="4819770" cy="89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Link-State Advertisement (Type=1)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f03-35.png">
            <a:extLst>
              <a:ext uri="{FF2B5EF4-FFF2-40B4-BE49-F238E27FC236}">
                <a16:creationId xmlns:a16="http://schemas.microsoft.com/office/drawing/2014/main" id="{D0B08AF8-15DF-3EB8-23AB-93877F24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2486971"/>
            <a:ext cx="5181480" cy="356989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C4FE9E-AF8D-D8CB-1EAA-F7C7578E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Distance-Vector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6E09E-A93E-8BB3-B0D8-D552789E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t>Also known as Bellman-Ford</a:t>
            </a:r>
          </a:p>
          <a:p>
            <a:r>
              <a:t>Each node keeps a vector of costs to all destinations</a:t>
            </a:r>
          </a:p>
          <a:p>
            <a:r>
              <a:t>Shares that vector with direct neighbors only</a:t>
            </a:r>
          </a:p>
          <a:p>
            <a:r>
              <a:t>No node ever sees the whole topology</a:t>
            </a:r>
          </a:p>
        </p:txBody>
      </p:sp>
      <p:pic>
        <p:nvPicPr>
          <p:cNvPr id="4" name="Picture 3" descr="f03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839"/>
            <a:ext cx="5181480" cy="273036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1FED-95DA-DAA2-8629-FB1258E5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Distances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80" y="1548360"/>
          <a:ext cx="10515600" cy="43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39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3A49F-614C-FE1D-A7B7-2CDCBC7B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A's Initial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rPr dirty="0"/>
              <a:t>A's row from the distance table</a:t>
            </a:r>
            <a:endParaRPr lang="en-US" dirty="0"/>
          </a:p>
          <a:p>
            <a:pPr lvl="1"/>
            <a:r>
              <a:rPr lang="en-US" dirty="0"/>
              <a:t>viewed</a:t>
            </a:r>
            <a:r>
              <a:rPr dirty="0"/>
              <a:t> as a routing table</a:t>
            </a:r>
          </a:p>
          <a:p>
            <a:r>
              <a:rPr dirty="0" err="1"/>
              <a:t>NextHop</a:t>
            </a:r>
            <a:r>
              <a:rPr dirty="0"/>
              <a:t> for a direct neighbor is that neighbor itself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476360"/>
          <a:ext cx="5181480" cy="43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NextHop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618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C8381-6B8A-1D9C-06BD-1610F7AE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A's Updated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t>F advertises reaching G at cost 1</a:t>
            </a:r>
          </a:p>
          <a:p>
            <a:pPr lvl="1"/>
            <a:r>
              <a:t>A adds its own cost to F (1): reaches G at cost 2</a:t>
            </a:r>
          </a:p>
          <a:p>
            <a:r>
              <a:t>C advertises reaching D at cost 1</a:t>
            </a:r>
          </a:p>
          <a:p>
            <a:pPr lvl="1"/>
            <a:r>
              <a:t>A adds its own cost to C (1): reaches D at cost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476360"/>
          <a:ext cx="5181480" cy="43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NextHop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617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618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37315-AD3A-9131-24CA-5B5357CE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Distances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80" y="1548360"/>
          <a:ext cx="10515600" cy="43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39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91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97BC2-80D1-76E9-F46A-AFAF58DE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Updates sent periodically and </a:t>
            </a:r>
            <a:r>
              <a:rPr lang="en-US" dirty="0"/>
              <a:t>whenever</a:t>
            </a:r>
            <a:r>
              <a:rPr dirty="0"/>
              <a:t> topology change</a:t>
            </a:r>
            <a:r>
              <a:rPr lang="en-US" dirty="0"/>
              <a:t>s</a:t>
            </a:r>
            <a:endParaRPr dirty="0"/>
          </a:p>
          <a:p>
            <a:r>
              <a:rPr lang="en-US" dirty="0"/>
              <a:t>If a n</a:t>
            </a:r>
            <a:r>
              <a:rPr dirty="0"/>
              <a:t>eighbor advertises a shorter path</a:t>
            </a:r>
          </a:p>
          <a:p>
            <a:pPr lvl="1"/>
            <a:r>
              <a:rPr dirty="0"/>
              <a:t>Node adopts it and re-advertises</a:t>
            </a:r>
          </a:p>
          <a:p>
            <a:r>
              <a:rPr dirty="0"/>
              <a:t>Ripples through the network until stable</a:t>
            </a:r>
            <a:endParaRPr lang="en-US" dirty="0"/>
          </a:p>
          <a:p>
            <a:r>
              <a:rPr lang="en-US" dirty="0"/>
              <a:t>Link failure can cause routes to inflate indefinitely</a:t>
            </a:r>
          </a:p>
          <a:p>
            <a:pPr lvl="1"/>
            <a:r>
              <a:rPr lang="en-US" dirty="0"/>
              <a:t>Nodes keep "discovering" longer paths through each other</a:t>
            </a:r>
          </a:p>
          <a:p>
            <a:pPr lvl="1"/>
            <a:r>
              <a:rPr lang="en-US" dirty="0"/>
              <a:t>Stops once cost reaches an assumed “infinity” (e.g., 16 in RIP)</a:t>
            </a:r>
          </a:p>
          <a:p>
            <a:r>
              <a:rPr lang="en-US" dirty="0"/>
              <a:t>Avoiding Loops</a:t>
            </a:r>
          </a:p>
          <a:p>
            <a:pPr lvl="1"/>
            <a:r>
              <a:rPr lang="en-US" dirty="0"/>
              <a:t>Don't advertise a route back to where it came from</a:t>
            </a:r>
          </a:p>
          <a:p>
            <a:pPr lvl="1"/>
            <a:r>
              <a:rPr lang="en-US" dirty="0"/>
              <a:t>Poison reverse: Advertise it back, but with infinite cost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0B801-9D97-3DB5-108F-38EBA684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the Routing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130" y="1453500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Lucida Console"/>
              </a:rPr>
              <a:t>void</a:t>
            </a:r>
          </a:p>
          <a:p>
            <a:r>
              <a:rPr dirty="0" err="1">
                <a:latin typeface="Lucida Console"/>
              </a:rPr>
              <a:t>mergeRoute</a:t>
            </a:r>
            <a:r>
              <a:rPr dirty="0">
                <a:latin typeface="Lucida Console"/>
              </a:rPr>
              <a:t> (Route *new)</a:t>
            </a:r>
          </a:p>
          <a:p>
            <a:r>
              <a:rPr dirty="0">
                <a:latin typeface="Lucida Console"/>
              </a:rPr>
              <a:t>{</a:t>
            </a:r>
          </a:p>
          <a:p>
            <a:r>
              <a:rPr dirty="0">
                <a:latin typeface="Lucida Console"/>
              </a:rPr>
              <a:t>    for (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 = 0; 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 &lt; </a:t>
            </a:r>
            <a:r>
              <a:rPr dirty="0" err="1">
                <a:latin typeface="Lucida Console"/>
              </a:rPr>
              <a:t>numRoutes</a:t>
            </a:r>
            <a:r>
              <a:rPr dirty="0">
                <a:latin typeface="Lucida Console"/>
              </a:rPr>
              <a:t>; ++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) {</a:t>
            </a:r>
          </a:p>
          <a:p>
            <a:r>
              <a:rPr dirty="0">
                <a:latin typeface="Lucida Console"/>
              </a:rPr>
              <a:t>        if (new-&gt;Destination == 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].Destination) {</a:t>
            </a:r>
          </a:p>
          <a:p>
            <a:r>
              <a:rPr dirty="0">
                <a:latin typeface="Lucida Console"/>
              </a:rPr>
              <a:t>            if (new-&gt;Cost + 1 &lt; 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].Cost) break;</a:t>
            </a:r>
          </a:p>
          <a:p>
            <a:r>
              <a:rPr dirty="0">
                <a:latin typeface="Lucida Console"/>
              </a:rPr>
              <a:t>            else if (new-&gt;</a:t>
            </a:r>
            <a:r>
              <a:rPr dirty="0" err="1">
                <a:latin typeface="Lucida Console"/>
              </a:rPr>
              <a:t>NextHop</a:t>
            </a:r>
            <a:r>
              <a:rPr dirty="0">
                <a:latin typeface="Lucida Console"/>
              </a:rPr>
              <a:t> == 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].</a:t>
            </a:r>
            <a:r>
              <a:rPr dirty="0" err="1">
                <a:latin typeface="Lucida Console"/>
              </a:rPr>
              <a:t>NextHop</a:t>
            </a:r>
            <a:r>
              <a:rPr dirty="0">
                <a:latin typeface="Lucida Console"/>
              </a:rPr>
              <a:t>) break;</a:t>
            </a:r>
          </a:p>
          <a:p>
            <a:r>
              <a:rPr dirty="0">
                <a:latin typeface="Lucida Console"/>
              </a:rPr>
              <a:t>            else return;</a:t>
            </a:r>
          </a:p>
          <a:p>
            <a:r>
              <a:rPr dirty="0">
                <a:latin typeface="Lucida Console"/>
              </a:rPr>
              <a:t>        }</a:t>
            </a:r>
          </a:p>
          <a:p>
            <a:r>
              <a:rPr dirty="0">
                <a:latin typeface="Lucida Console"/>
              </a:rPr>
              <a:t>    }</a:t>
            </a:r>
          </a:p>
          <a:p>
            <a:r>
              <a:rPr dirty="0">
                <a:latin typeface="Lucida Console"/>
              </a:rPr>
              <a:t>    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 = *new;</a:t>
            </a:r>
          </a:p>
          <a:p>
            <a:r>
              <a:rPr dirty="0">
                <a:latin typeface="Lucida Console"/>
              </a:rPr>
              <a:t>    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].TTL = MAX_TTL;</a:t>
            </a:r>
          </a:p>
          <a:p>
            <a:r>
              <a:rPr dirty="0">
                <a:latin typeface="Lucida Console"/>
              </a:rPr>
              <a:t>    ++</a:t>
            </a:r>
            <a:r>
              <a:rPr dirty="0" err="1">
                <a:latin typeface="Lucida Console"/>
              </a:rPr>
              <a:t>routingTable</a:t>
            </a:r>
            <a:r>
              <a:rPr dirty="0">
                <a:latin typeface="Lucida Console"/>
              </a:rPr>
              <a:t>[</a:t>
            </a:r>
            <a:r>
              <a:rPr dirty="0" err="1">
                <a:latin typeface="Lucida Console"/>
              </a:rPr>
              <a:t>i</a:t>
            </a:r>
            <a:r>
              <a:rPr dirty="0">
                <a:latin typeface="Lucida Console"/>
              </a:rPr>
              <a:t>].Cost;</a:t>
            </a:r>
          </a:p>
          <a:p>
            <a:r>
              <a:rPr dirty="0">
                <a:latin typeface="Lucida Console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F8A88-EDDE-9C93-216C-72E8B8CE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t>Routing Information Protocol</a:t>
            </a:r>
          </a:p>
          <a:p>
            <a:r>
              <a:t>Distributed with BSD Unix; historically popular</a:t>
            </a:r>
          </a:p>
          <a:p>
            <a:r>
              <a:t>Advertises reachable networks, not just routers</a:t>
            </a:r>
          </a:p>
          <a:p>
            <a:r>
              <a:t>All link costs equal to 1</a:t>
            </a:r>
          </a:p>
          <a:p>
            <a:pPr lvl="1"/>
            <a:r>
              <a:t>Minimum-hop routing</a:t>
            </a:r>
          </a:p>
          <a:p>
            <a:r>
              <a:t>Infinity = 16</a:t>
            </a:r>
          </a:p>
          <a:p>
            <a:pPr lvl="1"/>
            <a:r>
              <a:t>Limits RIP to small networks</a:t>
            </a:r>
          </a:p>
        </p:txBody>
      </p:sp>
      <p:pic>
        <p:nvPicPr>
          <p:cNvPr id="4" name="Picture 3" descr="f03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046" y="1476360"/>
            <a:ext cx="3669787" cy="43513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9424B-D878-22B6-1AB1-C607FC8A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Datacenter Fabric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FA2B6-EC99-AED3-1D95-6712CB32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Software-Defined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20" y="1293480"/>
            <a:ext cx="6454260" cy="4351320"/>
          </a:xfrm>
        </p:spPr>
        <p:txBody>
          <a:bodyPr>
            <a:normAutofit/>
          </a:bodyPr>
          <a:lstStyle/>
          <a:p>
            <a:r>
              <a:rPr sz="2400" dirty="0"/>
              <a:t>Datacenters often use a centralized approach</a:t>
            </a:r>
          </a:p>
          <a:p>
            <a:r>
              <a:rPr sz="2400" dirty="0"/>
              <a:t>SDN separates control plane from data plane</a:t>
            </a:r>
          </a:p>
          <a:p>
            <a:pPr lvl="1"/>
            <a:r>
              <a:rPr sz="2000" dirty="0"/>
              <a:t>Standard interface between the two</a:t>
            </a:r>
          </a:p>
          <a:p>
            <a:r>
              <a:rPr sz="2400" dirty="0"/>
              <a:t>Network Operating System (NOS)</a:t>
            </a:r>
          </a:p>
          <a:p>
            <a:pPr lvl="1"/>
            <a:r>
              <a:rPr sz="2000" dirty="0"/>
              <a:t>Centralized point of control</a:t>
            </a:r>
          </a:p>
          <a:p>
            <a:pPr lvl="1"/>
            <a:r>
              <a:rPr sz="2000" dirty="0"/>
              <a:t>Platform for control applications</a:t>
            </a:r>
          </a:p>
          <a:p>
            <a:r>
              <a:rPr sz="2400" dirty="0"/>
              <a:t>Enables new routing algorithms</a:t>
            </a:r>
          </a:p>
          <a:p>
            <a:pPr lvl="1"/>
            <a:r>
              <a:rPr sz="2000" dirty="0"/>
              <a:t>e.g., Google B4, Microsoft SWAN</a:t>
            </a:r>
          </a:p>
        </p:txBody>
      </p:sp>
      <p:pic>
        <p:nvPicPr>
          <p:cNvPr id="4" name="Picture 3" descr="sd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320" y="2628900"/>
            <a:ext cx="6571360" cy="358928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0072-4ED6-7E02-B0B0-D545A9C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5107320"/>
          </a:xfrm>
        </p:spPr>
        <p:txBody>
          <a:bodyPr>
            <a:normAutofit/>
          </a:bodyPr>
          <a:lstStyle/>
          <a:p>
            <a:r>
              <a:rPr sz="2400" dirty="0"/>
              <a:t>Leaf-spine </a:t>
            </a:r>
            <a:r>
              <a:rPr lang="en-US" sz="2400" dirty="0"/>
              <a:t>F</a:t>
            </a:r>
            <a:r>
              <a:rPr sz="2400" dirty="0"/>
              <a:t>abric</a:t>
            </a:r>
            <a:endParaRPr lang="en-US" sz="2400" dirty="0"/>
          </a:p>
          <a:p>
            <a:r>
              <a:rPr lang="en-US" sz="2400" dirty="0"/>
              <a:t>E</a:t>
            </a:r>
            <a:r>
              <a:rPr sz="2400" dirty="0"/>
              <a:t>ach server dual-homed</a:t>
            </a:r>
          </a:p>
          <a:p>
            <a:r>
              <a:rPr sz="2400" dirty="0"/>
              <a:t>Link bonding</a:t>
            </a:r>
          </a:p>
          <a:p>
            <a:pPr lvl="1"/>
            <a:r>
              <a:rPr sz="2000" dirty="0"/>
              <a:t>OS-level aggregation on servers</a:t>
            </a:r>
          </a:p>
          <a:p>
            <a:r>
              <a:rPr sz="2400" dirty="0"/>
              <a:t>ECMP groups</a:t>
            </a:r>
          </a:p>
          <a:p>
            <a:pPr lvl="1"/>
            <a:r>
              <a:rPr sz="2000" dirty="0"/>
              <a:t>Switch-level aggregation across equal-cost paths</a:t>
            </a:r>
          </a:p>
          <a:p>
            <a:r>
              <a:rPr sz="2400" dirty="0"/>
              <a:t>Same flow kept on the same path</a:t>
            </a:r>
          </a:p>
          <a:p>
            <a:pPr lvl="1"/>
            <a:r>
              <a:rPr sz="2000" dirty="0"/>
              <a:t>Avoids reordering for protocols like TCP</a:t>
            </a:r>
          </a:p>
        </p:txBody>
      </p:sp>
      <p:pic>
        <p:nvPicPr>
          <p:cNvPr id="4" name="Picture 3" descr="e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684" y="1476360"/>
            <a:ext cx="5168511" cy="43513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00DCD-CC38-7291-829D-943E9748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770" y="1476359"/>
            <a:ext cx="5181480" cy="4351320"/>
          </a:xfrm>
        </p:spPr>
        <p:txBody>
          <a:bodyPr>
            <a:normAutofit/>
          </a:bodyPr>
          <a:lstStyle/>
          <a:p>
            <a:r>
              <a:rPr sz="2400" dirty="0"/>
              <a:t>End-to-end path built from a sequence of segments</a:t>
            </a:r>
          </a:p>
          <a:p>
            <a:r>
              <a:rPr lang="en-US" sz="2400" dirty="0"/>
              <a:t>T</a:t>
            </a:r>
            <a:r>
              <a:rPr sz="2400" dirty="0"/>
              <a:t>wo segments per path</a:t>
            </a:r>
          </a:p>
          <a:p>
            <a:pPr lvl="1"/>
            <a:r>
              <a:rPr sz="2000" dirty="0"/>
              <a:t>Leaf-to-spine, spine-to-leaf</a:t>
            </a:r>
          </a:p>
          <a:p>
            <a:r>
              <a:rPr sz="2400" dirty="0"/>
              <a:t>Segments identified by labels</a:t>
            </a:r>
          </a:p>
          <a:p>
            <a:r>
              <a:rPr sz="2400" dirty="0"/>
              <a:t>Centralized controller pre-computes paths</a:t>
            </a:r>
          </a:p>
        </p:txBody>
      </p:sp>
      <p:pic>
        <p:nvPicPr>
          <p:cNvPr id="4" name="Picture 3" descr="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180" y="1476359"/>
            <a:ext cx="5742500" cy="396404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4D6AC-EA40-81B3-0F97-1C6CE880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Switching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210" y="1213470"/>
            <a:ext cx="5181480" cy="1518300"/>
          </a:xfrm>
        </p:spPr>
        <p:txBody>
          <a:bodyPr>
            <a:normAutofit/>
          </a:bodyPr>
          <a:lstStyle/>
          <a:p>
            <a:r>
              <a:rPr lang="en-US" sz="2400" dirty="0"/>
              <a:t>MPLS</a:t>
            </a:r>
          </a:p>
          <a:p>
            <a:pPr lvl="1"/>
            <a:r>
              <a:rPr sz="2000" dirty="0"/>
              <a:t>20-bit label</a:t>
            </a:r>
            <a:r>
              <a:rPr lang="en-US" sz="2000" dirty="0"/>
              <a:t> (l</a:t>
            </a:r>
            <a:r>
              <a:rPr sz="2000" dirty="0"/>
              <a:t>ocally defined</a:t>
            </a:r>
            <a:r>
              <a:rPr lang="en-US" sz="2000" dirty="0"/>
              <a:t>)</a:t>
            </a:r>
            <a:endParaRPr sz="2000" dirty="0"/>
          </a:p>
          <a:p>
            <a:pPr lvl="1"/>
            <a:r>
              <a:rPr lang="en-US" sz="2000" dirty="0"/>
              <a:t>Labels can be stacked</a:t>
            </a:r>
          </a:p>
          <a:p>
            <a:pPr lvl="1"/>
            <a:r>
              <a:rPr sz="2000" dirty="0"/>
              <a:t>Push, </a:t>
            </a:r>
            <a:r>
              <a:rPr lang="en-US" sz="2000" dirty="0"/>
              <a:t>P</a:t>
            </a:r>
            <a:r>
              <a:rPr sz="2000" dirty="0"/>
              <a:t>op, and </a:t>
            </a:r>
            <a:r>
              <a:rPr lang="en-US" sz="2000" dirty="0"/>
              <a:t>S</a:t>
            </a:r>
            <a:r>
              <a:rPr sz="2000" dirty="0"/>
              <a:t>wap operations</a:t>
            </a:r>
          </a:p>
        </p:txBody>
      </p:sp>
      <p:pic>
        <p:nvPicPr>
          <p:cNvPr id="4" name="Picture 3" descr="mp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10" y="3245828"/>
            <a:ext cx="3905250" cy="17608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FB279-0A9F-D422-2BC2-9CC64B36FCC9}"/>
              </a:ext>
            </a:extLst>
          </p:cNvPr>
          <p:cNvSpPr txBox="1">
            <a:spLocks/>
          </p:cNvSpPr>
          <p:nvPr/>
        </p:nvSpPr>
        <p:spPr>
          <a:xfrm>
            <a:off x="6122550" y="1213470"/>
            <a:ext cx="5513190" cy="1518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SRv6</a:t>
            </a:r>
          </a:p>
          <a:p>
            <a:pPr lvl="1"/>
            <a:r>
              <a:rPr lang="en-US" sz="2000" dirty="0"/>
              <a:t>Extension Header to IPv6</a:t>
            </a:r>
          </a:p>
          <a:p>
            <a:pPr lvl="1"/>
            <a:r>
              <a:rPr lang="en-US" sz="2000" dirty="0"/>
              <a:t>List of 128-bit Segment IDs</a:t>
            </a:r>
          </a:p>
          <a:p>
            <a:pPr lvl="1"/>
            <a:r>
              <a:rPr lang="en-US" sz="2000" dirty="0"/>
              <a:t>Segments Left field marks current segment</a:t>
            </a:r>
          </a:p>
        </p:txBody>
      </p:sp>
      <p:pic>
        <p:nvPicPr>
          <p:cNvPr id="6" name="Picture 5" descr="srv6.png">
            <a:extLst>
              <a:ext uri="{FF2B5EF4-FFF2-40B4-BE49-F238E27FC236}">
                <a16:creationId xmlns:a16="http://schemas.microsoft.com/office/drawing/2014/main" id="{B78F311C-76DF-8DAD-1260-3E8C2892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2731770"/>
            <a:ext cx="4006352" cy="387397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069EDE-7C49-24A6-3350-A53EEC47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vs. Centralized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Distance-</a:t>
            </a:r>
            <a:r>
              <a:rPr lang="en-US" dirty="0"/>
              <a:t>V</a:t>
            </a:r>
            <a:r>
              <a:rPr dirty="0"/>
              <a:t>ector</a:t>
            </a:r>
            <a:endParaRPr lang="en-US" dirty="0"/>
          </a:p>
          <a:p>
            <a:pPr lvl="1"/>
            <a:r>
              <a:rPr lang="en-US" dirty="0"/>
              <a:t>T</a:t>
            </a:r>
            <a:r>
              <a:rPr dirty="0"/>
              <a:t>alk </a:t>
            </a:r>
            <a:r>
              <a:rPr lang="en-US" dirty="0"/>
              <a:t>only </a:t>
            </a:r>
            <a:r>
              <a:rPr dirty="0"/>
              <a:t>to neighbors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dirty="0"/>
              <a:t>hare everything you know</a:t>
            </a:r>
          </a:p>
          <a:p>
            <a:r>
              <a:rPr dirty="0"/>
              <a:t>Link-</a:t>
            </a:r>
            <a:r>
              <a:rPr lang="en-US" dirty="0"/>
              <a:t>S</a:t>
            </a:r>
            <a:r>
              <a:rPr dirty="0"/>
              <a:t>tate</a:t>
            </a:r>
            <a:endParaRPr lang="en-US" dirty="0"/>
          </a:p>
          <a:p>
            <a:pPr lvl="1"/>
            <a:r>
              <a:rPr lang="en-US" dirty="0"/>
              <a:t>T</a:t>
            </a:r>
            <a:r>
              <a:rPr dirty="0"/>
              <a:t>alk to everyone</a:t>
            </a:r>
            <a:r>
              <a:rPr lang="en-US" dirty="0"/>
              <a:t> (flood updates)</a:t>
            </a:r>
          </a:p>
          <a:p>
            <a:pPr lvl="1"/>
            <a:r>
              <a:rPr lang="en-US" dirty="0"/>
              <a:t>S</a:t>
            </a:r>
            <a:r>
              <a:rPr dirty="0"/>
              <a:t>hare only what you're sure of</a:t>
            </a:r>
            <a:r>
              <a:rPr lang="en-US" dirty="0"/>
              <a:t> (direct links)</a:t>
            </a:r>
            <a:endParaRPr dirty="0"/>
          </a:p>
          <a:p>
            <a:r>
              <a:rPr dirty="0"/>
              <a:t>Centralized (SDN)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Collect topology information centrally</a:t>
            </a:r>
          </a:p>
          <a:p>
            <a:pPr lvl="1"/>
            <a:r>
              <a:rPr lang="en-US" dirty="0"/>
              <a:t>Compute globally optimal routes</a:t>
            </a:r>
          </a:p>
          <a:p>
            <a:pPr lvl="1"/>
            <a:r>
              <a:rPr lang="en-US" dirty="0"/>
              <a:t>Distribute tables to switches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60EE5-E0A5-00ED-641C-8B6EA7BA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1795</Words>
  <Application>Microsoft Macintosh PowerPoint</Application>
  <PresentationFormat>Widescreen</PresentationFormat>
  <Paragraphs>452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Lucida Console</vt:lpstr>
      <vt:lpstr>System Font Regular</vt:lpstr>
      <vt:lpstr>Wingdings</vt:lpstr>
      <vt:lpstr>Office Theme</vt:lpstr>
      <vt:lpstr>Chapter 4: Routing</vt:lpstr>
      <vt:lpstr>Overview</vt:lpstr>
      <vt:lpstr>Routing vs Forwarding</vt:lpstr>
      <vt:lpstr>Network as a Graph</vt:lpstr>
      <vt:lpstr>Spanning Tree Protocol</vt:lpstr>
      <vt:lpstr>Ethernet Basics</vt:lpstr>
      <vt:lpstr>Spanning Trees</vt:lpstr>
      <vt:lpstr>Spanning Tree Protocol</vt:lpstr>
      <vt:lpstr>Building the Tree</vt:lpstr>
      <vt:lpstr>Link-State Routing</vt:lpstr>
      <vt:lpstr>Overview</vt:lpstr>
      <vt:lpstr>Reliable Flooding</vt:lpstr>
      <vt:lpstr>Flooding Example</vt:lpstr>
      <vt:lpstr>Forward Search Algorithm</vt:lpstr>
      <vt:lpstr>Building Node D's Table</vt:lpstr>
      <vt:lpstr>OSPF</vt:lpstr>
      <vt:lpstr>OSPF Header</vt:lpstr>
      <vt:lpstr>Distance-Vector</vt:lpstr>
      <vt:lpstr>Overview</vt:lpstr>
      <vt:lpstr>Initial Distances</vt:lpstr>
      <vt:lpstr>Node A's Initial Table</vt:lpstr>
      <vt:lpstr>Node A's Updated Table</vt:lpstr>
      <vt:lpstr>Final Distances</vt:lpstr>
      <vt:lpstr>Convergence</vt:lpstr>
      <vt:lpstr>Updating the Routing Table</vt:lpstr>
      <vt:lpstr>RIP</vt:lpstr>
      <vt:lpstr>Datacenter Fabric</vt:lpstr>
      <vt:lpstr>Software-Defined Networking</vt:lpstr>
      <vt:lpstr>Link Aggregation</vt:lpstr>
      <vt:lpstr>Segment Routing</vt:lpstr>
      <vt:lpstr>Label Switching</vt:lpstr>
      <vt:lpstr>Distributed vs. Centralized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12</cp:revision>
  <dcterms:created xsi:type="dcterms:W3CDTF">2026-08-04T17:34:08Z</dcterms:created>
  <dcterms:modified xsi:type="dcterms:W3CDTF">2026-09-25T21:24:25Z</dcterms:modified>
</cp:coreProperties>
</file>