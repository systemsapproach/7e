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96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  <p:sldId id="284" r:id="rId28"/>
    <p:sldId id="285" r:id="rId29"/>
    <p:sldId id="286" r:id="rId30"/>
    <p:sldId id="289" r:id="rId31"/>
    <p:sldId id="290" r:id="rId32"/>
    <p:sldId id="291" r:id="rId33"/>
    <p:sldId id="292" r:id="rId34"/>
    <p:sldId id="293" r:id="rId35"/>
    <p:sldId id="294" r:id="rId36"/>
    <p:sldId id="295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131"/>
    <a:srgbClr val="E9E0C5"/>
    <a:srgbClr val="2F55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0"/>
    <p:restoredTop sz="94658"/>
  </p:normalViewPr>
  <p:slideViewPr>
    <p:cSldViewPr snapToGrid="0">
      <p:cViewPr>
        <p:scale>
          <a:sx n="99" d="100"/>
          <a:sy n="99" d="100"/>
        </p:scale>
        <p:origin x="69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2B1E70-A0F4-FF4C-BD8C-A6D532F10129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816F2A-752B-D544-B359-38C0431EB9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38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5E7130F-F05B-B150-3729-9E271DF171FA}"/>
              </a:ext>
            </a:extLst>
          </p:cNvPr>
          <p:cNvSpPr/>
          <p:nvPr userDrawn="1"/>
        </p:nvSpPr>
        <p:spPr>
          <a:xfrm>
            <a:off x="0" y="2723115"/>
            <a:ext cx="12192000" cy="4175981"/>
          </a:xfrm>
          <a:prstGeom prst="rect">
            <a:avLst/>
          </a:prstGeom>
          <a:solidFill>
            <a:srgbClr val="333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7BDD6A-1823-8EBE-4339-8BE6A00F709B}"/>
              </a:ext>
            </a:extLst>
          </p:cNvPr>
          <p:cNvSpPr/>
          <p:nvPr userDrawn="1"/>
        </p:nvSpPr>
        <p:spPr>
          <a:xfrm>
            <a:off x="0" y="315538"/>
            <a:ext cx="12192000" cy="4622137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FEA07-9D5A-E087-CD0F-85CD617F7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1677"/>
            <a:ext cx="9144000" cy="238760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209C7-F1CD-D1FA-BA76-113A478A9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35621"/>
            <a:ext cx="9144000" cy="836398"/>
          </a:xfr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18ECE-1E6D-F8F2-58B1-71D7BE74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September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AB94-E371-30E1-1464-0D57E5C4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57B5-7F35-E930-6BE6-D1855198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DA490C-3727-1BB3-41EC-8E8B0CB167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55810" y="3139629"/>
            <a:ext cx="3280381" cy="15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7BDD6A-1823-8EBE-4339-8BE6A00F709B}"/>
              </a:ext>
            </a:extLst>
          </p:cNvPr>
          <p:cNvSpPr/>
          <p:nvPr userDrawn="1"/>
        </p:nvSpPr>
        <p:spPr>
          <a:xfrm>
            <a:off x="0" y="1600201"/>
            <a:ext cx="12192000" cy="2412586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FEA07-9D5A-E087-CD0F-85CD617F7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5187"/>
            <a:ext cx="9144000" cy="238760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18ECE-1E6D-F8F2-58B1-71D7BE74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September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AB94-E371-30E1-1464-0D57E5C4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57B5-7F35-E930-6BE6-D1855198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1D39B3-5E5D-0F11-FC35-6F2C9B63E066}"/>
              </a:ext>
            </a:extLst>
          </p:cNvPr>
          <p:cNvSpPr/>
          <p:nvPr userDrawn="1"/>
        </p:nvSpPr>
        <p:spPr>
          <a:xfrm>
            <a:off x="0" y="-1813"/>
            <a:ext cx="12192000" cy="1400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0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4224-9B42-A3A3-FD4B-7DCB37A5F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A945-E77C-96EC-A764-294BBBDF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AD0B7-B808-1B7F-CEF5-3629CD750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September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5568F-D032-2C7B-B173-457682AC3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4C81A-A9BC-68BA-10CE-C1911563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001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BF158-323C-D3C4-5EDF-AEB556D38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1458E-494E-6576-E590-8D027645C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7630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EEC45-80B7-E5F2-1EE8-4F13C3A49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7630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B021E-F3AB-3183-A464-2E0E7E6D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September 2026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BF0C7-58BA-2DE2-32B3-6B84F0FD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A454F-821E-AC99-31C4-2DF525F5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690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E204-57F3-A972-D2AB-B8EB443E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128D8-E1CA-2D26-E644-D8B87B9C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September 2026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E7C9D-573E-CCAB-347D-345D212F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19D84-0242-52EC-3A47-A0A3D5B6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9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A92FF-B703-4780-1EBB-1AE0E3CF7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82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CB9E3-427E-4369-98EC-BD677B2D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September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7B86C-AB67-018D-C428-7A1EC0C20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Peterson &amp; Davie, 2026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9F652-BA41-5373-A931-0B0D06827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597B6-99AE-8F4E-8AC4-338DBFD9B0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BF1A77-8AB3-41F4-86D3-BFA6FEEDF61A}"/>
              </a:ext>
            </a:extLst>
          </p:cNvPr>
          <p:cNvSpPr/>
          <p:nvPr userDrawn="1"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70494-B9BA-F0AA-4595-820C4E478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09"/>
            <a:ext cx="10515600" cy="898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9538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2" r:id="rId4"/>
    <p:sldLayoutId id="2147483654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9E0C5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120000"/>
        <a:buFont typeface="System Font Regular"/>
        <a:buChar char="-"/>
        <a:defRPr sz="24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Chapter 15: Message Transactions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Computer Networks: A Systems Approach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3E13A0-30CE-5759-599B-B1C4F79DC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48225"/>
            <a:ext cx="10366421" cy="4351338"/>
          </a:xfrm>
        </p:spPr>
        <p:txBody>
          <a:bodyPr/>
          <a:lstStyle/>
          <a:p>
            <a:pPr marL="0">
              <a:buNone/>
            </a:pPr>
            <a:r>
              <a:rPr lang="en-US" i="1" dirty="0"/>
              <a:t>TCP’s reliable byte-stream abstraction is not the only option for process-to-process communication. Message transactions—involving a </a:t>
            </a:r>
            <a:r>
              <a:rPr i="1" dirty="0"/>
              <a:t>request/response </a:t>
            </a:r>
            <a:r>
              <a:rPr lang="en-US" i="1" dirty="0"/>
              <a:t>message </a:t>
            </a:r>
            <a:r>
              <a:rPr i="1" dirty="0"/>
              <a:t>exchange between </a:t>
            </a:r>
            <a:r>
              <a:rPr lang="en-US" i="1" dirty="0"/>
              <a:t>a pair of</a:t>
            </a:r>
            <a:r>
              <a:rPr i="1" dirty="0"/>
              <a:t> processes</a:t>
            </a:r>
            <a:r>
              <a:rPr lang="en-US" i="1" dirty="0"/>
              <a:t>—is another. This chapter looks at two examples: Remote Procedure Call (RPC) and Remote Dynamic Memory Access (RDMA).</a:t>
            </a:r>
            <a:endParaRPr i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65432-B1C5-B27B-62A7-C14663F35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Request/Response Transaction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79" y="1360449"/>
            <a:ext cx="5819199" cy="5481742"/>
          </a:xfrm>
        </p:spPr>
        <p:txBody>
          <a:bodyPr>
            <a:normAutofit/>
          </a:bodyPr>
          <a:lstStyle/>
          <a:p>
            <a:r>
              <a:rPr lang="en-US" sz="2400" dirty="0"/>
              <a:t>Common usage pattern</a:t>
            </a:r>
          </a:p>
          <a:p>
            <a:pPr lvl="1"/>
            <a:r>
              <a:rPr sz="2000" dirty="0"/>
              <a:t>Sender </a:t>
            </a:r>
            <a:r>
              <a:rPr lang="en-US" sz="2000" dirty="0"/>
              <a:t>transmits request message and blocks waiting for a reply</a:t>
            </a:r>
          </a:p>
          <a:p>
            <a:pPr lvl="1"/>
            <a:r>
              <a:rPr lang="en-US" sz="2000" dirty="0"/>
              <a:t>Receiver responds with a reply message, which unblocks the sender</a:t>
            </a:r>
          </a:p>
          <a:p>
            <a:r>
              <a:rPr lang="en-US" sz="2400" dirty="0"/>
              <a:t>Variants for multi-threaded workloads</a:t>
            </a:r>
          </a:p>
          <a:p>
            <a:pPr lvl="1"/>
            <a:r>
              <a:rPr lang="en-US" sz="2000" dirty="0"/>
              <a:t>Reply simply acknowledges receipt</a:t>
            </a:r>
          </a:p>
          <a:p>
            <a:pPr lvl="1"/>
            <a:r>
              <a:rPr lang="en-US" sz="2000" dirty="0"/>
              <a:t>Multiple request/response pairs in parallel</a:t>
            </a:r>
          </a:p>
          <a:p>
            <a:pPr lvl="1"/>
            <a:r>
              <a:rPr lang="en-US" sz="2000" dirty="0"/>
              <a:t>Asynchronous send</a:t>
            </a:r>
          </a:p>
          <a:p>
            <a:r>
              <a:rPr lang="en-US" sz="2400" dirty="0"/>
              <a:t>Extends local abstractions over the network</a:t>
            </a:r>
          </a:p>
          <a:p>
            <a:pPr lvl="1"/>
            <a:r>
              <a:rPr lang="en-US" sz="2000" dirty="0"/>
              <a:t>Remote Procedure Call (RPC)</a:t>
            </a:r>
          </a:p>
          <a:p>
            <a:pPr lvl="1"/>
            <a:r>
              <a:rPr lang="en-US" sz="2000" dirty="0"/>
              <a:t>Remote DMA (RDMA)</a:t>
            </a:r>
          </a:p>
          <a:p>
            <a:r>
              <a:rPr sz="2400" dirty="0"/>
              <a:t>Could buil</a:t>
            </a:r>
            <a:r>
              <a:rPr lang="en-US" sz="2400" dirty="0"/>
              <a:t>d</a:t>
            </a:r>
            <a:r>
              <a:rPr sz="2400" dirty="0"/>
              <a:t> </a:t>
            </a:r>
            <a:r>
              <a:rPr lang="en-US" sz="2400" dirty="0"/>
              <a:t>on</a:t>
            </a:r>
            <a:r>
              <a:rPr sz="2400" dirty="0"/>
              <a:t> TCP, but </a:t>
            </a:r>
            <a:r>
              <a:rPr lang="en-US" sz="2400" dirty="0"/>
              <a:t>it’s a poor match</a:t>
            </a:r>
          </a:p>
          <a:p>
            <a:pPr lvl="1"/>
            <a:r>
              <a:rPr lang="en-US" sz="2000" dirty="0"/>
              <a:t>excessive connection setup overhead</a:t>
            </a:r>
            <a:endParaRPr sz="2000" dirty="0"/>
          </a:p>
        </p:txBody>
      </p:sp>
      <p:pic>
        <p:nvPicPr>
          <p:cNvPr id="4" name="Picture 3" descr="trans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727" y="2070461"/>
            <a:ext cx="5181480" cy="311851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AF5D7-EC41-6927-F9FF-E5BE33A03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Design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47143"/>
            <a:ext cx="10515600" cy="5309774"/>
          </a:xfrm>
        </p:spPr>
        <p:txBody>
          <a:bodyPr>
            <a:noAutofit/>
          </a:bodyPr>
          <a:lstStyle/>
          <a:p>
            <a:r>
              <a:rPr sz="2400" dirty="0"/>
              <a:t>Identity</a:t>
            </a:r>
            <a:endParaRPr lang="en-US" sz="2400" dirty="0"/>
          </a:p>
          <a:p>
            <a:pPr lvl="1"/>
            <a:r>
              <a:rPr lang="en-US" sz="2000" dirty="0"/>
              <a:t>Target ID: Procedure Identifier (RPC) or Memory Address (RDMA)</a:t>
            </a:r>
          </a:p>
          <a:p>
            <a:pPr lvl="1"/>
            <a:r>
              <a:rPr sz="2000" dirty="0"/>
              <a:t>Transaction ID</a:t>
            </a:r>
            <a:r>
              <a:rPr lang="en-US" sz="2000" dirty="0"/>
              <a:t>: </a:t>
            </a:r>
            <a:r>
              <a:rPr sz="2000" dirty="0"/>
              <a:t>pairs the reply with </a:t>
            </a:r>
            <a:r>
              <a:rPr lang="en-US" sz="2000" dirty="0"/>
              <a:t>the corresponding</a:t>
            </a:r>
            <a:r>
              <a:rPr sz="2000" dirty="0"/>
              <a:t> request</a:t>
            </a:r>
          </a:p>
          <a:p>
            <a:r>
              <a:rPr lang="en-US" sz="2400" dirty="0"/>
              <a:t>Reliability Semantics</a:t>
            </a:r>
          </a:p>
          <a:p>
            <a:pPr lvl="1"/>
            <a:r>
              <a:rPr lang="en-US" sz="2000" dirty="0"/>
              <a:t>A</a:t>
            </a:r>
            <a:r>
              <a:rPr sz="2000" dirty="0"/>
              <a:t>t-most-once</a:t>
            </a:r>
            <a:endParaRPr lang="en-US" sz="2000" dirty="0"/>
          </a:p>
          <a:p>
            <a:pPr lvl="1"/>
            <a:r>
              <a:rPr lang="en-US" sz="2000" dirty="0"/>
              <a:t>A</a:t>
            </a:r>
            <a:r>
              <a:rPr sz="2000" dirty="0"/>
              <a:t>t-least-once</a:t>
            </a:r>
            <a:r>
              <a:rPr lang="en-US" sz="2000" dirty="0"/>
              <a:t> (assumes idempotency)</a:t>
            </a:r>
            <a:endParaRPr sz="2000" dirty="0"/>
          </a:p>
          <a:p>
            <a:r>
              <a:rPr lang="en-US" sz="2400" dirty="0"/>
              <a:t>Message </a:t>
            </a:r>
            <a:r>
              <a:rPr sz="2400" dirty="0"/>
              <a:t>Size</a:t>
            </a:r>
            <a:endParaRPr lang="en-US" sz="2400" dirty="0"/>
          </a:p>
          <a:p>
            <a:pPr lvl="1"/>
            <a:r>
              <a:rPr lang="en-US" sz="2000" dirty="0"/>
              <a:t>Either cap message size or fragment and reassemble (like TCP)</a:t>
            </a:r>
          </a:p>
          <a:p>
            <a:r>
              <a:rPr lang="en-US" sz="2400" dirty="0"/>
              <a:t>Concurrency</a:t>
            </a:r>
          </a:p>
          <a:p>
            <a:pPr lvl="1"/>
            <a:r>
              <a:rPr sz="2000" dirty="0"/>
              <a:t>Blocking </a:t>
            </a:r>
            <a:r>
              <a:rPr lang="en-US" sz="2000" dirty="0"/>
              <a:t>calls vs Asynchronous signals</a:t>
            </a:r>
          </a:p>
          <a:p>
            <a:pPr lvl="1"/>
            <a:r>
              <a:rPr lang="en-US" sz="2000" dirty="0"/>
              <a:t>Support for multiple outstanding request/response pairs (like HTTP/2)</a:t>
            </a:r>
            <a:endParaRPr sz="2000" dirty="0"/>
          </a:p>
          <a:p>
            <a:r>
              <a:rPr sz="2400" dirty="0"/>
              <a:t>Data </a:t>
            </a:r>
            <a:r>
              <a:rPr lang="en-US" sz="2400" dirty="0"/>
              <a:t>F</a:t>
            </a:r>
            <a:r>
              <a:rPr sz="2400" dirty="0"/>
              <a:t>ormat</a:t>
            </a:r>
          </a:p>
          <a:p>
            <a:pPr lvl="1"/>
            <a:r>
              <a:rPr sz="2000" dirty="0"/>
              <a:t>Payload is a </a:t>
            </a:r>
            <a:r>
              <a:rPr lang="en-US" sz="2000" dirty="0"/>
              <a:t>serialized </a:t>
            </a:r>
            <a:r>
              <a:rPr sz="2000" dirty="0"/>
              <a:t>data structure</a:t>
            </a:r>
            <a:r>
              <a:rPr lang="en-US" sz="2000" dirty="0"/>
              <a:t> (or </a:t>
            </a:r>
            <a:r>
              <a:rPr sz="2000" dirty="0"/>
              <a:t>not</a:t>
            </a:r>
            <a:r>
              <a:rPr lang="en-US" sz="2000" dirty="0"/>
              <a:t>)</a:t>
            </a:r>
            <a:endParaRPr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0226C-E735-41C9-E005-1BDEF2F76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Remote Procedure Call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202FD-29D7-FFC8-C34A-2BECC4E4A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512" y="1476360"/>
            <a:ext cx="5447487" cy="4351320"/>
          </a:xfrm>
        </p:spPr>
        <p:txBody>
          <a:bodyPr>
            <a:normAutofit/>
          </a:bodyPr>
          <a:lstStyle/>
          <a:p>
            <a:r>
              <a:rPr sz="2400" dirty="0"/>
              <a:t>Two </a:t>
            </a:r>
            <a:r>
              <a:rPr lang="en-US" sz="2400" dirty="0"/>
              <a:t>Components</a:t>
            </a:r>
          </a:p>
          <a:p>
            <a:pPr lvl="1"/>
            <a:r>
              <a:rPr lang="en-US" sz="2000" dirty="0"/>
              <a:t>M</a:t>
            </a:r>
            <a:r>
              <a:rPr sz="2000" dirty="0"/>
              <a:t>essage transaction protocol</a:t>
            </a:r>
            <a:endParaRPr lang="en-US" sz="2000" dirty="0"/>
          </a:p>
          <a:p>
            <a:pPr lvl="1"/>
            <a:r>
              <a:rPr lang="en-US" sz="2000" dirty="0"/>
              <a:t>S</a:t>
            </a:r>
            <a:r>
              <a:rPr sz="2000" dirty="0"/>
              <a:t>tub compiler</a:t>
            </a:r>
          </a:p>
          <a:p>
            <a:r>
              <a:rPr lang="en-US" sz="2400" dirty="0"/>
              <a:t>Old idea whose time has come</a:t>
            </a:r>
            <a:endParaRPr sz="2400" dirty="0"/>
          </a:p>
          <a:p>
            <a:pPr lvl="1"/>
            <a:r>
              <a:rPr sz="2000" dirty="0"/>
              <a:t>Birrell </a:t>
            </a:r>
            <a:r>
              <a:rPr lang="en-US" sz="2000" dirty="0"/>
              <a:t>&amp;</a:t>
            </a:r>
            <a:r>
              <a:rPr sz="2000" dirty="0"/>
              <a:t> Nelson </a:t>
            </a:r>
            <a:r>
              <a:rPr lang="en-US" sz="2000" dirty="0"/>
              <a:t>built RPC at PARC in </a:t>
            </a:r>
            <a:r>
              <a:rPr sz="2000" dirty="0"/>
              <a:t>1984</a:t>
            </a:r>
            <a:endParaRPr lang="en-US" sz="2000" dirty="0"/>
          </a:p>
          <a:p>
            <a:pPr lvl="1"/>
            <a:r>
              <a:rPr lang="en-US" sz="2000" dirty="0"/>
              <a:t>Sun built </a:t>
            </a:r>
            <a:r>
              <a:rPr sz="2000" dirty="0"/>
              <a:t>SunRPC</a:t>
            </a:r>
            <a:r>
              <a:rPr lang="en-US" sz="2000" dirty="0"/>
              <a:t> to support </a:t>
            </a:r>
            <a:r>
              <a:rPr sz="2000" dirty="0"/>
              <a:t>NFS</a:t>
            </a:r>
            <a:r>
              <a:rPr lang="en-US" sz="2000" dirty="0"/>
              <a:t> </a:t>
            </a:r>
          </a:p>
          <a:p>
            <a:pPr lvl="1"/>
            <a:r>
              <a:rPr lang="en-US" sz="2000" dirty="0"/>
              <a:t>Google built </a:t>
            </a:r>
            <a:r>
              <a:rPr sz="2000" dirty="0"/>
              <a:t>gRPC</a:t>
            </a:r>
            <a:r>
              <a:rPr lang="en-US" sz="2000" dirty="0"/>
              <a:t> for datacenter workloads</a:t>
            </a:r>
          </a:p>
          <a:p>
            <a:pPr lvl="1"/>
            <a:r>
              <a:rPr lang="en-US" sz="2000" dirty="0"/>
              <a:t>Today QUIC is quickly gaining ground on TCP</a:t>
            </a:r>
            <a:endParaRPr sz="2000" dirty="0"/>
          </a:p>
        </p:txBody>
      </p:sp>
      <p:pic>
        <p:nvPicPr>
          <p:cNvPr id="4" name="Picture 3" descr="r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559" y="1558799"/>
            <a:ext cx="5181480" cy="418644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666A8-F872-3C2E-B16B-7C1F8FA31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RPC vs. 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Both sit on a message transaction protocol (HTTP, gRPC, QUIC)</a:t>
            </a:r>
          </a:p>
          <a:p>
            <a:r>
              <a:rPr dirty="0"/>
              <a:t>REST: just 4 </a:t>
            </a:r>
            <a:r>
              <a:rPr lang="en-US" dirty="0"/>
              <a:t>operations</a:t>
            </a:r>
            <a:r>
              <a:rPr dirty="0"/>
              <a:t> (</a:t>
            </a:r>
            <a:r>
              <a:rPr sz="2600" dirty="0">
                <a:latin typeface="Lucida Sans" panose="020B0602030504020204" pitchFamily="34" charset="77"/>
              </a:rPr>
              <a:t>GET/POST/PUT/DELETE</a:t>
            </a:r>
            <a:r>
              <a:rPr dirty="0"/>
              <a:t>) on resources</a:t>
            </a:r>
          </a:p>
          <a:p>
            <a:r>
              <a:rPr dirty="0"/>
              <a:t>RPC: arbitrarily many named procedures (e.g., </a:t>
            </a:r>
            <a:r>
              <a:rPr sz="2600" dirty="0">
                <a:latin typeface="Lucida Sans" panose="020B0602030504020204" pitchFamily="34" charset="77"/>
              </a:rPr>
              <a:t>SendEmail()</a:t>
            </a:r>
            <a:r>
              <a:rPr dirty="0"/>
              <a:t>)</a:t>
            </a:r>
          </a:p>
          <a:p>
            <a:r>
              <a:rPr dirty="0"/>
              <a:t>Duals of each other</a:t>
            </a:r>
            <a:r>
              <a:rPr lang="en-US" dirty="0"/>
              <a:t>—</a:t>
            </a:r>
            <a:r>
              <a:rPr dirty="0"/>
              <a:t>a matter of API taste, not capability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A5496-0A56-4111-5164-7295EA733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gRPC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997" y="1516566"/>
            <a:ext cx="6923170" cy="5319132"/>
          </a:xfrm>
        </p:spPr>
        <p:txBody>
          <a:bodyPr>
            <a:noAutofit/>
          </a:bodyPr>
          <a:lstStyle/>
          <a:p>
            <a:r>
              <a:rPr lang="en-US" sz="2400" dirty="0"/>
              <a:t>Designed</a:t>
            </a:r>
            <a:r>
              <a:rPr sz="2400" dirty="0"/>
              <a:t> for cloud services</a:t>
            </a:r>
            <a:endParaRPr lang="en-US" sz="2400" dirty="0"/>
          </a:p>
          <a:p>
            <a:pPr lvl="1"/>
            <a:r>
              <a:rPr lang="en-US" sz="2000" dirty="0"/>
              <a:t>Netflix, Uber,…</a:t>
            </a:r>
            <a:endParaRPr sz="2000" dirty="0"/>
          </a:p>
          <a:p>
            <a:r>
              <a:rPr lang="en-US" sz="2400" dirty="0"/>
              <a:t>Outsources many problems</a:t>
            </a:r>
          </a:p>
          <a:p>
            <a:pPr lvl="1"/>
            <a:r>
              <a:rPr lang="en-US" sz="2000" dirty="0"/>
              <a:t>Request/Response pairing (</a:t>
            </a:r>
            <a:r>
              <a:rPr sz="2000" dirty="0"/>
              <a:t>HTTP/2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Secure communication (TLS)</a:t>
            </a:r>
          </a:p>
          <a:p>
            <a:pPr lvl="1"/>
            <a:r>
              <a:rPr lang="en-US" sz="2000" dirty="0"/>
              <a:t>Reliable</a:t>
            </a:r>
            <a:r>
              <a:rPr sz="2000" dirty="0"/>
              <a:t> </a:t>
            </a:r>
            <a:r>
              <a:rPr lang="en-US" sz="2000" dirty="0"/>
              <a:t>message delivery (TCP)</a:t>
            </a:r>
            <a:endParaRPr sz="2000" dirty="0"/>
          </a:p>
          <a:p>
            <a:r>
              <a:rPr sz="2400" dirty="0"/>
              <a:t>Method identified as a URI</a:t>
            </a:r>
            <a:endParaRPr lang="en-US" sz="2400" dirty="0"/>
          </a:p>
          <a:p>
            <a:pPr lvl="1"/>
            <a:r>
              <a:rPr lang="en-US" sz="2000" dirty="0"/>
              <a:t>P</a:t>
            </a:r>
            <a:r>
              <a:rPr sz="2000" dirty="0"/>
              <a:t>arameters </a:t>
            </a:r>
            <a:r>
              <a:rPr lang="en-US" sz="2000" dirty="0"/>
              <a:t>&amp;</a:t>
            </a:r>
            <a:r>
              <a:rPr sz="2000" dirty="0"/>
              <a:t> return value in the HTTP body</a:t>
            </a:r>
          </a:p>
          <a:p>
            <a:r>
              <a:rPr sz="2400" dirty="0"/>
              <a:t>Four streaming patterns</a:t>
            </a:r>
          </a:p>
          <a:p>
            <a:pPr lvl="1"/>
            <a:r>
              <a:rPr sz="2000" dirty="0"/>
              <a:t>Simple: one request</a:t>
            </a:r>
            <a:r>
              <a:rPr lang="en-US" sz="2000" dirty="0"/>
              <a:t> / </a:t>
            </a:r>
            <a:r>
              <a:rPr sz="2000" dirty="0"/>
              <a:t>one reply</a:t>
            </a:r>
          </a:p>
          <a:p>
            <a:pPr lvl="1"/>
            <a:r>
              <a:rPr sz="2000" dirty="0"/>
              <a:t>Server streaming: one request</a:t>
            </a:r>
            <a:r>
              <a:rPr lang="en-US" sz="2000" dirty="0"/>
              <a:t> /</a:t>
            </a:r>
            <a:r>
              <a:rPr sz="2000" dirty="0"/>
              <a:t> many replies</a:t>
            </a:r>
          </a:p>
          <a:p>
            <a:pPr lvl="1"/>
            <a:r>
              <a:rPr sz="2000" dirty="0"/>
              <a:t>Client streaming: many requests</a:t>
            </a:r>
            <a:r>
              <a:rPr lang="en-US" sz="2000" dirty="0"/>
              <a:t> /</a:t>
            </a:r>
            <a:r>
              <a:rPr sz="2000" dirty="0"/>
              <a:t> one reply</a:t>
            </a:r>
          </a:p>
          <a:p>
            <a:pPr lvl="1"/>
            <a:r>
              <a:rPr sz="2000" dirty="0"/>
              <a:t>Bidirectional: independent streams </a:t>
            </a:r>
            <a:r>
              <a:rPr lang="en-US" sz="2000" dirty="0"/>
              <a:t>in </a:t>
            </a:r>
            <a:r>
              <a:rPr sz="2000" dirty="0"/>
              <a:t>either direction</a:t>
            </a:r>
          </a:p>
        </p:txBody>
      </p:sp>
      <p:pic>
        <p:nvPicPr>
          <p:cNvPr id="4" name="Picture 3" descr="gr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433" y="1474452"/>
            <a:ext cx="5181480" cy="390909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1CC93-FA97-4DE4-62C3-540528C20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gRPC Over HTTP/2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743" y="1537210"/>
            <a:ext cx="9528571" cy="42473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latin typeface="Lucida Console"/>
              </a:rPr>
              <a:t>HEADERS (flags = END_HEADERS)</a:t>
            </a:r>
          </a:p>
          <a:p>
            <a:r>
              <a:rPr dirty="0">
                <a:latin typeface="Lucida Console"/>
              </a:rPr>
              <a:t>:method = POST</a:t>
            </a:r>
          </a:p>
          <a:p>
            <a:r>
              <a:rPr dirty="0">
                <a:latin typeface="Lucida Console"/>
              </a:rPr>
              <a:t>:path = /google.pubsub.v2.PublisherService/CreateTopic</a:t>
            </a:r>
          </a:p>
          <a:p>
            <a:r>
              <a:rPr dirty="0">
                <a:latin typeface="Lucida Console"/>
              </a:rPr>
              <a:t>content-type = application/grpc+proto</a:t>
            </a:r>
          </a:p>
          <a:p>
            <a:r>
              <a:rPr dirty="0">
                <a:latin typeface="Lucida Console"/>
              </a:rPr>
              <a:t>DATA (flags = END_STREAM)</a:t>
            </a:r>
          </a:p>
          <a:p>
            <a:r>
              <a:rPr dirty="0">
                <a:latin typeface="Lucida Console"/>
              </a:rPr>
              <a:t>&lt;Length-Prefixed Message&gt;</a:t>
            </a:r>
          </a:p>
          <a:p>
            <a:r>
              <a:rPr dirty="0">
                <a:latin typeface="Lucida Console"/>
              </a:rPr>
              <a:t>HEADERS (flags = END_HEADERS)</a:t>
            </a:r>
          </a:p>
          <a:p>
            <a:r>
              <a:rPr dirty="0">
                <a:latin typeface="Lucida Console"/>
              </a:rPr>
              <a:t>:status = 200</a:t>
            </a:r>
          </a:p>
          <a:p>
            <a:r>
              <a:rPr dirty="0">
                <a:latin typeface="Lucida Console"/>
              </a:rPr>
              <a:t>content-type = application/grpc+proto</a:t>
            </a:r>
          </a:p>
          <a:p>
            <a:r>
              <a:rPr dirty="0">
                <a:latin typeface="Lucida Console"/>
              </a:rPr>
              <a:t>DATA</a:t>
            </a:r>
          </a:p>
          <a:p>
            <a:r>
              <a:rPr dirty="0">
                <a:latin typeface="Lucida Console"/>
              </a:rPr>
              <a:t>&lt;Length-Prefixed Message&gt;</a:t>
            </a:r>
          </a:p>
          <a:p>
            <a:r>
              <a:rPr dirty="0">
                <a:latin typeface="Lucida Console"/>
              </a:rPr>
              <a:t>HEADERS (flags = END_STREAM)</a:t>
            </a:r>
          </a:p>
          <a:p>
            <a:r>
              <a:rPr dirty="0">
                <a:latin typeface="Lucida Console"/>
              </a:rPr>
              <a:t>grpc-status = 0</a:t>
            </a:r>
          </a:p>
          <a:p>
            <a:r>
              <a:rPr dirty="0">
                <a:latin typeface="Lucida Console"/>
              </a:rPr>
              <a:t>Colon-prefixed fields: standard HTTP; others: gRPC-specific</a:t>
            </a:r>
          </a:p>
          <a:p>
            <a:r>
              <a:rPr dirty="0">
                <a:latin typeface="Lucida Console"/>
              </a:rPr>
              <a:t>content-type: application/grpc+proto -&gt; parsed via Protocol Buffers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B1A4F-88C0-54FB-DF50-56F99009A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Optimizing RPC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FB598-41C5-14CB-28A3-442828997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2877"/>
            <a:ext cx="10515600" cy="3059554"/>
          </a:xfrm>
        </p:spPr>
        <p:txBody>
          <a:bodyPr/>
          <a:lstStyle/>
          <a:p>
            <a:r>
              <a:rPr dirty="0"/>
              <a:t>gRPC</a:t>
            </a:r>
            <a:r>
              <a:rPr lang="en-US" dirty="0"/>
              <a:t> made a</a:t>
            </a:r>
            <a:r>
              <a:rPr dirty="0"/>
              <a:t> tradeoff</a:t>
            </a:r>
            <a:endParaRPr lang="en-US" dirty="0"/>
          </a:p>
          <a:p>
            <a:pPr lvl="1"/>
            <a:r>
              <a:rPr lang="en-US" dirty="0"/>
              <a:t>C</a:t>
            </a:r>
            <a:r>
              <a:rPr dirty="0"/>
              <a:t>onvenience of RPC </a:t>
            </a:r>
            <a:r>
              <a:rPr lang="en-US" dirty="0"/>
              <a:t>at the expense of</a:t>
            </a:r>
            <a:r>
              <a:rPr dirty="0"/>
              <a:t> </a:t>
            </a:r>
            <a:r>
              <a:rPr lang="en-US" dirty="0"/>
              <a:t>known</a:t>
            </a:r>
            <a:r>
              <a:rPr dirty="0"/>
              <a:t> performance limits</a:t>
            </a:r>
          </a:p>
          <a:p>
            <a:pPr lvl="1"/>
            <a:r>
              <a:rPr dirty="0"/>
              <a:t>TCP </a:t>
            </a:r>
            <a:r>
              <a:rPr lang="en-US" dirty="0"/>
              <a:t>+</a:t>
            </a:r>
            <a:r>
              <a:rPr dirty="0"/>
              <a:t> TLS handshake</a:t>
            </a:r>
            <a:r>
              <a:rPr lang="en-US" dirty="0"/>
              <a:t>s</a:t>
            </a:r>
            <a:r>
              <a:rPr dirty="0"/>
              <a:t> can cost 3 RTTs before the first byte</a:t>
            </a:r>
            <a:endParaRPr lang="en-US" dirty="0"/>
          </a:p>
          <a:p>
            <a:r>
              <a:rPr lang="en-US" dirty="0"/>
              <a:t>QUIC addresses performance by rethinking layering</a:t>
            </a:r>
          </a:p>
          <a:p>
            <a:pPr lvl="1"/>
            <a:r>
              <a:rPr lang="en-US" dirty="0"/>
              <a:t>Folds TLS handshake into the transport</a:t>
            </a:r>
          </a:p>
          <a:p>
            <a:pPr lvl="1"/>
            <a:endParaRPr dirty="0"/>
          </a:p>
        </p:txBody>
      </p:sp>
      <p:pic>
        <p:nvPicPr>
          <p:cNvPr id="4" name="Picture 3" descr="QUIC-TLS.png">
            <a:extLst>
              <a:ext uri="{FF2B5EF4-FFF2-40B4-BE49-F238E27FC236}">
                <a16:creationId xmlns:a16="http://schemas.microsoft.com/office/drawing/2014/main" id="{5C801B3E-0ED5-4C7B-8999-E03D0F9BC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147" y="3804313"/>
            <a:ext cx="6519638" cy="247909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E7AF6E-4C11-DF5E-5656-D9A076C7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QUIC Packet Headers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79" y="1476360"/>
            <a:ext cx="5987723" cy="4351320"/>
          </a:xfrm>
        </p:spPr>
        <p:txBody>
          <a:bodyPr>
            <a:normAutofit/>
          </a:bodyPr>
          <a:lstStyle/>
          <a:p>
            <a:r>
              <a:rPr sz="2400" dirty="0"/>
              <a:t>Connection ID fully identifies the connection</a:t>
            </a:r>
            <a:endParaRPr lang="en-US" sz="2400" dirty="0"/>
          </a:p>
          <a:p>
            <a:pPr lvl="1"/>
            <a:r>
              <a:rPr lang="en-US" sz="2000" dirty="0"/>
              <a:t>Like a port, but not tied to </a:t>
            </a:r>
            <a:r>
              <a:rPr sz="2000" dirty="0"/>
              <a:t>IP</a:t>
            </a:r>
            <a:r>
              <a:rPr lang="en-US" sz="2000" dirty="0"/>
              <a:t> </a:t>
            </a:r>
            <a:r>
              <a:rPr lang="en-US" sz="2000" dirty="0" err="1"/>
              <a:t>addr</a:t>
            </a:r>
            <a:endParaRPr sz="2000" dirty="0"/>
          </a:p>
          <a:p>
            <a:pPr lvl="1"/>
            <a:r>
              <a:rPr sz="2000" dirty="0"/>
              <a:t>Simplifies </a:t>
            </a:r>
            <a:r>
              <a:rPr lang="en-US" sz="2000" dirty="0"/>
              <a:t>connection </a:t>
            </a:r>
            <a:r>
              <a:rPr sz="2000" dirty="0"/>
              <a:t>migrati</a:t>
            </a:r>
            <a:r>
              <a:rPr lang="en-US" sz="2000" dirty="0"/>
              <a:t>on</a:t>
            </a:r>
            <a:endParaRPr sz="2000" dirty="0"/>
          </a:p>
          <a:p>
            <a:r>
              <a:rPr sz="2400" dirty="0"/>
              <a:t>Packet numbers increase monotonically</a:t>
            </a:r>
            <a:endParaRPr lang="en-US" sz="2400" dirty="0"/>
          </a:p>
          <a:p>
            <a:pPr lvl="1"/>
            <a:r>
              <a:rPr lang="en-US" sz="2000" dirty="0"/>
              <a:t>Unlikely to reuse (u</a:t>
            </a:r>
            <a:r>
              <a:rPr sz="2000" dirty="0"/>
              <a:t>p to 2</a:t>
            </a:r>
            <a:r>
              <a:rPr sz="2000" baseline="30000" dirty="0"/>
              <a:t>62</a:t>
            </a:r>
            <a:r>
              <a:rPr sz="2000" dirty="0"/>
              <a:t> </a:t>
            </a:r>
            <a:r>
              <a:rPr lang="en-US" sz="2000" dirty="0"/>
              <a:t>–</a:t>
            </a:r>
            <a:r>
              <a:rPr sz="2000" dirty="0"/>
              <a:t> 1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Optimized to transmit just necessary bits</a:t>
            </a:r>
          </a:p>
          <a:p>
            <a:r>
              <a:rPr lang="en-US" sz="2400" dirty="0"/>
              <a:t>Payload carries one or more QUIC </a:t>
            </a:r>
            <a:r>
              <a:rPr lang="en-US" sz="2400" i="1" dirty="0"/>
              <a:t>frames</a:t>
            </a:r>
          </a:p>
          <a:p>
            <a:pPr lvl="1"/>
            <a:r>
              <a:rPr lang="en-US" sz="2000" dirty="0"/>
              <a:t>20 different types (e.g., PING, ACK, STREAM)</a:t>
            </a:r>
          </a:p>
          <a:p>
            <a:pPr lvl="1"/>
            <a:r>
              <a:rPr lang="en-US" sz="2000" dirty="0"/>
              <a:t>Frames may be part of different </a:t>
            </a:r>
            <a:r>
              <a:rPr lang="en-US" sz="2000" i="1" dirty="0"/>
              <a:t>streams</a:t>
            </a:r>
            <a:endParaRPr sz="2000" i="1" dirty="0"/>
          </a:p>
        </p:txBody>
      </p:sp>
      <p:pic>
        <p:nvPicPr>
          <p:cNvPr id="4" name="Picture 3" descr="QUIC-hea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21" y="1476360"/>
            <a:ext cx="3733679" cy="468441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72FE8-DC2F-2483-983A-65A6909A9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STREAM 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>
            <a:normAutofit/>
          </a:bodyPr>
          <a:lstStyle/>
          <a:p>
            <a:r>
              <a:rPr lang="en-US" sz="2400" dirty="0"/>
              <a:t>Connection multiplexes streams</a:t>
            </a:r>
          </a:p>
          <a:p>
            <a:pPr lvl="1"/>
            <a:r>
              <a:rPr lang="en-US" sz="2000" dirty="0"/>
              <a:t>Each stream has a unique ID</a:t>
            </a:r>
          </a:p>
          <a:p>
            <a:pPr lvl="1"/>
            <a:r>
              <a:rPr sz="2000" dirty="0"/>
              <a:t>Streams </a:t>
            </a:r>
            <a:r>
              <a:rPr lang="en-US" sz="2000" dirty="0"/>
              <a:t>have minimal overhead</a:t>
            </a:r>
          </a:p>
          <a:p>
            <a:pPr lvl="1"/>
            <a:r>
              <a:rPr lang="en-US" sz="2000" dirty="0"/>
              <a:t>e.g., stream per</a:t>
            </a:r>
            <a:r>
              <a:rPr sz="2000" dirty="0"/>
              <a:t> request/response</a:t>
            </a:r>
            <a:r>
              <a:rPr lang="en-US" sz="2000" dirty="0"/>
              <a:t> pair</a:t>
            </a:r>
            <a:endParaRPr sz="2000" dirty="0"/>
          </a:p>
          <a:p>
            <a:r>
              <a:rPr lang="en-US" sz="2400" dirty="0"/>
              <a:t>Type field spells out formatting</a:t>
            </a:r>
          </a:p>
          <a:p>
            <a:pPr lvl="1"/>
            <a:r>
              <a:rPr lang="en-US" sz="2000" dirty="0"/>
              <a:t>High-order 5 bits: 00001 = STREAM</a:t>
            </a:r>
          </a:p>
          <a:p>
            <a:pPr lvl="1"/>
            <a:r>
              <a:rPr lang="en-US" sz="2000" dirty="0"/>
              <a:t>Low-order 3 bits indicate whether…</a:t>
            </a:r>
          </a:p>
          <a:p>
            <a:pPr lvl="2"/>
            <a:r>
              <a:rPr lang="en-US" sz="1600" dirty="0"/>
              <a:t>Offset is present (not =&gt; 1st frame)</a:t>
            </a:r>
          </a:p>
          <a:p>
            <a:pPr lvl="2"/>
            <a:r>
              <a:rPr lang="en-US" sz="1600" dirty="0"/>
              <a:t>Length is present (not =&gt; last frame)</a:t>
            </a:r>
            <a:endParaRPr sz="1600" dirty="0"/>
          </a:p>
        </p:txBody>
      </p:sp>
      <p:pic>
        <p:nvPicPr>
          <p:cNvPr id="4" name="Picture 3" descr="QUIC-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045" y="1476360"/>
            <a:ext cx="4593788" cy="435132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9693A-B442-52F2-EF31-97E108EF5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Variable-Length Integers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>
            <a:normAutofit/>
          </a:bodyPr>
          <a:lstStyle/>
          <a:p>
            <a:r>
              <a:rPr sz="2400" dirty="0"/>
              <a:t>Top 2 bits encode the length</a:t>
            </a:r>
            <a:endParaRPr lang="en-US" sz="2400" dirty="0"/>
          </a:p>
          <a:p>
            <a:pPr lvl="1"/>
            <a:r>
              <a:rPr lang="en-US" sz="2000" dirty="0"/>
              <a:t>R</a:t>
            </a:r>
            <a:r>
              <a:rPr sz="2000" dirty="0"/>
              <a:t>est carr</a:t>
            </a:r>
            <a:r>
              <a:rPr lang="en-US" sz="2000" dirty="0"/>
              <a:t>ies</a:t>
            </a:r>
            <a:r>
              <a:rPr sz="2000" dirty="0"/>
              <a:t> the value</a:t>
            </a:r>
          </a:p>
          <a:p>
            <a:r>
              <a:rPr lang="en-US" sz="2400" dirty="0"/>
              <a:t>S</a:t>
            </a:r>
            <a:r>
              <a:rPr sz="2400" dirty="0"/>
              <a:t>mall fields </a:t>
            </a:r>
            <a:r>
              <a:rPr lang="en-US" sz="2400" dirty="0"/>
              <a:t>efficient</a:t>
            </a:r>
          </a:p>
          <a:p>
            <a:pPr lvl="1"/>
            <a:r>
              <a:rPr lang="en-US" sz="2000" dirty="0"/>
              <a:t>But </a:t>
            </a:r>
            <a:r>
              <a:rPr sz="2000" dirty="0"/>
              <a:t>leaving room to grow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72200" y="1476360"/>
          <a:ext cx="5181480" cy="435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3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0264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2MSB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Usable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0264"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1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0-63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0264"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2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0 to 2^14-1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0264"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4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0 to 2^30-1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0264"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8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0 to 2^62-1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F537A-F57A-A2E3-5B82-2AB400B2B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Loss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8225"/>
            <a:ext cx="10515600" cy="4865454"/>
          </a:xfrm>
        </p:spPr>
        <p:txBody>
          <a:bodyPr/>
          <a:lstStyle/>
          <a:p>
            <a:r>
              <a:rPr dirty="0"/>
              <a:t>QUIC never reuses packet numbers</a:t>
            </a:r>
            <a:endParaRPr lang="en-US" dirty="0"/>
          </a:p>
          <a:p>
            <a:pPr lvl="1"/>
            <a:r>
              <a:rPr lang="en-US" dirty="0"/>
              <a:t>R</a:t>
            </a:r>
            <a:r>
              <a:rPr dirty="0"/>
              <a:t>etransmissions are unambiguous</a:t>
            </a:r>
            <a:endParaRPr lang="en-US" dirty="0"/>
          </a:p>
          <a:p>
            <a:pPr lvl="1"/>
            <a:r>
              <a:rPr lang="en-US" dirty="0"/>
              <a:t>Simplifies process of estimating RTT</a:t>
            </a:r>
            <a:endParaRPr dirty="0"/>
          </a:p>
          <a:p>
            <a:r>
              <a:rPr dirty="0"/>
              <a:t>ACK </a:t>
            </a:r>
            <a:r>
              <a:rPr lang="en-US" dirty="0"/>
              <a:t>F</a:t>
            </a:r>
            <a:r>
              <a:rPr dirty="0"/>
              <a:t>rame </a:t>
            </a:r>
            <a:endParaRPr lang="en-US" dirty="0"/>
          </a:p>
          <a:p>
            <a:pPr lvl="1"/>
            <a:r>
              <a:rPr lang="en-US" dirty="0"/>
              <a:t>R</a:t>
            </a:r>
            <a:r>
              <a:rPr dirty="0"/>
              <a:t>eports ranges</a:t>
            </a:r>
            <a:r>
              <a:rPr lang="en-US" dirty="0"/>
              <a:t> (similar to SACK in TCP)</a:t>
            </a:r>
          </a:p>
          <a:p>
            <a:pPr lvl="1"/>
            <a:r>
              <a:rPr lang="en-US" dirty="0"/>
              <a:t>E</a:t>
            </a:r>
            <a:r>
              <a:rPr dirty="0"/>
              <a:t>xplicit</a:t>
            </a:r>
            <a:r>
              <a:rPr lang="en-US" dirty="0"/>
              <a:t>ly indicates</a:t>
            </a:r>
            <a:r>
              <a:rPr dirty="0"/>
              <a:t> </a:t>
            </a:r>
            <a:r>
              <a:rPr lang="en-US" dirty="0"/>
              <a:t>"</a:t>
            </a:r>
            <a:r>
              <a:rPr dirty="0"/>
              <a:t>ACK Delay</a:t>
            </a:r>
            <a:r>
              <a:rPr lang="en-US" dirty="0"/>
              <a:t>” (impacts RTT estimate)</a:t>
            </a:r>
            <a:endParaRPr dirty="0"/>
          </a:p>
          <a:p>
            <a:pPr lvl="1"/>
            <a:r>
              <a:rPr lang="en-US" dirty="0"/>
              <a:t>Treat </a:t>
            </a:r>
            <a:r>
              <a:rPr dirty="0"/>
              <a:t>3+ </a:t>
            </a:r>
            <a:r>
              <a:rPr lang="en-US" dirty="0" err="1"/>
              <a:t>ACKed</a:t>
            </a:r>
            <a:r>
              <a:rPr lang="en-US" dirty="0"/>
              <a:t> </a:t>
            </a:r>
            <a:r>
              <a:rPr dirty="0"/>
              <a:t>packets ahead of an </a:t>
            </a:r>
            <a:r>
              <a:rPr dirty="0" err="1"/>
              <a:t>unacked</a:t>
            </a:r>
            <a:r>
              <a:rPr dirty="0"/>
              <a:t> </a:t>
            </a:r>
            <a:r>
              <a:rPr lang="en-US" dirty="0"/>
              <a:t>packet </a:t>
            </a:r>
            <a:r>
              <a:rPr dirty="0"/>
              <a:t>as </a:t>
            </a:r>
            <a:r>
              <a:rPr lang="en-US" dirty="0"/>
              <a:t>a </a:t>
            </a:r>
            <a:r>
              <a:rPr dirty="0"/>
              <a:t>los</a:t>
            </a:r>
            <a:r>
              <a:rPr lang="en-US" dirty="0"/>
              <a:t>s</a:t>
            </a:r>
          </a:p>
          <a:p>
            <a:r>
              <a:rPr lang="en-US" dirty="0"/>
              <a:t>When packet loss is detected…</a:t>
            </a:r>
          </a:p>
          <a:p>
            <a:pPr lvl="1"/>
            <a:r>
              <a:rPr lang="en-US" dirty="0"/>
              <a:t>Triggers Congestion Control (behavior is similar to TCP </a:t>
            </a:r>
            <a:r>
              <a:rPr lang="en-US" dirty="0" err="1"/>
              <a:t>NewReno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Retransmit all </a:t>
            </a:r>
            <a:r>
              <a:rPr lang="en-US" dirty="0" err="1"/>
              <a:t>unacked</a:t>
            </a:r>
            <a:r>
              <a:rPr lang="en-US" dirty="0"/>
              <a:t> data</a:t>
            </a:r>
          </a:p>
          <a:p>
            <a:pPr lvl="1"/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4E47F-78A5-C7E5-677B-AADDE4C1E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Timeout Calculation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38080" y="1548360"/>
            <a:ext cx="1003351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latin typeface="Lucida Console"/>
              </a:rPr>
              <a:t>max(</a:t>
            </a:r>
            <a:r>
              <a:rPr sz="2000" dirty="0" err="1">
                <a:latin typeface="Lucida Console"/>
              </a:rPr>
              <a:t>kTimeThreshold</a:t>
            </a:r>
            <a:r>
              <a:rPr sz="2000" dirty="0">
                <a:latin typeface="Lucida Console"/>
              </a:rPr>
              <a:t>  max(smoothed_rtt, latest_rtt), </a:t>
            </a:r>
            <a:r>
              <a:rPr sz="2000" dirty="0" err="1">
                <a:latin typeface="Lucida Console"/>
              </a:rPr>
              <a:t>kGranularity</a:t>
            </a:r>
            <a:r>
              <a:rPr sz="2000" dirty="0">
                <a:latin typeface="Lucida Console"/>
              </a:rPr>
              <a:t>)</a:t>
            </a:r>
            <a:endParaRPr lang="en-US" sz="2000" dirty="0">
              <a:latin typeface="Lucida Console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F1A0A8-2280-ECB6-C031-C2FB51A05BEF}"/>
              </a:ext>
            </a:extLst>
          </p:cNvPr>
          <p:cNvSpPr txBox="1">
            <a:spLocks/>
          </p:cNvSpPr>
          <p:nvPr/>
        </p:nvSpPr>
        <p:spPr>
          <a:xfrm>
            <a:off x="838080" y="2541629"/>
            <a:ext cx="10894574" cy="343416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20000"/>
              <a:buFont typeface="System Font Regular"/>
              <a:buChar char="-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>
                <a:latin typeface="Lucida Console" panose="020B0609040504020204" pitchFamily="49" charset="0"/>
              </a:rPr>
              <a:t>kGranularity</a:t>
            </a:r>
            <a:r>
              <a:rPr lang="en-US" sz="2400" dirty="0"/>
              <a:t> is the local timer granularity (1ms recommended)</a:t>
            </a:r>
          </a:p>
          <a:p>
            <a:pPr lvl="1"/>
            <a:r>
              <a:rPr lang="en-US" sz="2000" dirty="0"/>
              <a:t>Sets lower bound</a:t>
            </a:r>
          </a:p>
          <a:p>
            <a:r>
              <a:rPr lang="en-US" sz="2000" dirty="0" err="1">
                <a:latin typeface="Lucida Console" panose="020B0609040504020204" pitchFamily="49" charset="0"/>
              </a:rPr>
              <a:t>kTimeThreshold</a:t>
            </a:r>
            <a:r>
              <a:rPr lang="en-US" sz="2400" dirty="0"/>
              <a:t> is an empirically determined constant (9/8 recommended)</a:t>
            </a:r>
          </a:p>
          <a:p>
            <a:pPr lvl="1"/>
            <a:r>
              <a:rPr lang="en-US" sz="2000" dirty="0"/>
              <a:t>Means sender waits slightly more than the estimated RTT before declaring a packet lost </a:t>
            </a:r>
          </a:p>
          <a:p>
            <a:r>
              <a:rPr lang="en-US" sz="2000" dirty="0">
                <a:latin typeface="Lucida Console" panose="020B0609040504020204" pitchFamily="49" charset="0"/>
              </a:rPr>
              <a:t>max(</a:t>
            </a:r>
            <a:r>
              <a:rPr lang="en-US" sz="2000" dirty="0" err="1">
                <a:latin typeface="Lucida Console" panose="020B0609040504020204" pitchFamily="49" charset="0"/>
              </a:rPr>
              <a:t>smoothed_rtt</a:t>
            </a:r>
            <a:r>
              <a:rPr lang="en-US" sz="2000" dirty="0">
                <a:latin typeface="Lucida Console" panose="020B0609040504020204" pitchFamily="49" charset="0"/>
              </a:rPr>
              <a:t>, </a:t>
            </a:r>
            <a:r>
              <a:rPr lang="en-US" sz="2000" dirty="0" err="1">
                <a:latin typeface="Lucida Console" panose="020B0609040504020204" pitchFamily="49" charset="0"/>
              </a:rPr>
              <a:t>latest_rtt</a:t>
            </a:r>
            <a:r>
              <a:rPr lang="en-US" sz="2000" dirty="0">
                <a:latin typeface="Lucida Console" panose="020B0609040504020204" pitchFamily="49" charset="0"/>
              </a:rPr>
              <a:t>)</a:t>
            </a:r>
          </a:p>
          <a:p>
            <a:pPr lvl="1"/>
            <a:r>
              <a:rPr lang="en-US" sz="2000" dirty="0"/>
              <a:t>Means a sudden drop in RTT measurement will be ignored</a:t>
            </a:r>
          </a:p>
          <a:p>
            <a:pPr lvl="1"/>
            <a:r>
              <a:rPr lang="en-US" sz="2000" dirty="0"/>
              <a:t>Means a sudden rise in RTT causes sender to wait longer before declaring a packet loss </a:t>
            </a:r>
          </a:p>
          <a:p>
            <a:pPr lvl="1"/>
            <a:endParaRPr lang="en-US" sz="20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BAD6EF1-A565-9368-396F-AF035A853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A1C5B-7EB5-62D7-791C-503D4D3B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8E30D-E31C-600B-CCF6-5AB967162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Probe Timeout Calculation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26785-F9DF-D785-EAA3-E6E23A1E4D7F}"/>
              </a:ext>
            </a:extLst>
          </p:cNvPr>
          <p:cNvSpPr txBox="1"/>
          <p:nvPr/>
        </p:nvSpPr>
        <p:spPr>
          <a:xfrm>
            <a:off x="838080" y="1548360"/>
            <a:ext cx="941796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latin typeface="Lucida Console"/>
              </a:rPr>
              <a:t>smoothed_rtt</a:t>
            </a:r>
            <a:r>
              <a:rPr sz="2000" dirty="0">
                <a:latin typeface="Lucida Console"/>
              </a:rPr>
              <a:t> + max(4 </a:t>
            </a:r>
            <a:r>
              <a:rPr lang="en-US" sz="2000" dirty="0">
                <a:latin typeface="Lucida Console"/>
              </a:rPr>
              <a:t>x</a:t>
            </a:r>
            <a:r>
              <a:rPr sz="2000" dirty="0">
                <a:latin typeface="Lucida Console"/>
              </a:rPr>
              <a:t> rttvar, kGranularity) + </a:t>
            </a:r>
            <a:r>
              <a:rPr sz="2000" dirty="0" err="1">
                <a:latin typeface="Lucida Console"/>
              </a:rPr>
              <a:t>max_ack_delay</a:t>
            </a:r>
            <a:endParaRPr lang="en-US" sz="2000" dirty="0">
              <a:latin typeface="Lucida Console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F8A1817-134E-99F6-8CAB-8934EA44E416}"/>
              </a:ext>
            </a:extLst>
          </p:cNvPr>
          <p:cNvSpPr txBox="1">
            <a:spLocks/>
          </p:cNvSpPr>
          <p:nvPr/>
        </p:nvSpPr>
        <p:spPr>
          <a:xfrm>
            <a:off x="838080" y="2541629"/>
            <a:ext cx="10894574" cy="276801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20000"/>
              <a:buFont typeface="System Font Regular"/>
              <a:buChar char="-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>
                <a:latin typeface="Lucida Console" panose="020B0609040504020204" pitchFamily="49" charset="0"/>
              </a:rPr>
              <a:t>rttvar</a:t>
            </a:r>
            <a:r>
              <a:rPr lang="en-US" sz="2400" dirty="0"/>
              <a:t> is the variance in observed RTT</a:t>
            </a:r>
          </a:p>
          <a:p>
            <a:r>
              <a:rPr lang="en-US" sz="2000" dirty="0" err="1">
                <a:latin typeface="Lucida Console" panose="020B0609040504020204" pitchFamily="49" charset="0"/>
              </a:rPr>
              <a:t>max_ack_delay</a:t>
            </a:r>
            <a:r>
              <a:rPr lang="en-US" sz="2000" dirty="0">
                <a:cs typeface="Calibri" panose="020F0502020204030204" pitchFamily="34" charset="0"/>
              </a:rPr>
              <a:t> </a:t>
            </a:r>
            <a:r>
              <a:rPr lang="en-US" sz="2400" dirty="0">
                <a:cs typeface="Calibri" panose="020F0502020204030204" pitchFamily="34" charset="0"/>
              </a:rPr>
              <a:t>is maximum time receiver might delay an ACK</a:t>
            </a:r>
            <a:endParaRPr lang="en-US" sz="2000" dirty="0">
              <a:latin typeface="Lucida Console" panose="020B0609040504020204" pitchFamily="49" charset="0"/>
            </a:endParaRPr>
          </a:p>
          <a:p>
            <a:r>
              <a:rPr lang="en-US" sz="2400" dirty="0"/>
              <a:t>Send a “Probe” to receiver</a:t>
            </a:r>
          </a:p>
          <a:p>
            <a:pPr lvl="1"/>
            <a:r>
              <a:rPr lang="en-US" sz="2000" dirty="0"/>
              <a:t>New Data, Retransmission, or PING</a:t>
            </a:r>
          </a:p>
          <a:p>
            <a:pPr lvl="1"/>
            <a:r>
              <a:rPr lang="en-US" sz="2000" dirty="0"/>
              <a:t>Purpose is to restart ACKs </a:t>
            </a:r>
          </a:p>
          <a:p>
            <a:pPr lvl="1"/>
            <a:endParaRPr lang="en-US" sz="20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CAB9163-9E27-1D3E-0CD6-576E1AAA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367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Connection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8224"/>
            <a:ext cx="10515600" cy="4826817"/>
          </a:xfrm>
        </p:spPr>
        <p:txBody>
          <a:bodyPr>
            <a:normAutofit/>
          </a:bodyPr>
          <a:lstStyle/>
          <a:p>
            <a:r>
              <a:rPr dirty="0"/>
              <a:t>Connection ID identifies the connection</a:t>
            </a:r>
            <a:endParaRPr lang="en-US" dirty="0"/>
          </a:p>
          <a:p>
            <a:pPr lvl="1"/>
            <a:r>
              <a:rPr lang="en-US" dirty="0"/>
              <a:t>In contrast to TCP, which uses IP address as part of the “connection key”</a:t>
            </a:r>
          </a:p>
          <a:p>
            <a:r>
              <a:rPr lang="en-US" dirty="0"/>
              <a:t>Makes it possible to migrate from one network to another</a:t>
            </a:r>
          </a:p>
          <a:p>
            <a:pPr lvl="1"/>
            <a:r>
              <a:rPr lang="en-US" dirty="0"/>
              <a:t>Example: 5G to Wi-Fi</a:t>
            </a:r>
            <a:endParaRPr dirty="0"/>
          </a:p>
          <a:p>
            <a:r>
              <a:rPr lang="en-US" dirty="0"/>
              <a:t>Problem: there are </a:t>
            </a:r>
            <a:r>
              <a:rPr dirty="0"/>
              <a:t>spoofing and amplification</a:t>
            </a:r>
            <a:r>
              <a:rPr lang="en-US" dirty="0"/>
              <a:t> risks</a:t>
            </a:r>
            <a:r>
              <a:rPr dirty="0"/>
              <a:t> </a:t>
            </a:r>
          </a:p>
          <a:p>
            <a:r>
              <a:rPr lang="en-US" dirty="0"/>
              <a:t>Solution: QUIC requires “p</a:t>
            </a:r>
            <a:r>
              <a:rPr dirty="0"/>
              <a:t>ath validation</a:t>
            </a:r>
            <a:r>
              <a:rPr lang="en-US" dirty="0"/>
              <a:t>” upon migration</a:t>
            </a:r>
          </a:p>
          <a:p>
            <a:pPr lvl="1"/>
            <a:r>
              <a:rPr lang="en-US" dirty="0"/>
              <a:t>Client simply starts using new IP address with existing Connection ID</a:t>
            </a:r>
          </a:p>
          <a:p>
            <a:pPr lvl="1"/>
            <a:r>
              <a:rPr lang="en-US" dirty="0"/>
              <a:t>Server sends a </a:t>
            </a:r>
            <a:r>
              <a:rPr dirty="0"/>
              <a:t>PATH_CHALLENGE </a:t>
            </a:r>
            <a:r>
              <a:rPr lang="en-US" dirty="0"/>
              <a:t>frame to client</a:t>
            </a:r>
          </a:p>
          <a:p>
            <a:pPr lvl="1"/>
            <a:r>
              <a:rPr lang="en-US" dirty="0"/>
              <a:t>Includes random data (which is always encrypted in QUIC)</a:t>
            </a:r>
          </a:p>
          <a:p>
            <a:pPr lvl="1"/>
            <a:r>
              <a:rPr lang="en-US" dirty="0"/>
              <a:t>Expects client to </a:t>
            </a:r>
            <a:r>
              <a:rPr dirty="0"/>
              <a:t>respon</a:t>
            </a:r>
            <a:r>
              <a:rPr lang="en-US" dirty="0"/>
              <a:t>d with that random data before trusting it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D465C-55BB-6146-6781-AA0029FC9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Remote DMA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E7BA22-5A4B-85D2-014A-134F1892C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661" y="1476359"/>
            <a:ext cx="5454097" cy="4712567"/>
          </a:xfrm>
        </p:spPr>
        <p:txBody>
          <a:bodyPr>
            <a:normAutofit/>
          </a:bodyPr>
          <a:lstStyle/>
          <a:p>
            <a:r>
              <a:rPr lang="en-US" sz="2400" dirty="0"/>
              <a:t>E</a:t>
            </a:r>
            <a:r>
              <a:rPr sz="2400" dirty="0"/>
              <a:t>xtend</a:t>
            </a:r>
            <a:r>
              <a:rPr lang="en-US" sz="2400" dirty="0"/>
              <a:t>s DMA</a:t>
            </a:r>
            <a:r>
              <a:rPr sz="2400" dirty="0"/>
              <a:t> </a:t>
            </a:r>
            <a:r>
              <a:rPr lang="en-US" sz="2400" dirty="0"/>
              <a:t>over</a:t>
            </a:r>
            <a:r>
              <a:rPr sz="2400" dirty="0"/>
              <a:t> the network</a:t>
            </a:r>
            <a:endParaRPr lang="en-US" sz="2400" dirty="0"/>
          </a:p>
          <a:p>
            <a:pPr lvl="1"/>
            <a:r>
              <a:rPr lang="en-US" sz="2000" dirty="0"/>
              <a:t>R</a:t>
            </a:r>
            <a:r>
              <a:rPr sz="2000" dirty="0"/>
              <a:t>ead/</a:t>
            </a:r>
            <a:r>
              <a:rPr lang="en-US" sz="2000" dirty="0"/>
              <a:t>W</a:t>
            </a:r>
            <a:r>
              <a:rPr sz="2000" dirty="0"/>
              <a:t>rite a remote process's memory</a:t>
            </a:r>
          </a:p>
          <a:p>
            <a:r>
              <a:rPr sz="2400" dirty="0"/>
              <a:t>Roots in H</a:t>
            </a:r>
            <a:r>
              <a:rPr lang="en-US" sz="2400" dirty="0"/>
              <a:t>igh-</a:t>
            </a:r>
            <a:r>
              <a:rPr sz="2400" dirty="0"/>
              <a:t>P</a:t>
            </a:r>
            <a:r>
              <a:rPr lang="en-US" sz="2400" dirty="0"/>
              <a:t>erformance </a:t>
            </a:r>
            <a:r>
              <a:rPr sz="2400" dirty="0"/>
              <a:t>C</a:t>
            </a:r>
            <a:r>
              <a:rPr lang="en-US" sz="2400" dirty="0"/>
              <a:t>omputing</a:t>
            </a:r>
          </a:p>
          <a:p>
            <a:pPr lvl="1"/>
            <a:r>
              <a:rPr lang="en-US" sz="2000" dirty="0"/>
              <a:t>Originally ran on supercomputers with purpose-built interconnects</a:t>
            </a:r>
          </a:p>
          <a:p>
            <a:pPr lvl="1"/>
            <a:r>
              <a:rPr lang="en-US" sz="2000" dirty="0"/>
              <a:t>Today runs on commodity servers connected by a datacenter fabric</a:t>
            </a:r>
          </a:p>
          <a:p>
            <a:r>
              <a:rPr lang="en-US" sz="2400" dirty="0"/>
              <a:t>InfiniBand</a:t>
            </a:r>
            <a:r>
              <a:rPr lang="en-US" sz="2000" baseline="30000" dirty="0"/>
              <a:t>TM</a:t>
            </a:r>
            <a:r>
              <a:rPr lang="en-US" sz="2400" baseline="30000" dirty="0"/>
              <a:t> </a:t>
            </a:r>
            <a:r>
              <a:rPr lang="en-US" sz="2400" dirty="0"/>
              <a:t>is the canonical technology</a:t>
            </a:r>
          </a:p>
          <a:p>
            <a:pPr lvl="1"/>
            <a:r>
              <a:rPr lang="en-US" sz="2000" dirty="0"/>
              <a:t>Avoids TCP complexity</a:t>
            </a:r>
          </a:p>
          <a:p>
            <a:pPr lvl="1"/>
            <a:r>
              <a:rPr lang="en-US" sz="2000" dirty="0"/>
              <a:t>Avoids OS overheads</a:t>
            </a:r>
          </a:p>
          <a:p>
            <a:pPr lvl="1"/>
            <a:r>
              <a:rPr lang="en-US" sz="2000" dirty="0"/>
              <a:t>Avoids Ethernet switch congestion</a:t>
            </a:r>
          </a:p>
          <a:p>
            <a:pPr marL="0" indent="0">
              <a:buNone/>
            </a:pPr>
            <a:endParaRPr lang="en-US" sz="2000" baseline="30000" dirty="0"/>
          </a:p>
        </p:txBody>
      </p:sp>
      <p:pic>
        <p:nvPicPr>
          <p:cNvPr id="4" name="Picture 3" descr="rd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177" y="1476360"/>
            <a:ext cx="5073169" cy="446724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234DDE-D084-D333-C6D5-E6E49924A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Verbs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6053374" cy="4351320"/>
          </a:xfrm>
        </p:spPr>
        <p:txBody>
          <a:bodyPr>
            <a:normAutofit/>
          </a:bodyPr>
          <a:lstStyle/>
          <a:p>
            <a:r>
              <a:rPr sz="2400" dirty="0"/>
              <a:t>De facto standard, low-level RDMA</a:t>
            </a:r>
            <a:r>
              <a:rPr lang="en-US" sz="2400" dirty="0"/>
              <a:t> interface</a:t>
            </a:r>
            <a:endParaRPr sz="2400" dirty="0"/>
          </a:p>
          <a:p>
            <a:r>
              <a:rPr sz="2400" dirty="0"/>
              <a:t>Higher-level libraries sit on top</a:t>
            </a:r>
            <a:endParaRPr lang="en-US" sz="2400" dirty="0"/>
          </a:p>
          <a:p>
            <a:pPr lvl="1"/>
            <a:r>
              <a:rPr lang="en-US" sz="2000" dirty="0"/>
              <a:t>e.g., </a:t>
            </a:r>
            <a:r>
              <a:rPr sz="2000" dirty="0"/>
              <a:t>MPI, GPI, OFI, NCCL</a:t>
            </a:r>
            <a:endParaRPr lang="en-US" sz="2000" dirty="0"/>
          </a:p>
          <a:p>
            <a:pPr lvl="1"/>
            <a:r>
              <a:rPr lang="en-US" sz="2000" dirty="0"/>
              <a:t>e.g., Scatter / Shuffle / Gather behavior</a:t>
            </a:r>
            <a:endParaRPr sz="2000" dirty="0"/>
          </a:p>
          <a:p>
            <a:r>
              <a:rPr sz="2400" dirty="0"/>
              <a:t>Converged Ethernet </a:t>
            </a:r>
            <a:r>
              <a:rPr lang="en-US" sz="2400" dirty="0"/>
              <a:t>aims to decouple Verbs  from </a:t>
            </a:r>
            <a:r>
              <a:rPr sz="2400" dirty="0"/>
              <a:t>InfiniBand</a:t>
            </a:r>
          </a:p>
        </p:txBody>
      </p:sp>
      <p:pic>
        <p:nvPicPr>
          <p:cNvPr id="4" name="Picture 3" descr="ver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906" y="1476360"/>
            <a:ext cx="3433441" cy="435132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77FFB-24B0-3648-17AC-72C0F1B38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RDMA Software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6462"/>
            <a:ext cx="5181480" cy="435132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Lucida Sans" panose="020B0602030504020204" pitchFamily="34" charset="77"/>
              </a:rPr>
              <a:t>l</a:t>
            </a:r>
            <a:r>
              <a:rPr sz="2400" dirty="0">
                <a:latin typeface="Lucida Sans" panose="020B0602030504020204" pitchFamily="34" charset="77"/>
              </a:rPr>
              <a:t>ibibverbs</a:t>
            </a:r>
            <a:endParaRPr lang="en-US" sz="2400" dirty="0">
              <a:latin typeface="Lucida Sans" panose="020B0602030504020204" pitchFamily="34" charset="77"/>
            </a:endParaRPr>
          </a:p>
          <a:p>
            <a:pPr lvl="1"/>
            <a:r>
              <a:rPr lang="en-US" sz="2000" dirty="0"/>
              <a:t>Device-like</a:t>
            </a:r>
            <a:r>
              <a:rPr sz="2000" dirty="0"/>
              <a:t> interface</a:t>
            </a:r>
            <a:endParaRPr lang="en-US" sz="2000" dirty="0"/>
          </a:p>
          <a:p>
            <a:pPr lvl="1"/>
            <a:r>
              <a:rPr lang="en-US" sz="2000" dirty="0"/>
              <a:t>T</a:t>
            </a:r>
            <a:r>
              <a:rPr sz="2000" dirty="0"/>
              <a:t>alks directly to the NIC</a:t>
            </a:r>
            <a:endParaRPr lang="en-US" sz="2000" dirty="0"/>
          </a:p>
          <a:p>
            <a:pPr lvl="1"/>
            <a:r>
              <a:rPr lang="en-US" sz="2000" dirty="0"/>
              <a:t>B</a:t>
            </a:r>
            <a:r>
              <a:rPr sz="2000" dirty="0"/>
              <a:t>ypasses the OS</a:t>
            </a:r>
          </a:p>
          <a:p>
            <a:r>
              <a:rPr lang="en-US" sz="2400" dirty="0">
                <a:latin typeface="Lucida Sans" panose="020B0602030504020204" pitchFamily="34" charset="77"/>
              </a:rPr>
              <a:t>l</a:t>
            </a:r>
            <a:r>
              <a:rPr sz="2400" dirty="0">
                <a:latin typeface="Lucida Sans" panose="020B0602030504020204" pitchFamily="34" charset="77"/>
              </a:rPr>
              <a:t>ibrdmacm</a:t>
            </a:r>
            <a:endParaRPr lang="en-US" sz="2400" dirty="0">
              <a:latin typeface="Lucida Sans" panose="020B0602030504020204" pitchFamily="34" charset="77"/>
            </a:endParaRPr>
          </a:p>
          <a:p>
            <a:pPr lvl="1"/>
            <a:r>
              <a:rPr lang="en-US" sz="2000" dirty="0"/>
              <a:t>C</a:t>
            </a:r>
            <a:r>
              <a:rPr sz="2000" dirty="0"/>
              <a:t>onnection management wrapper</a:t>
            </a:r>
            <a:endParaRPr lang="en-US" sz="2000" dirty="0"/>
          </a:p>
          <a:p>
            <a:pPr lvl="1"/>
            <a:r>
              <a:rPr lang="en-US" sz="2000" dirty="0"/>
              <a:t>Significant complexity / overhead</a:t>
            </a:r>
          </a:p>
          <a:p>
            <a:r>
              <a:rPr lang="en-US" sz="2400" dirty="0"/>
              <a:t>HCA: Host Channel Adaptor</a:t>
            </a:r>
          </a:p>
          <a:p>
            <a:pPr lvl="1"/>
            <a:r>
              <a:rPr lang="en-US" sz="2000" dirty="0"/>
              <a:t>Implements “transport protocol”</a:t>
            </a:r>
          </a:p>
          <a:p>
            <a:pPr lvl="1"/>
            <a:r>
              <a:rPr lang="en-US" sz="2000" dirty="0">
                <a:latin typeface="Lucida Sans" panose="020B0602030504020204" pitchFamily="34" charset="77"/>
              </a:rPr>
              <a:t>Soft-RoCE</a:t>
            </a:r>
            <a:r>
              <a:rPr lang="en-US" sz="2000" dirty="0"/>
              <a:t> is a software option</a:t>
            </a:r>
            <a:endParaRPr sz="2000" dirty="0"/>
          </a:p>
        </p:txBody>
      </p:sp>
      <p:pic>
        <p:nvPicPr>
          <p:cNvPr id="4" name="Picture 3" descr="libibver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543" y="1247560"/>
            <a:ext cx="2086560" cy="4629124"/>
          </a:xfrm>
          <a:prstGeom prst="rect">
            <a:avLst/>
          </a:prstGeom>
        </p:spPr>
      </p:pic>
      <p:pic>
        <p:nvPicPr>
          <p:cNvPr id="5" name="Picture 4" descr="soft-roce.png">
            <a:extLst>
              <a:ext uri="{FF2B5EF4-FFF2-40B4-BE49-F238E27FC236}">
                <a16:creationId xmlns:a16="http://schemas.microsoft.com/office/drawing/2014/main" id="{3E00454C-4F12-1DB1-C215-7CBA49782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9264" y="1247560"/>
            <a:ext cx="2086559" cy="470444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D9F104-51D4-E306-316B-C68D6D2D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Connection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8224"/>
            <a:ext cx="10681010" cy="4908331"/>
          </a:xfrm>
        </p:spPr>
        <p:txBody>
          <a:bodyPr>
            <a:normAutofit/>
          </a:bodyPr>
          <a:lstStyle/>
          <a:p>
            <a:r>
              <a:rPr dirty="0"/>
              <a:t>Queue </a:t>
            </a:r>
            <a:r>
              <a:rPr lang="en-US" dirty="0"/>
              <a:t>P</a:t>
            </a:r>
            <a:r>
              <a:rPr dirty="0"/>
              <a:t>air (QP): local handle for the endpoint, like a socket</a:t>
            </a:r>
          </a:p>
          <a:p>
            <a:r>
              <a:rPr dirty="0"/>
              <a:t>Completion </a:t>
            </a:r>
            <a:r>
              <a:rPr lang="en-US" dirty="0"/>
              <a:t>Q</a:t>
            </a:r>
            <a:r>
              <a:rPr dirty="0"/>
              <a:t>ueue: notified when a send or receive finishes</a:t>
            </a:r>
          </a:p>
          <a:p>
            <a:r>
              <a:rPr dirty="0"/>
              <a:t>Register memory buffers that peers are allowed to access</a:t>
            </a:r>
          </a:p>
          <a:p>
            <a:r>
              <a:rPr dirty="0"/>
              <a:t>One-time setup cost </a:t>
            </a:r>
            <a:r>
              <a:rPr lang="en-US" i="1" dirty="0"/>
              <a:t>—</a:t>
            </a:r>
            <a:r>
              <a:rPr dirty="0"/>
              <a:t> fine for a long-running job, not a browser</a:t>
            </a:r>
            <a:endParaRPr lang="en-US" dirty="0"/>
          </a:p>
          <a:p>
            <a:endParaRPr lang="en-US" dirty="0"/>
          </a:p>
          <a:p>
            <a:r>
              <a:rPr lang="en-US" dirty="0"/>
              <a:t>One-Sided Operations</a:t>
            </a:r>
          </a:p>
          <a:p>
            <a:pPr lvl="1"/>
            <a:r>
              <a:rPr lang="en-US" sz="2200" dirty="0">
                <a:latin typeface="Lucida Sans" panose="020B0602030504020204" pitchFamily="34" charset="77"/>
              </a:rPr>
              <a:t>Read</a:t>
            </a:r>
            <a:r>
              <a:rPr lang="en-US" dirty="0"/>
              <a:t>: copy a remote block into a local buffer, no notice to the remote host</a:t>
            </a:r>
          </a:p>
          <a:p>
            <a:pPr lvl="1"/>
            <a:r>
              <a:rPr lang="en-US" sz="2200" dirty="0">
                <a:latin typeface="Lucida Sans" panose="020B0602030504020204" pitchFamily="34" charset="77"/>
              </a:rPr>
              <a:t>Write / Write-with-Immediate</a:t>
            </a:r>
            <a:r>
              <a:rPr lang="en-US" dirty="0"/>
              <a:t>: write remote memory, optional notification</a:t>
            </a:r>
          </a:p>
          <a:p>
            <a:pPr lvl="1"/>
            <a:r>
              <a:rPr lang="en-US" sz="2200" dirty="0">
                <a:latin typeface="Lucida Sans" panose="020B0602030504020204" pitchFamily="34" charset="77"/>
              </a:rPr>
              <a:t>Fetch-and-Add / Compare-and-Swap</a:t>
            </a:r>
            <a:r>
              <a:rPr lang="en-US" dirty="0"/>
              <a:t>: atomic operations for synchronization</a:t>
            </a:r>
          </a:p>
          <a:p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1EBF4-5AB0-8747-96E6-F88B24773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RDMA Write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079" y="1403397"/>
            <a:ext cx="1051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Lucida Console"/>
              </a:rPr>
              <a:t>// Register </a:t>
            </a:r>
            <a:r>
              <a:rPr dirty="0" err="1">
                <a:latin typeface="Lucida Console"/>
              </a:rPr>
              <a:t>buf</a:t>
            </a:r>
            <a:r>
              <a:rPr dirty="0">
                <a:latin typeface="Lucida Console"/>
              </a:rPr>
              <a:t> with the NIC, then post the write in four steps</a:t>
            </a:r>
          </a:p>
          <a:p>
            <a:r>
              <a:rPr dirty="0">
                <a:latin typeface="Lucida Console"/>
              </a:rPr>
              <a:t>char </a:t>
            </a:r>
            <a:r>
              <a:rPr dirty="0" err="1">
                <a:latin typeface="Lucida Console"/>
              </a:rPr>
              <a:t>buf</a:t>
            </a:r>
            <a:r>
              <a:rPr dirty="0">
                <a:latin typeface="Lucida Console"/>
              </a:rPr>
              <a:t>[] = "Hello World";</a:t>
            </a:r>
          </a:p>
          <a:p>
            <a:r>
              <a:rPr dirty="0">
                <a:latin typeface="Lucida Console"/>
              </a:rPr>
              <a:t>struct </a:t>
            </a:r>
            <a:r>
              <a:rPr dirty="0" err="1">
                <a:latin typeface="Lucida Console"/>
              </a:rPr>
              <a:t>ibv_mr</a:t>
            </a:r>
            <a:r>
              <a:rPr dirty="0">
                <a:latin typeface="Lucida Console"/>
              </a:rPr>
              <a:t> *</a:t>
            </a:r>
            <a:r>
              <a:rPr dirty="0" err="1">
                <a:latin typeface="Lucida Console"/>
              </a:rPr>
              <a:t>mr</a:t>
            </a:r>
            <a:r>
              <a:rPr dirty="0">
                <a:latin typeface="Lucida Console"/>
              </a:rPr>
              <a:t> = </a:t>
            </a:r>
            <a:r>
              <a:rPr dirty="0" err="1">
                <a:latin typeface="Lucida Console"/>
              </a:rPr>
              <a:t>ibv_reg_mr</a:t>
            </a:r>
            <a:r>
              <a:rPr dirty="0">
                <a:latin typeface="Lucida Console"/>
              </a:rPr>
              <a:t>(pd, </a:t>
            </a:r>
            <a:r>
              <a:rPr dirty="0" err="1">
                <a:latin typeface="Lucida Console"/>
              </a:rPr>
              <a:t>buf</a:t>
            </a:r>
            <a:r>
              <a:rPr dirty="0">
                <a:latin typeface="Lucida Console"/>
              </a:rPr>
              <a:t>, </a:t>
            </a:r>
            <a:r>
              <a:rPr dirty="0" err="1">
                <a:latin typeface="Lucida Console"/>
              </a:rPr>
              <a:t>sizeof</a:t>
            </a:r>
            <a:r>
              <a:rPr dirty="0">
                <a:latin typeface="Lucida Console"/>
              </a:rPr>
              <a:t>(</a:t>
            </a:r>
            <a:r>
              <a:rPr dirty="0" err="1">
                <a:latin typeface="Lucida Console"/>
              </a:rPr>
              <a:t>buf</a:t>
            </a:r>
            <a:r>
              <a:rPr dirty="0">
                <a:latin typeface="Lucida Console"/>
              </a:rPr>
              <a:t>), 0);</a:t>
            </a:r>
          </a:p>
          <a:p>
            <a:r>
              <a:rPr dirty="0" err="1">
                <a:latin typeface="Lucida Console"/>
              </a:rPr>
              <a:t>ibv_wr_start</a:t>
            </a:r>
            <a:r>
              <a:rPr dirty="0">
                <a:latin typeface="Lucida Console"/>
              </a:rPr>
              <a:t>(</a:t>
            </a:r>
            <a:r>
              <a:rPr dirty="0" err="1">
                <a:latin typeface="Lucida Console"/>
              </a:rPr>
              <a:t>qpx</a:t>
            </a:r>
            <a:r>
              <a:rPr dirty="0">
                <a:latin typeface="Lucida Console"/>
              </a:rPr>
              <a:t>);</a:t>
            </a:r>
            <a:endParaRPr lang="en-US" dirty="0">
              <a:latin typeface="Lucida Console"/>
            </a:endParaRPr>
          </a:p>
          <a:p>
            <a:r>
              <a:rPr lang="en-US" dirty="0" err="1">
                <a:solidFill>
                  <a:schemeClr val="bg1"/>
                </a:solidFill>
                <a:highlight>
                  <a:srgbClr val="808080"/>
                </a:highlight>
                <a:latin typeface="Lucida Console"/>
              </a:rPr>
              <a:t>ibv_wr_set_flags</a:t>
            </a:r>
            <a:r>
              <a:rPr lang="en-US" dirty="0">
                <a:solidFill>
                  <a:schemeClr val="bg1"/>
                </a:solidFill>
                <a:highlight>
                  <a:srgbClr val="808080"/>
                </a:highlight>
                <a:latin typeface="Lucida Console"/>
              </a:rPr>
              <a:t>(</a:t>
            </a:r>
            <a:r>
              <a:rPr lang="en-US" dirty="0" err="1">
                <a:solidFill>
                  <a:schemeClr val="bg1"/>
                </a:solidFill>
                <a:highlight>
                  <a:srgbClr val="808080"/>
                </a:highlight>
                <a:latin typeface="Lucida Console"/>
              </a:rPr>
              <a:t>qpx</a:t>
            </a:r>
            <a:r>
              <a:rPr lang="en-US" dirty="0">
                <a:solidFill>
                  <a:schemeClr val="bg1"/>
                </a:solidFill>
                <a:highlight>
                  <a:srgbClr val="808080"/>
                </a:highlight>
                <a:latin typeface="Lucida Console"/>
              </a:rPr>
              <a:t>, IBV_SEND_SIGNALED); // Optional Request notification</a:t>
            </a:r>
            <a:endParaRPr dirty="0">
              <a:solidFill>
                <a:schemeClr val="bg1"/>
              </a:solidFill>
              <a:highlight>
                <a:srgbClr val="808080"/>
              </a:highlight>
              <a:latin typeface="Lucida Console"/>
            </a:endParaRPr>
          </a:p>
          <a:p>
            <a:r>
              <a:rPr dirty="0" err="1">
                <a:latin typeface="Lucida Console"/>
              </a:rPr>
              <a:t>ibv_wr_rdma_write</a:t>
            </a:r>
            <a:r>
              <a:rPr dirty="0">
                <a:latin typeface="Lucida Console"/>
              </a:rPr>
              <a:t>(</a:t>
            </a:r>
            <a:r>
              <a:rPr dirty="0" err="1">
                <a:latin typeface="Lucida Console"/>
              </a:rPr>
              <a:t>qpx</a:t>
            </a:r>
            <a:r>
              <a:rPr dirty="0">
                <a:latin typeface="Lucida Console"/>
              </a:rPr>
              <a:t>, </a:t>
            </a:r>
            <a:r>
              <a:rPr dirty="0" err="1">
                <a:latin typeface="Lucida Console"/>
              </a:rPr>
              <a:t>remote_rkey</a:t>
            </a:r>
            <a:r>
              <a:rPr dirty="0">
                <a:latin typeface="Lucida Console"/>
              </a:rPr>
              <a:t>, </a:t>
            </a:r>
            <a:r>
              <a:rPr dirty="0" err="1">
                <a:latin typeface="Lucida Console"/>
              </a:rPr>
              <a:t>remote_addr</a:t>
            </a:r>
            <a:r>
              <a:rPr dirty="0">
                <a:latin typeface="Lucida Console"/>
              </a:rPr>
              <a:t>);</a:t>
            </a:r>
          </a:p>
          <a:p>
            <a:r>
              <a:rPr dirty="0" err="1">
                <a:latin typeface="Lucida Console"/>
              </a:rPr>
              <a:t>ibv_wr_set_sge</a:t>
            </a:r>
            <a:r>
              <a:rPr dirty="0">
                <a:latin typeface="Lucida Console"/>
              </a:rPr>
              <a:t>(</a:t>
            </a:r>
            <a:r>
              <a:rPr dirty="0" err="1">
                <a:latin typeface="Lucida Console"/>
              </a:rPr>
              <a:t>qpx</a:t>
            </a:r>
            <a:r>
              <a:rPr dirty="0">
                <a:latin typeface="Lucida Console"/>
              </a:rPr>
              <a:t>, </a:t>
            </a:r>
            <a:r>
              <a:rPr dirty="0" err="1">
                <a:latin typeface="Lucida Console"/>
              </a:rPr>
              <a:t>mr</a:t>
            </a:r>
            <a:r>
              <a:rPr dirty="0">
                <a:latin typeface="Lucida Console"/>
              </a:rPr>
              <a:t>-&gt;</a:t>
            </a:r>
            <a:r>
              <a:rPr dirty="0" err="1">
                <a:latin typeface="Lucida Console"/>
              </a:rPr>
              <a:t>lkey</a:t>
            </a:r>
            <a:r>
              <a:rPr dirty="0">
                <a:latin typeface="Lucida Console"/>
              </a:rPr>
              <a:t>, (</a:t>
            </a:r>
            <a:r>
              <a:rPr dirty="0" err="1">
                <a:latin typeface="Lucida Console"/>
              </a:rPr>
              <a:t>uintptr_t</a:t>
            </a:r>
            <a:r>
              <a:rPr dirty="0">
                <a:latin typeface="Lucida Console"/>
              </a:rPr>
              <a:t>)</a:t>
            </a:r>
            <a:r>
              <a:rPr dirty="0" err="1">
                <a:latin typeface="Lucida Console"/>
              </a:rPr>
              <a:t>buf</a:t>
            </a:r>
            <a:r>
              <a:rPr dirty="0">
                <a:latin typeface="Lucida Console"/>
              </a:rPr>
              <a:t>, </a:t>
            </a:r>
            <a:r>
              <a:rPr dirty="0" err="1">
                <a:latin typeface="Lucida Console"/>
              </a:rPr>
              <a:t>sizeof</a:t>
            </a:r>
            <a:r>
              <a:rPr dirty="0">
                <a:latin typeface="Lucida Console"/>
              </a:rPr>
              <a:t>(</a:t>
            </a:r>
            <a:r>
              <a:rPr dirty="0" err="1">
                <a:latin typeface="Lucida Console"/>
              </a:rPr>
              <a:t>buf</a:t>
            </a:r>
            <a:r>
              <a:rPr dirty="0">
                <a:latin typeface="Lucida Console"/>
              </a:rPr>
              <a:t>));</a:t>
            </a:r>
            <a:endParaRPr lang="en-US" dirty="0">
              <a:latin typeface="Lucida Console"/>
            </a:endParaRPr>
          </a:p>
          <a:p>
            <a:r>
              <a:rPr dirty="0" err="1">
                <a:latin typeface="Lucida Console"/>
              </a:rPr>
              <a:t>ibv_wr_complete</a:t>
            </a:r>
            <a:r>
              <a:rPr dirty="0">
                <a:latin typeface="Lucida Console"/>
              </a:rPr>
              <a:t>(</a:t>
            </a:r>
            <a:r>
              <a:rPr dirty="0" err="1">
                <a:latin typeface="Lucida Console"/>
              </a:rPr>
              <a:t>qpx</a:t>
            </a:r>
            <a:r>
              <a:rPr dirty="0">
                <a:latin typeface="Lucida Console"/>
              </a:rPr>
              <a:t>);  // NIC has accepted it for sending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079" y="4023931"/>
            <a:ext cx="110602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Lucida Console"/>
              </a:rPr>
              <a:t>// Threads typically spin-poll rather than block</a:t>
            </a:r>
          </a:p>
          <a:p>
            <a:r>
              <a:rPr dirty="0">
                <a:latin typeface="Lucida Console"/>
              </a:rPr>
              <a:t>struct </a:t>
            </a:r>
            <a:r>
              <a:rPr dirty="0" err="1">
                <a:latin typeface="Lucida Console"/>
              </a:rPr>
              <a:t>ibv_wc</a:t>
            </a:r>
            <a:r>
              <a:rPr dirty="0">
                <a:latin typeface="Lucida Console"/>
              </a:rPr>
              <a:t> </a:t>
            </a:r>
            <a:r>
              <a:rPr dirty="0" err="1">
                <a:latin typeface="Lucida Console"/>
              </a:rPr>
              <a:t>wc</a:t>
            </a:r>
            <a:r>
              <a:rPr dirty="0">
                <a:latin typeface="Lucida Console"/>
              </a:rPr>
              <a:t>;</a:t>
            </a:r>
          </a:p>
          <a:p>
            <a:r>
              <a:rPr dirty="0">
                <a:latin typeface="Lucida Console"/>
              </a:rPr>
              <a:t>int n;</a:t>
            </a:r>
          </a:p>
          <a:p>
            <a:r>
              <a:rPr dirty="0">
                <a:latin typeface="Lucida Console"/>
              </a:rPr>
              <a:t>do {</a:t>
            </a:r>
          </a:p>
          <a:p>
            <a:r>
              <a:rPr dirty="0">
                <a:latin typeface="Lucida Console"/>
              </a:rPr>
              <a:t>    n = </a:t>
            </a:r>
            <a:r>
              <a:rPr dirty="0" err="1">
                <a:latin typeface="Lucida Console"/>
              </a:rPr>
              <a:t>ibv_poll_cq</a:t>
            </a:r>
            <a:r>
              <a:rPr dirty="0">
                <a:latin typeface="Lucida Console"/>
              </a:rPr>
              <a:t>(</a:t>
            </a:r>
            <a:r>
              <a:rPr dirty="0" err="1">
                <a:latin typeface="Lucida Console"/>
              </a:rPr>
              <a:t>cq</a:t>
            </a:r>
            <a:r>
              <a:rPr dirty="0">
                <a:latin typeface="Lucida Console"/>
              </a:rPr>
              <a:t>, 1, &amp;</a:t>
            </a:r>
            <a:r>
              <a:rPr dirty="0" err="1">
                <a:latin typeface="Lucida Console"/>
              </a:rPr>
              <a:t>wc</a:t>
            </a:r>
            <a:r>
              <a:rPr dirty="0">
                <a:latin typeface="Lucida Console"/>
              </a:rPr>
              <a:t>);</a:t>
            </a:r>
          </a:p>
          <a:p>
            <a:r>
              <a:rPr dirty="0">
                <a:latin typeface="Lucida Console"/>
              </a:rPr>
              <a:t>} while (n == 0);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6F41F-0832-28A7-B679-1498E873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Protocol Details</a:t>
            </a:r>
            <a:r>
              <a:rPr lang="en-US"/>
              <a:t> (HCA)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Sliding window with a 24-bit sequence number</a:t>
            </a:r>
            <a:endParaRPr lang="en-US" dirty="0"/>
          </a:p>
          <a:p>
            <a:pPr lvl="1"/>
            <a:r>
              <a:rPr lang="en-US" dirty="0"/>
              <a:t>Numbers are per-packet (rather than per-byte)</a:t>
            </a:r>
          </a:p>
          <a:p>
            <a:pPr lvl="1"/>
            <a:r>
              <a:rPr lang="en-US" dirty="0"/>
              <a:t>Packets carry both complete messages and message fragments</a:t>
            </a:r>
            <a:endParaRPr dirty="0"/>
          </a:p>
          <a:p>
            <a:r>
              <a:rPr dirty="0"/>
              <a:t>24-bit QP field</a:t>
            </a:r>
            <a:r>
              <a:rPr lang="en-US" dirty="0"/>
              <a:t> </a:t>
            </a:r>
            <a:r>
              <a:rPr dirty="0"/>
              <a:t>identifies the local endpoint</a:t>
            </a:r>
            <a:endParaRPr lang="en-US" dirty="0"/>
          </a:p>
          <a:p>
            <a:pPr lvl="1"/>
            <a:r>
              <a:rPr lang="en-US" dirty="0"/>
              <a:t>Like a</a:t>
            </a:r>
            <a:r>
              <a:rPr dirty="0"/>
              <a:t> socket</a:t>
            </a:r>
            <a:endParaRPr lang="en-US" dirty="0"/>
          </a:p>
          <a:p>
            <a:pPr lvl="1"/>
            <a:r>
              <a:rPr lang="en-US" dirty="0"/>
              <a:t>Used to locate local QP data structure</a:t>
            </a:r>
            <a:endParaRPr dirty="0"/>
          </a:p>
          <a:p>
            <a:r>
              <a:rPr dirty="0"/>
              <a:t>RDMA Extension Header</a:t>
            </a:r>
            <a:endParaRPr lang="en-US" dirty="0"/>
          </a:p>
          <a:p>
            <a:pPr lvl="1"/>
            <a:r>
              <a:rPr dirty="0"/>
              <a:t>64-bit </a:t>
            </a:r>
            <a:r>
              <a:rPr lang="en-US" dirty="0"/>
              <a:t>memory </a:t>
            </a:r>
            <a:r>
              <a:rPr dirty="0"/>
              <a:t>address</a:t>
            </a:r>
            <a:endParaRPr lang="en-US" dirty="0"/>
          </a:p>
          <a:p>
            <a:pPr lvl="1"/>
            <a:r>
              <a:rPr dirty="0"/>
              <a:t>32-bit remote key</a:t>
            </a:r>
            <a:endParaRPr lang="en-US" dirty="0"/>
          </a:p>
          <a:p>
            <a:pPr lvl="1"/>
            <a:r>
              <a:rPr dirty="0"/>
              <a:t>32-bit </a:t>
            </a:r>
            <a:r>
              <a:rPr lang="en-US" dirty="0"/>
              <a:t>message </a:t>
            </a:r>
            <a:r>
              <a:rPr dirty="0"/>
              <a:t>length</a:t>
            </a:r>
            <a:r>
              <a:rPr lang="en-US" dirty="0"/>
              <a:t> (role in reassembly)</a:t>
            </a:r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08AFB-CBAA-3A3B-2533-2FDE6658A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Optimizing Ethernet for RDMA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167A5E-E0B6-2425-21AF-E0D739E0F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InfiniBand Network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Traffic assigned to one of 16 “virtual lanes”</a:t>
            </a:r>
          </a:p>
          <a:p>
            <a:r>
              <a:rPr lang="en-US" dirty="0"/>
              <a:t>Each virtual lane is assigned a priority</a:t>
            </a:r>
          </a:p>
          <a:p>
            <a:pPr lvl="1"/>
            <a:r>
              <a:rPr lang="en-US" dirty="0"/>
              <a:t>Switches associate a priority queue with each lane</a:t>
            </a:r>
          </a:p>
          <a:p>
            <a:r>
              <a:rPr lang="en-US" dirty="0"/>
              <a:t>Per-hop flow control on each priority queue</a:t>
            </a:r>
          </a:p>
          <a:p>
            <a:pPr lvl="1"/>
            <a:r>
              <a:rPr lang="en-US" dirty="0"/>
              <a:t>Per-hop implies host-to-switch, switch-to-switch, and switch-to-host</a:t>
            </a:r>
          </a:p>
          <a:p>
            <a:pPr lvl="1"/>
            <a:r>
              <a:rPr lang="en-US" dirty="0"/>
              <a:t>In contrast to TCP, where “advertised window” is end-to-end</a:t>
            </a:r>
          </a:p>
          <a:p>
            <a:r>
              <a:rPr lang="en-US" dirty="0"/>
              <a:t>Limitations</a:t>
            </a:r>
          </a:p>
          <a:p>
            <a:pPr lvl="1"/>
            <a:r>
              <a:rPr lang="en-US" dirty="0"/>
              <a:t>Scales to modest sized datacenters</a:t>
            </a:r>
          </a:p>
          <a:p>
            <a:pPr lvl="1"/>
            <a:r>
              <a:rPr lang="en-US" dirty="0"/>
              <a:t>Proprietary solution (with associated cost)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BB4C4-F380-716E-22B8-C35AB4480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RoCE: RDMA over Converged Ethernet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79" y="1476360"/>
            <a:ext cx="10515599" cy="4351320"/>
          </a:xfrm>
        </p:spPr>
        <p:txBody>
          <a:bodyPr/>
          <a:lstStyle/>
          <a:p>
            <a:r>
              <a:rPr dirty="0"/>
              <a:t>RoCE v1: InfiniBand packets in raw Ethernet frames</a:t>
            </a:r>
            <a:endParaRPr lang="en-US" dirty="0"/>
          </a:p>
          <a:p>
            <a:pPr lvl="1"/>
            <a:r>
              <a:rPr lang="en-US" dirty="0"/>
              <a:t>Implies </a:t>
            </a:r>
            <a:r>
              <a:rPr dirty="0"/>
              <a:t>L2 </a:t>
            </a:r>
            <a:r>
              <a:rPr lang="en-US" dirty="0"/>
              <a:t>connectivity</a:t>
            </a:r>
            <a:endParaRPr dirty="0"/>
          </a:p>
          <a:p>
            <a:r>
              <a:rPr dirty="0"/>
              <a:t>RoCE v2: InfiniBand packets in UDP/IP</a:t>
            </a:r>
            <a:endParaRPr lang="en-US" dirty="0"/>
          </a:p>
          <a:p>
            <a:pPr lvl="1"/>
            <a:r>
              <a:rPr lang="en-US" dirty="0"/>
              <a:t>R</a:t>
            </a:r>
            <a:r>
              <a:rPr dirty="0"/>
              <a:t>outable across a datacenter fabric</a:t>
            </a:r>
          </a:p>
          <a:p>
            <a:r>
              <a:rPr dirty="0"/>
              <a:t>Only InfiniBand transport header and payload </a:t>
            </a:r>
            <a:r>
              <a:rPr dirty="0" err="1"/>
              <a:t>ne</a:t>
            </a:r>
            <a:r>
              <a:rPr lang="en-US" dirty="0" err="1"/>
              <a:t>are</a:t>
            </a:r>
            <a:r>
              <a:rPr lang="en-US" dirty="0"/>
              <a:t> </a:t>
            </a:r>
            <a:r>
              <a:rPr dirty="0"/>
              <a:t>encapsulat</a:t>
            </a:r>
            <a:r>
              <a:rPr lang="en-US" dirty="0"/>
              <a:t>ed</a:t>
            </a:r>
            <a:endParaRPr dirty="0"/>
          </a:p>
        </p:txBody>
      </p:sp>
      <p:pic>
        <p:nvPicPr>
          <p:cNvPr id="4" name="Picture 3" descr="ib-encapsu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460" y="4350152"/>
            <a:ext cx="7601214" cy="734804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14F36-7680-D01F-2886-7A127ED35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Emulating</a:t>
            </a:r>
            <a:r>
              <a:rPr dirty="0"/>
              <a:t> InfiniBand </a:t>
            </a:r>
            <a:r>
              <a:rPr lang="en-US" dirty="0"/>
              <a:t>Congestion Control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2131"/>
            <a:ext cx="10515600" cy="5409126"/>
          </a:xfrm>
        </p:spPr>
        <p:txBody>
          <a:bodyPr>
            <a:normAutofit/>
          </a:bodyPr>
          <a:lstStyle/>
          <a:p>
            <a:r>
              <a:rPr dirty="0"/>
              <a:t>Priority Flow Control (802.1Qbb)</a:t>
            </a:r>
            <a:endParaRPr lang="en-US" dirty="0"/>
          </a:p>
          <a:p>
            <a:pPr lvl="1"/>
            <a:r>
              <a:rPr lang="en-US" dirty="0"/>
              <a:t>R</a:t>
            </a:r>
            <a:r>
              <a:rPr dirty="0"/>
              <a:t>eplicates per-hop flow control</a:t>
            </a:r>
            <a:endParaRPr lang="en-US" dirty="0"/>
          </a:p>
          <a:p>
            <a:pPr lvl="1"/>
            <a:r>
              <a:rPr lang="en-US" dirty="0"/>
              <a:t>Fall-back only; not the primary mechanism</a:t>
            </a:r>
            <a:endParaRPr dirty="0"/>
          </a:p>
          <a:p>
            <a:r>
              <a:rPr dirty="0"/>
              <a:t>ECN</a:t>
            </a:r>
            <a:endParaRPr lang="en-US" dirty="0"/>
          </a:p>
          <a:p>
            <a:pPr lvl="1"/>
            <a:r>
              <a:rPr lang="en-US" dirty="0"/>
              <a:t>R</a:t>
            </a:r>
            <a:r>
              <a:rPr dirty="0"/>
              <a:t>euses the congestion signal already used for </a:t>
            </a:r>
            <a:r>
              <a:rPr lang="en-US" dirty="0"/>
              <a:t>TCP</a:t>
            </a:r>
          </a:p>
          <a:p>
            <a:pPr lvl="1"/>
            <a:r>
              <a:rPr lang="en-US" dirty="0"/>
              <a:t>Except there is no TCP to respond for RDMA traffic</a:t>
            </a:r>
            <a:endParaRPr dirty="0"/>
          </a:p>
          <a:p>
            <a:r>
              <a:rPr lang="en-US" dirty="0"/>
              <a:t>DCQCN: Datacenter Quantized Congestion Control</a:t>
            </a:r>
          </a:p>
          <a:p>
            <a:pPr lvl="1"/>
            <a:r>
              <a:rPr lang="en-US" dirty="0"/>
              <a:t>Applies TPC’s Additive-Increase/Multiplicative-Decrease (AIMD)</a:t>
            </a:r>
          </a:p>
          <a:p>
            <a:pPr lvl="1"/>
            <a:r>
              <a:rPr lang="en-US" dirty="0"/>
              <a:t>Receiver replies with CNP (Congestion Notice Packet) </a:t>
            </a:r>
          </a:p>
          <a:p>
            <a:pPr lvl="2"/>
            <a:r>
              <a:rPr lang="en-US" dirty="0"/>
              <a:t>In place of  TCP's ECE/CWR</a:t>
            </a:r>
          </a:p>
          <a:p>
            <a:pPr lvl="1"/>
            <a:r>
              <a:rPr lang="en-US" dirty="0"/>
              <a:t>Receiver throttles feedback</a:t>
            </a:r>
          </a:p>
          <a:p>
            <a:pPr lvl="2"/>
            <a:r>
              <a:rPr lang="en-US" dirty="0"/>
              <a:t>One CNP (recommended) every 50 microseconds</a:t>
            </a:r>
          </a:p>
          <a:p>
            <a:pPr lvl="2"/>
            <a:r>
              <a:rPr lang="en-US" dirty="0"/>
              <a:t>Explains why “Quantize” is in its name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84246-AB30-D9A3-5B94-5526A6D1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Argument Marshalling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A5F8DF-90F2-065F-0DEC-65E519239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10223930" cy="4351320"/>
          </a:xfrm>
        </p:spPr>
        <p:txBody>
          <a:bodyPr/>
          <a:lstStyle/>
          <a:p>
            <a:r>
              <a:rPr dirty="0"/>
              <a:t>Marshalling (serialization): converting data to and from wire format</a:t>
            </a:r>
          </a:p>
          <a:p>
            <a:r>
              <a:rPr dirty="0"/>
              <a:t>Central to RPC (varied clients/servers)</a:t>
            </a:r>
            <a:endParaRPr lang="en-US" dirty="0"/>
          </a:p>
          <a:p>
            <a:pPr lvl="1"/>
            <a:r>
              <a:rPr lang="en-US" dirty="0"/>
              <a:t>L</a:t>
            </a:r>
            <a:r>
              <a:rPr dirty="0"/>
              <a:t>argely skipped by RDMA</a:t>
            </a:r>
          </a:p>
          <a:p>
            <a:pPr lvl="1"/>
            <a:r>
              <a:rPr dirty="0"/>
              <a:t>RDMA assumes one team, one architecture, one compiler</a:t>
            </a:r>
          </a:p>
        </p:txBody>
      </p:sp>
      <p:pic>
        <p:nvPicPr>
          <p:cNvPr id="4" name="Picture 3" descr="pre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217" y="3795031"/>
            <a:ext cx="6466534" cy="224452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2C776-E127-CE34-30E7-520C349D4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Byte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79" y="1476360"/>
            <a:ext cx="10259411" cy="2392189"/>
          </a:xfrm>
        </p:spPr>
        <p:txBody>
          <a:bodyPr>
            <a:normAutofit/>
          </a:bodyPr>
          <a:lstStyle/>
          <a:p>
            <a:r>
              <a:rPr dirty="0"/>
              <a:t>Machines disagree on integer size and byte order</a:t>
            </a:r>
            <a:endParaRPr lang="en-US" dirty="0"/>
          </a:p>
          <a:p>
            <a:pPr lvl="1"/>
            <a:r>
              <a:rPr lang="en-US" dirty="0"/>
              <a:t>16 vs 3 vs 64 bits long</a:t>
            </a:r>
          </a:p>
          <a:p>
            <a:pPr lvl="1"/>
            <a:r>
              <a:rPr lang="en-US" dirty="0"/>
              <a:t>Big-endian vs Little-endian (e.g., 34,677,374)</a:t>
            </a:r>
            <a:endParaRPr dirty="0"/>
          </a:p>
          <a:p>
            <a:r>
              <a:rPr lang="en-US" dirty="0"/>
              <a:t>Risky to assume your peer uses the same conventions</a:t>
            </a:r>
            <a:endParaRPr dirty="0"/>
          </a:p>
        </p:txBody>
      </p:sp>
      <p:pic>
        <p:nvPicPr>
          <p:cNvPr id="4" name="Picture 3" descr="en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067" y="3901917"/>
            <a:ext cx="6461866" cy="239218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E551B-9BEC-1A49-F707-59ED0C19A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Types, Conversion, and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253339"/>
            <a:ext cx="7924859" cy="4567911"/>
          </a:xfrm>
        </p:spPr>
        <p:txBody>
          <a:bodyPr>
            <a:noAutofit/>
          </a:bodyPr>
          <a:lstStyle/>
          <a:p>
            <a:r>
              <a:rPr sz="2400" dirty="0"/>
              <a:t>Data types</a:t>
            </a:r>
          </a:p>
          <a:p>
            <a:pPr lvl="1"/>
            <a:r>
              <a:rPr sz="2000" dirty="0"/>
              <a:t>Base</a:t>
            </a:r>
            <a:r>
              <a:rPr lang="en-US" sz="2000" dirty="0"/>
              <a:t> Types</a:t>
            </a:r>
            <a:r>
              <a:rPr sz="2000" dirty="0"/>
              <a:t>: integers, floats, characters</a:t>
            </a:r>
          </a:p>
          <a:p>
            <a:pPr lvl="1"/>
            <a:r>
              <a:rPr sz="2000" dirty="0"/>
              <a:t>Flat: structs and arrays</a:t>
            </a:r>
            <a:endParaRPr lang="en-US" sz="2000" dirty="0"/>
          </a:p>
          <a:p>
            <a:pPr lvl="1"/>
            <a:r>
              <a:rPr sz="2000" dirty="0"/>
              <a:t>Complex: pointer-based structures</a:t>
            </a:r>
          </a:p>
          <a:p>
            <a:r>
              <a:rPr sz="2400" dirty="0"/>
              <a:t>Conversion strategy</a:t>
            </a:r>
          </a:p>
          <a:p>
            <a:pPr lvl="1"/>
            <a:r>
              <a:rPr sz="2000" dirty="0"/>
              <a:t>Canonical form: translate to/from one agreed external format</a:t>
            </a:r>
          </a:p>
          <a:p>
            <a:pPr lvl="1"/>
            <a:r>
              <a:rPr sz="2000" dirty="0"/>
              <a:t>Receiver-makes-right: N-by-N problem</a:t>
            </a:r>
          </a:p>
          <a:p>
            <a:pPr lvl="1"/>
            <a:r>
              <a:rPr sz="2000" dirty="0"/>
              <a:t>Same-architecture case favors receiver-makes-right</a:t>
            </a:r>
          </a:p>
          <a:p>
            <a:r>
              <a:rPr sz="2400" dirty="0"/>
              <a:t>Tags</a:t>
            </a:r>
          </a:p>
          <a:p>
            <a:pPr lvl="1"/>
            <a:r>
              <a:rPr sz="2000" dirty="0"/>
              <a:t>Tagged: </a:t>
            </a:r>
            <a:r>
              <a:rPr lang="en-US" sz="2000" dirty="0"/>
              <a:t>include </a:t>
            </a:r>
            <a:r>
              <a:rPr sz="2000" dirty="0"/>
              <a:t>type/length</a:t>
            </a:r>
            <a:r>
              <a:rPr lang="en-US" sz="2000" dirty="0"/>
              <a:t> info</a:t>
            </a:r>
            <a:r>
              <a:rPr sz="2000" dirty="0"/>
              <a:t> with the data</a:t>
            </a:r>
          </a:p>
          <a:p>
            <a:pPr lvl="1"/>
            <a:r>
              <a:rPr sz="2000" dirty="0"/>
              <a:t>Untagged: receiver already knows the expected types</a:t>
            </a:r>
          </a:p>
          <a:p>
            <a:pPr lvl="1"/>
            <a:r>
              <a:rPr sz="2000" dirty="0"/>
              <a:t>Variable-length data needs a length tag either way</a:t>
            </a:r>
          </a:p>
        </p:txBody>
      </p:sp>
      <p:pic>
        <p:nvPicPr>
          <p:cNvPr id="4" name="Picture 3" descr="flatt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979" y="1566511"/>
            <a:ext cx="3349209" cy="2838063"/>
          </a:xfrm>
          <a:prstGeom prst="rect">
            <a:avLst/>
          </a:prstGeom>
        </p:spPr>
      </p:pic>
      <p:pic>
        <p:nvPicPr>
          <p:cNvPr id="5" name="Picture 4" descr="tag-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708" y="5604660"/>
            <a:ext cx="5181480" cy="964788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ED2DAC-C4AE-6527-50D8-B347B80EE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Stubs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600" y="1476360"/>
            <a:ext cx="5447400" cy="4351320"/>
          </a:xfrm>
        </p:spPr>
        <p:txBody>
          <a:bodyPr>
            <a:normAutofit/>
          </a:bodyPr>
          <a:lstStyle/>
          <a:p>
            <a:r>
              <a:rPr sz="2400" dirty="0"/>
              <a:t>Stub</a:t>
            </a:r>
            <a:endParaRPr lang="en-US" sz="2400" dirty="0"/>
          </a:p>
          <a:p>
            <a:pPr lvl="1"/>
            <a:r>
              <a:rPr lang="en-US" dirty="0"/>
              <a:t>Co</a:t>
            </a:r>
            <a:r>
              <a:rPr dirty="0"/>
              <a:t>de that actually</a:t>
            </a:r>
            <a:r>
              <a:rPr lang="en-US" dirty="0"/>
              <a:t> does</a:t>
            </a:r>
            <a:r>
              <a:rPr dirty="0"/>
              <a:t> marshal</a:t>
            </a:r>
            <a:r>
              <a:rPr lang="en-US" dirty="0"/>
              <a:t>ling</a:t>
            </a:r>
            <a:endParaRPr dirty="0"/>
          </a:p>
          <a:p>
            <a:r>
              <a:rPr sz="2400" dirty="0"/>
              <a:t>Compiled stubs</a:t>
            </a:r>
            <a:endParaRPr lang="en-US" sz="2400" dirty="0"/>
          </a:p>
          <a:p>
            <a:pPr lvl="1"/>
            <a:r>
              <a:rPr lang="en-US" sz="2000" dirty="0"/>
              <a:t>Write for each</a:t>
            </a:r>
            <a:r>
              <a:rPr sz="2000" dirty="0"/>
              <a:t> procedure</a:t>
            </a:r>
            <a:endParaRPr lang="en-US" sz="2000" dirty="0"/>
          </a:p>
          <a:p>
            <a:pPr lvl="1"/>
            <a:r>
              <a:rPr lang="en-US" sz="2000" dirty="0"/>
              <a:t>Code</a:t>
            </a:r>
            <a:r>
              <a:rPr sz="2000" dirty="0"/>
              <a:t> generated by a compiler</a:t>
            </a:r>
            <a:endParaRPr lang="en-US" sz="2000" dirty="0"/>
          </a:p>
          <a:p>
            <a:pPr lvl="1"/>
            <a:r>
              <a:rPr lang="en-US" sz="2000" dirty="0"/>
              <a:t>Generally fast</a:t>
            </a:r>
            <a:endParaRPr sz="2000" dirty="0"/>
          </a:p>
          <a:p>
            <a:r>
              <a:rPr sz="2400" dirty="0"/>
              <a:t>Interpreted stubs</a:t>
            </a:r>
            <a:endParaRPr lang="en-US" sz="2400" dirty="0"/>
          </a:p>
          <a:p>
            <a:pPr lvl="1"/>
            <a:r>
              <a:rPr lang="en-US" sz="2000" dirty="0"/>
              <a:t>Auto-generated from interface spec</a:t>
            </a:r>
          </a:p>
          <a:p>
            <a:pPr lvl="1"/>
            <a:r>
              <a:rPr lang="en-US" sz="2000" dirty="0"/>
              <a:t>Often slower</a:t>
            </a:r>
            <a:endParaRPr sz="2000" dirty="0"/>
          </a:p>
        </p:txBody>
      </p:sp>
      <p:pic>
        <p:nvPicPr>
          <p:cNvPr id="4" name="Picture 3" descr="stu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480" y="1376773"/>
            <a:ext cx="5068320" cy="4450907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C29E9-BFE1-15AA-2CFC-583BCE3CB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Protobuf Message </a:t>
            </a:r>
            <a:r>
              <a:rPr lang="en-US" dirty="0" err="1"/>
              <a:t>Exampel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976092" y="2176528"/>
            <a:ext cx="7803525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Lucida Console"/>
              </a:rPr>
              <a:t>message Person {</a:t>
            </a:r>
          </a:p>
          <a:p>
            <a:r>
              <a:rPr dirty="0">
                <a:latin typeface="Lucida Console"/>
              </a:rPr>
              <a:t>    required string name = 1;</a:t>
            </a:r>
          </a:p>
          <a:p>
            <a:r>
              <a:rPr dirty="0">
                <a:latin typeface="Lucida Console"/>
              </a:rPr>
              <a:t>    required int32 id = 2;</a:t>
            </a:r>
          </a:p>
          <a:p>
            <a:r>
              <a:rPr dirty="0">
                <a:latin typeface="Lucida Console"/>
              </a:rPr>
              <a:t>    optional string email = 3;</a:t>
            </a:r>
          </a:p>
          <a:p>
            <a:r>
              <a:rPr dirty="0">
                <a:latin typeface="Lucida Console"/>
              </a:rPr>
              <a:t>    enum PhoneType {</a:t>
            </a:r>
          </a:p>
          <a:p>
            <a:r>
              <a:rPr dirty="0">
                <a:latin typeface="Lucida Console"/>
              </a:rPr>
              <a:t>        MOBILE = 0;</a:t>
            </a:r>
          </a:p>
          <a:p>
            <a:r>
              <a:rPr dirty="0">
                <a:latin typeface="Lucida Console"/>
              </a:rPr>
              <a:t>        HOME = 1;</a:t>
            </a:r>
          </a:p>
          <a:p>
            <a:r>
              <a:rPr dirty="0">
                <a:latin typeface="Lucida Console"/>
              </a:rPr>
              <a:t>        WORK = 2;</a:t>
            </a:r>
          </a:p>
          <a:p>
            <a:r>
              <a:rPr dirty="0">
                <a:latin typeface="Lucida Console"/>
              </a:rPr>
              <a:t>    }</a:t>
            </a:r>
          </a:p>
          <a:p>
            <a:r>
              <a:rPr dirty="0">
                <a:latin typeface="Lucida Console"/>
              </a:rPr>
              <a:t>    message PhoneNumber {</a:t>
            </a:r>
          </a:p>
          <a:p>
            <a:r>
              <a:rPr dirty="0">
                <a:latin typeface="Lucida Console"/>
              </a:rPr>
              <a:t>        required string number = 1;</a:t>
            </a:r>
          </a:p>
          <a:p>
            <a:r>
              <a:rPr dirty="0">
                <a:latin typeface="Lucida Console"/>
              </a:rPr>
              <a:t>        optional PhoneType type = 2 [default =</a:t>
            </a:r>
            <a:r>
              <a:rPr lang="en-US" dirty="0">
                <a:latin typeface="Lucida Console"/>
              </a:rPr>
              <a:t> HOME];</a:t>
            </a:r>
            <a:endParaRPr dirty="0">
              <a:latin typeface="Lucida Console"/>
            </a:endParaRPr>
          </a:p>
          <a:p>
            <a:r>
              <a:rPr dirty="0">
                <a:latin typeface="Lucida Console"/>
              </a:rPr>
              <a:t>    }</a:t>
            </a:r>
          </a:p>
          <a:p>
            <a:r>
              <a:rPr dirty="0">
                <a:latin typeface="Lucida Console"/>
              </a:rPr>
              <a:t>    required PhoneNumber phone = 4;</a:t>
            </a:r>
          </a:p>
          <a:p>
            <a:r>
              <a:rPr sz="1600" dirty="0">
                <a:latin typeface="Lucida Console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EF1199-2711-88B1-DFFE-3821CBD2AA7E}"/>
              </a:ext>
            </a:extLst>
          </p:cNvPr>
          <p:cNvSpPr txBox="1">
            <a:spLocks/>
          </p:cNvSpPr>
          <p:nvPr/>
        </p:nvSpPr>
        <p:spPr>
          <a:xfrm>
            <a:off x="838200" y="1170026"/>
            <a:ext cx="10515600" cy="14779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20000"/>
              <a:buFont typeface="System Font Regular"/>
              <a:buChar char="-"/>
              <a:defRPr sz="24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0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Tagged / Canonical Strategy</a:t>
            </a:r>
          </a:p>
          <a:p>
            <a:r>
              <a:rPr lang="en-US" sz="2400" dirty="0"/>
              <a:t>Both client and server share the </a:t>
            </a:r>
            <a:r>
              <a:rPr lang="en-US" sz="2300" dirty="0">
                <a:latin typeface="Lucida Sans" panose="020B0602030504020204" pitchFamily="34" charset="77"/>
              </a:rPr>
              <a:t>.proto </a:t>
            </a:r>
            <a:r>
              <a:rPr lang="en-US" sz="2400" dirty="0"/>
              <a:t>file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73667-7062-071D-9224-A5AAB36D4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Encoding</a:t>
            </a:r>
            <a:r>
              <a:rPr lang="en-US" dirty="0"/>
              <a:t> Integers (</a:t>
            </a:r>
            <a:r>
              <a:rPr lang="en-US" dirty="0" err="1"/>
              <a:t>varint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8225"/>
            <a:ext cx="10515600" cy="2354074"/>
          </a:xfrm>
        </p:spPr>
        <p:txBody>
          <a:bodyPr>
            <a:normAutofit/>
          </a:bodyPr>
          <a:lstStyle/>
          <a:p>
            <a:r>
              <a:rPr dirty="0"/>
              <a:t>Each byte: top bit = "more bytes follow", low 7 bits = value</a:t>
            </a:r>
          </a:p>
          <a:p>
            <a:r>
              <a:rPr dirty="0"/>
              <a:t>Small integers (&lt; 128) fit in a single byte</a:t>
            </a:r>
          </a:p>
          <a:p>
            <a:pPr lvl="1"/>
            <a:r>
              <a:rPr dirty="0"/>
              <a:t>e.g., 2 encodes as 0000 0010</a:t>
            </a:r>
          </a:p>
          <a:p>
            <a:r>
              <a:rPr lang="en-US" dirty="0"/>
              <a:t>Decoding  </a:t>
            </a:r>
            <a:r>
              <a:rPr lang="en-US" dirty="0">
                <a:cs typeface="Calibri" panose="020F0502020204030204" pitchFamily="34" charset="0"/>
              </a:rPr>
              <a:t>1110 1101 0000 0010  to recover 365</a:t>
            </a:r>
            <a:r>
              <a:rPr dirty="0">
                <a:cs typeface="Calibri" panose="020F0502020204030204" pitchFamily="34" charset="0"/>
              </a:rPr>
              <a:t> </a:t>
            </a: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E064C5-232B-923E-783C-584F1258EB20}"/>
              </a:ext>
            </a:extLst>
          </p:cNvPr>
          <p:cNvSpPr txBox="1"/>
          <p:nvPr/>
        </p:nvSpPr>
        <p:spPr>
          <a:xfrm>
            <a:off x="1516487" y="3657598"/>
            <a:ext cx="60981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Lucida Sans" panose="020B0602030504020204" pitchFamily="34" charset="77"/>
              </a:rPr>
              <a:t>1110 1101 0000 0010</a:t>
            </a:r>
          </a:p>
          <a:p>
            <a:pPr marL="0" marR="0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Lucida Sans" panose="020B0602030504020204" pitchFamily="34" charset="77"/>
              </a:rPr>
              <a:t>→ 110 1101  000 0010</a:t>
            </a:r>
            <a:endParaRPr lang="en-US" sz="900" b="0" i="0" dirty="0">
              <a:solidFill>
                <a:srgbClr val="404040"/>
              </a:solidFill>
              <a:effectLst/>
              <a:latin typeface="Lucida Sans" panose="020B0602030504020204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93E925-67C9-1ACF-0A5C-EEB27719EDB5}"/>
              </a:ext>
            </a:extLst>
          </p:cNvPr>
          <p:cNvSpPr txBox="1"/>
          <p:nvPr/>
        </p:nvSpPr>
        <p:spPr>
          <a:xfrm>
            <a:off x="6096000" y="3657598"/>
            <a:ext cx="4752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Drop “continuation” bit from each byte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CDE595-5335-F07E-1705-1192149FB611}"/>
              </a:ext>
            </a:extLst>
          </p:cNvPr>
          <p:cNvSpPr txBox="1"/>
          <p:nvPr/>
        </p:nvSpPr>
        <p:spPr>
          <a:xfrm>
            <a:off x="1516487" y="4741908"/>
            <a:ext cx="60981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Lucida Sans" panose="020B0602030504020204" pitchFamily="34" charset="77"/>
              </a:rPr>
              <a:t>000 0010  110 1101</a:t>
            </a:r>
          </a:p>
          <a:p>
            <a:pPr marL="0" marR="0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Lucida Sans" panose="020B0602030504020204" pitchFamily="34" charset="77"/>
              </a:rPr>
              <a:t>→  000 0010 || 110 1101</a:t>
            </a:r>
          </a:p>
          <a:p>
            <a:pPr marL="0" marR="0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Lucida Sans" panose="020B0602030504020204" pitchFamily="34" charset="77"/>
              </a:rPr>
              <a:t>→  101101101</a:t>
            </a:r>
          </a:p>
          <a:p>
            <a:pPr marL="0" marR="0" indent="0" algn="l">
              <a:buNone/>
            </a:pPr>
            <a:r>
              <a:rPr lang="en-US" sz="1800" b="0" i="0" dirty="0">
                <a:solidFill>
                  <a:schemeClr val="tx1"/>
                </a:solidFill>
                <a:effectLst/>
                <a:latin typeface="Lucida Sans" panose="020B0602030504020204" pitchFamily="34" charset="77"/>
              </a:rPr>
              <a:t>→  256 + 64 + 32 + 8 + 4 + 1 = 365</a:t>
            </a:r>
            <a:endParaRPr lang="en-US" sz="900" b="0" i="0" dirty="0">
              <a:solidFill>
                <a:srgbClr val="404040"/>
              </a:solidFill>
              <a:effectLst/>
              <a:latin typeface="Lucida Sans" panose="020B0602030504020204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5C709D-7616-BE16-4D91-92378E508BC8}"/>
              </a:ext>
            </a:extLst>
          </p:cNvPr>
          <p:cNvSpPr txBox="1"/>
          <p:nvPr/>
        </p:nvSpPr>
        <p:spPr>
          <a:xfrm>
            <a:off x="6096000" y="4741908"/>
            <a:ext cx="4752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Least significant bits first (so swap)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5D765C7-8249-3E84-0B98-AFF884D6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Peterson &amp; Davie, 2026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11204</TotalTime>
  <Words>2338</Words>
  <Application>Microsoft Macintosh PowerPoint</Application>
  <PresentationFormat>Widescreen</PresentationFormat>
  <Paragraphs>362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Aptos</vt:lpstr>
      <vt:lpstr>Arial</vt:lpstr>
      <vt:lpstr>Calibri</vt:lpstr>
      <vt:lpstr>Lucida Console</vt:lpstr>
      <vt:lpstr>Lucida Sans</vt:lpstr>
      <vt:lpstr>System Font Regular</vt:lpstr>
      <vt:lpstr>Wingdings</vt:lpstr>
      <vt:lpstr>Office Theme</vt:lpstr>
      <vt:lpstr>Chapter 15: Message Transactions</vt:lpstr>
      <vt:lpstr>Overview</vt:lpstr>
      <vt:lpstr>Request/Response Transaction</vt:lpstr>
      <vt:lpstr>Design Issues</vt:lpstr>
      <vt:lpstr>Remote Procedure Call</vt:lpstr>
      <vt:lpstr>Overview</vt:lpstr>
      <vt:lpstr>RPC vs. REST</vt:lpstr>
      <vt:lpstr>gRPC Stack</vt:lpstr>
      <vt:lpstr>gRPC Over HTTP/2</vt:lpstr>
      <vt:lpstr>Optimizing RPC</vt:lpstr>
      <vt:lpstr>Overview</vt:lpstr>
      <vt:lpstr>QUIC Packet Headers</vt:lpstr>
      <vt:lpstr>STREAM Frames</vt:lpstr>
      <vt:lpstr>Variable-Length Integers</vt:lpstr>
      <vt:lpstr>Loss Detection</vt:lpstr>
      <vt:lpstr>Loss Timeout Calculation</vt:lpstr>
      <vt:lpstr>Probe Timeout Calculation</vt:lpstr>
      <vt:lpstr>Connection Migration</vt:lpstr>
      <vt:lpstr>Remote DMA</vt:lpstr>
      <vt:lpstr>Overview</vt:lpstr>
      <vt:lpstr>Verbs API</vt:lpstr>
      <vt:lpstr>RDMA Software Stack</vt:lpstr>
      <vt:lpstr>Connection Setup</vt:lpstr>
      <vt:lpstr>RDMA Write Example</vt:lpstr>
      <vt:lpstr>Protocol Details (HCA)</vt:lpstr>
      <vt:lpstr>Optimizing Ethernet for RDMA</vt:lpstr>
      <vt:lpstr>InfiniBand Network</vt:lpstr>
      <vt:lpstr>RoCE: RDMA over Converged Ethernet</vt:lpstr>
      <vt:lpstr>Emulating InfiniBand Congestion Control</vt:lpstr>
      <vt:lpstr>Argument Marshalling</vt:lpstr>
      <vt:lpstr>Overview</vt:lpstr>
      <vt:lpstr>Byte Order</vt:lpstr>
      <vt:lpstr>Data Types, Conversion, and Tags</vt:lpstr>
      <vt:lpstr>Stubs</vt:lpstr>
      <vt:lpstr>Protobuf Message Exampel</vt:lpstr>
      <vt:lpstr>Encoding Integers (varint)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Larry Peterson</dc:creator>
  <cp:lastModifiedBy>Larry Peterson</cp:lastModifiedBy>
  <cp:revision>31</cp:revision>
  <dcterms:created xsi:type="dcterms:W3CDTF">2026-08-04T17:34:08Z</dcterms:created>
  <dcterms:modified xsi:type="dcterms:W3CDTF">2026-09-25T21:26:54Z</dcterms:modified>
</cp:coreProperties>
</file>