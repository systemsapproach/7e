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76" r:id="rId7"/>
    <p:sldId id="262" r:id="rId8"/>
    <p:sldId id="263" r:id="rId9"/>
    <p:sldId id="264" r:id="rId10"/>
    <p:sldId id="265" r:id="rId11"/>
    <p:sldId id="266" r:id="rId12"/>
    <p:sldId id="269" r:id="rId13"/>
    <p:sldId id="277" r:id="rId14"/>
    <p:sldId id="268"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A99D0"/>
    <a:srgbClr val="333131"/>
    <a:srgbClr val="E9E0C5"/>
    <a:srgbClr val="2F55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78"/>
    <p:restoredTop sz="94658"/>
  </p:normalViewPr>
  <p:slideViewPr>
    <p:cSldViewPr snapToGrid="0">
      <p:cViewPr varScale="1">
        <p:scale>
          <a:sx n="109" d="100"/>
          <a:sy n="109" d="100"/>
        </p:scale>
        <p:origin x="208"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3DD8EB-66AA-D143-9080-C3FD918374BF}" type="datetimeFigureOut">
              <a:rPr lang="en-US" smtClean="0"/>
              <a:t>9/25/26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13A33-4DB5-9944-96F1-779DDE1959E7}" type="slidenum">
              <a:rPr lang="en-US" smtClean="0"/>
              <a:t>‹#›</a:t>
            </a:fld>
            <a:endParaRPr lang="en-US"/>
          </a:p>
        </p:txBody>
      </p:sp>
    </p:spTree>
    <p:extLst>
      <p:ext uri="{BB962C8B-B14F-4D97-AF65-F5344CB8AC3E}">
        <p14:creationId xmlns:p14="http://schemas.microsoft.com/office/powerpoint/2010/main" val="115191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913A33-4DB5-9944-96F1-779DDE1959E7}" type="slidenum">
              <a:rPr lang="en-US" smtClean="0"/>
              <a:t>8</a:t>
            </a:fld>
            <a:endParaRPr lang="en-US"/>
          </a:p>
        </p:txBody>
      </p:sp>
    </p:spTree>
    <p:extLst>
      <p:ext uri="{BB962C8B-B14F-4D97-AF65-F5344CB8AC3E}">
        <p14:creationId xmlns:p14="http://schemas.microsoft.com/office/powerpoint/2010/main" val="23466503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5E7130F-F05B-B150-3729-9E271DF171FA}"/>
              </a:ext>
            </a:extLst>
          </p:cNvPr>
          <p:cNvSpPr/>
          <p:nvPr userDrawn="1"/>
        </p:nvSpPr>
        <p:spPr>
          <a:xfrm>
            <a:off x="0" y="2723115"/>
            <a:ext cx="12192000" cy="4175981"/>
          </a:xfrm>
          <a:prstGeom prst="rect">
            <a:avLst/>
          </a:prstGeom>
          <a:solidFill>
            <a:srgbClr val="3331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07BDD6A-1823-8EBE-4339-8BE6A00F709B}"/>
              </a:ext>
            </a:extLst>
          </p:cNvPr>
          <p:cNvSpPr/>
          <p:nvPr userDrawn="1"/>
        </p:nvSpPr>
        <p:spPr>
          <a:xfrm>
            <a:off x="0" y="315538"/>
            <a:ext cx="12192000" cy="4622137"/>
          </a:xfrm>
          <a:prstGeom prst="rect">
            <a:avLst/>
          </a:prstGeom>
          <a:solidFill>
            <a:srgbClr val="2F55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6FEA07-9D5A-E087-CD0F-85CD617F7122}"/>
              </a:ext>
            </a:extLst>
          </p:cNvPr>
          <p:cNvSpPr>
            <a:spLocks noGrp="1"/>
          </p:cNvSpPr>
          <p:nvPr>
            <p:ph type="ctrTitle"/>
          </p:nvPr>
        </p:nvSpPr>
        <p:spPr>
          <a:xfrm>
            <a:off x="1524000" y="721677"/>
            <a:ext cx="9144000" cy="2387600"/>
          </a:xfrm>
        </p:spPr>
        <p:txBody>
          <a:bodyPr anchor="ctr"/>
          <a:lstStyle>
            <a:lvl1pPr algn="ctr">
              <a:defRPr sz="5400"/>
            </a:lvl1pPr>
          </a:lstStyle>
          <a:p>
            <a:r>
              <a:rPr lang="en-US" dirty="0"/>
              <a:t>Click to edit Master title style</a:t>
            </a:r>
          </a:p>
        </p:txBody>
      </p:sp>
      <p:sp>
        <p:nvSpPr>
          <p:cNvPr id="3" name="Subtitle 2">
            <a:extLst>
              <a:ext uri="{FF2B5EF4-FFF2-40B4-BE49-F238E27FC236}">
                <a16:creationId xmlns:a16="http://schemas.microsoft.com/office/drawing/2014/main" id="{68A209C7-F1CD-D1FA-BA76-113A478A96F8}"/>
              </a:ext>
            </a:extLst>
          </p:cNvPr>
          <p:cNvSpPr>
            <a:spLocks noGrp="1"/>
          </p:cNvSpPr>
          <p:nvPr>
            <p:ph type="subTitle" idx="1"/>
          </p:nvPr>
        </p:nvSpPr>
        <p:spPr>
          <a:xfrm>
            <a:off x="1524000" y="5235621"/>
            <a:ext cx="9144000" cy="836398"/>
          </a:xfrm>
        </p:spPr>
        <p:txBody>
          <a:bodyPr anchor="ct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7618ECE-1E6D-F8F2-58B1-71D7BE74C0F9}"/>
              </a:ext>
            </a:extLst>
          </p:cNvPr>
          <p:cNvSpPr>
            <a:spLocks noGrp="1"/>
          </p:cNvSpPr>
          <p:nvPr>
            <p:ph type="dt" sz="half" idx="10"/>
          </p:nvPr>
        </p:nvSpPr>
        <p:spPr/>
        <p:txBody>
          <a:bodyPr/>
          <a:lstStyle/>
          <a:p>
            <a:fld id="{227BA7B3-60B0-214C-811F-7160BA601FCE}" type="datetime1">
              <a:rPr lang="en-US" smtClean="0"/>
              <a:t>9/25/26</a:t>
            </a:fld>
            <a:endParaRPr lang="en-US"/>
          </a:p>
        </p:txBody>
      </p:sp>
      <p:sp>
        <p:nvSpPr>
          <p:cNvPr id="5" name="Footer Placeholder 4">
            <a:extLst>
              <a:ext uri="{FF2B5EF4-FFF2-40B4-BE49-F238E27FC236}">
                <a16:creationId xmlns:a16="http://schemas.microsoft.com/office/drawing/2014/main" id="{B6D2AB94-E371-30E1-1464-0D57E5C45DBB}"/>
              </a:ext>
            </a:extLst>
          </p:cNvPr>
          <p:cNvSpPr>
            <a:spLocks noGrp="1"/>
          </p:cNvSpPr>
          <p:nvPr>
            <p:ph type="ftr" sz="quarter" idx="11"/>
          </p:nvPr>
        </p:nvSpPr>
        <p:spPr/>
        <p:txBody>
          <a:bodyPr/>
          <a:lstStyle/>
          <a:p>
            <a:r>
              <a:rPr lang="en-US"/>
              <a:t>Copyright Peterson &amp; Davie, 2026</a:t>
            </a:r>
          </a:p>
        </p:txBody>
      </p:sp>
      <p:sp>
        <p:nvSpPr>
          <p:cNvPr id="6" name="Slide Number Placeholder 5">
            <a:extLst>
              <a:ext uri="{FF2B5EF4-FFF2-40B4-BE49-F238E27FC236}">
                <a16:creationId xmlns:a16="http://schemas.microsoft.com/office/drawing/2014/main" id="{339C57B5-7F35-E930-6BE6-D1855198237E}"/>
              </a:ext>
            </a:extLst>
          </p:cNvPr>
          <p:cNvSpPr>
            <a:spLocks noGrp="1"/>
          </p:cNvSpPr>
          <p:nvPr>
            <p:ph type="sldNum" sz="quarter" idx="12"/>
          </p:nvPr>
        </p:nvSpPr>
        <p:spPr/>
        <p:txBody>
          <a:bodyPr/>
          <a:lstStyle/>
          <a:p>
            <a:fld id="{394597B6-99AE-8F4E-8AC4-338DBFD9B0E5}" type="slidenum">
              <a:rPr lang="en-US" smtClean="0"/>
              <a:t>‹#›</a:t>
            </a:fld>
            <a:endParaRPr lang="en-US"/>
          </a:p>
        </p:txBody>
      </p:sp>
      <p:pic>
        <p:nvPicPr>
          <p:cNvPr id="10" name="Picture 9">
            <a:extLst>
              <a:ext uri="{FF2B5EF4-FFF2-40B4-BE49-F238E27FC236}">
                <a16:creationId xmlns:a16="http://schemas.microsoft.com/office/drawing/2014/main" id="{18DA490C-3727-1BB3-41EC-8E8B0CB16731}"/>
              </a:ext>
            </a:extLst>
          </p:cNvPr>
          <p:cNvPicPr>
            <a:picLocks noChangeAspect="1"/>
          </p:cNvPicPr>
          <p:nvPr userDrawn="1"/>
        </p:nvPicPr>
        <p:blipFill>
          <a:blip r:embed="rId2"/>
          <a:stretch>
            <a:fillRect/>
          </a:stretch>
        </p:blipFill>
        <p:spPr>
          <a:xfrm>
            <a:off x="4455810" y="3139629"/>
            <a:ext cx="3280381" cy="1551470"/>
          </a:xfrm>
          <a:prstGeom prst="rect">
            <a:avLst/>
          </a:prstGeom>
        </p:spPr>
      </p:pic>
    </p:spTree>
    <p:extLst>
      <p:ext uri="{BB962C8B-B14F-4D97-AF65-F5344CB8AC3E}">
        <p14:creationId xmlns:p14="http://schemas.microsoft.com/office/powerpoint/2010/main" val="15080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A4224-9B42-A3A3-FD4B-7DCB37A5FB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7AA945-E77C-96EC-A764-294BBBDFDEB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82AD0B7-B808-1B7F-CEF5-3629CD750650}"/>
              </a:ext>
            </a:extLst>
          </p:cNvPr>
          <p:cNvSpPr>
            <a:spLocks noGrp="1"/>
          </p:cNvSpPr>
          <p:nvPr>
            <p:ph type="dt" sz="half" idx="10"/>
          </p:nvPr>
        </p:nvSpPr>
        <p:spPr/>
        <p:txBody>
          <a:bodyPr/>
          <a:lstStyle/>
          <a:p>
            <a:fld id="{227133A9-06A4-D045-8AFE-F9462D640614}" type="datetime1">
              <a:rPr lang="en-US" smtClean="0"/>
              <a:t>9/25/26</a:t>
            </a:fld>
            <a:endParaRPr lang="en-US"/>
          </a:p>
        </p:txBody>
      </p:sp>
      <p:sp>
        <p:nvSpPr>
          <p:cNvPr id="5" name="Footer Placeholder 4">
            <a:extLst>
              <a:ext uri="{FF2B5EF4-FFF2-40B4-BE49-F238E27FC236}">
                <a16:creationId xmlns:a16="http://schemas.microsoft.com/office/drawing/2014/main" id="{AFB5568F-D032-2C7B-B173-457682AC377D}"/>
              </a:ext>
            </a:extLst>
          </p:cNvPr>
          <p:cNvSpPr>
            <a:spLocks noGrp="1"/>
          </p:cNvSpPr>
          <p:nvPr>
            <p:ph type="ftr" sz="quarter" idx="11"/>
          </p:nvPr>
        </p:nvSpPr>
        <p:spPr/>
        <p:txBody>
          <a:bodyPr/>
          <a:lstStyle/>
          <a:p>
            <a:r>
              <a:rPr lang="en-US"/>
              <a:t>Copyright Peterson &amp; Davie, 2026</a:t>
            </a:r>
          </a:p>
        </p:txBody>
      </p:sp>
      <p:sp>
        <p:nvSpPr>
          <p:cNvPr id="6" name="Slide Number Placeholder 5">
            <a:extLst>
              <a:ext uri="{FF2B5EF4-FFF2-40B4-BE49-F238E27FC236}">
                <a16:creationId xmlns:a16="http://schemas.microsoft.com/office/drawing/2014/main" id="{C2F4C81A-A9BC-68BA-10CE-C19115630AEB}"/>
              </a:ext>
            </a:extLst>
          </p:cNvPr>
          <p:cNvSpPr>
            <a:spLocks noGrp="1"/>
          </p:cNvSpPr>
          <p:nvPr>
            <p:ph type="sldNum" sz="quarter" idx="12"/>
          </p:nvPr>
        </p:nvSpPr>
        <p:spPr/>
        <p:txBody>
          <a:bodyPr/>
          <a:lstStyle/>
          <a:p>
            <a:fld id="{394597B6-99AE-8F4E-8AC4-338DBFD9B0E5}" type="slidenum">
              <a:rPr lang="en-US" smtClean="0"/>
              <a:t>‹#›</a:t>
            </a:fld>
            <a:endParaRPr lang="en-US"/>
          </a:p>
        </p:txBody>
      </p:sp>
    </p:spTree>
    <p:extLst>
      <p:ext uri="{BB962C8B-B14F-4D97-AF65-F5344CB8AC3E}">
        <p14:creationId xmlns:p14="http://schemas.microsoft.com/office/powerpoint/2010/main" val="3074001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BF158-323C-D3C4-5EDF-AEB556D389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E1458E-494E-6576-E590-8D027645C9AA}"/>
              </a:ext>
            </a:extLst>
          </p:cNvPr>
          <p:cNvSpPr>
            <a:spLocks noGrp="1"/>
          </p:cNvSpPr>
          <p:nvPr>
            <p:ph sz="half" idx="1"/>
          </p:nvPr>
        </p:nvSpPr>
        <p:spPr>
          <a:xfrm>
            <a:off x="838200" y="1476306"/>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DEEC45-80B7-E5F2-1EE8-4F13C3A494EA}"/>
              </a:ext>
            </a:extLst>
          </p:cNvPr>
          <p:cNvSpPr>
            <a:spLocks noGrp="1"/>
          </p:cNvSpPr>
          <p:nvPr>
            <p:ph sz="half" idx="2"/>
          </p:nvPr>
        </p:nvSpPr>
        <p:spPr>
          <a:xfrm>
            <a:off x="6172200" y="1476306"/>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FB021E-F3AB-3183-A464-2E0E7E6D4E0C}"/>
              </a:ext>
            </a:extLst>
          </p:cNvPr>
          <p:cNvSpPr>
            <a:spLocks noGrp="1"/>
          </p:cNvSpPr>
          <p:nvPr>
            <p:ph type="dt" sz="half" idx="10"/>
          </p:nvPr>
        </p:nvSpPr>
        <p:spPr/>
        <p:txBody>
          <a:bodyPr/>
          <a:lstStyle/>
          <a:p>
            <a:fld id="{8372B1F6-B064-3642-BFF8-8C3A7A6A5A0B}" type="datetime1">
              <a:rPr lang="en-US" smtClean="0"/>
              <a:t>9/25/26</a:t>
            </a:fld>
            <a:endParaRPr lang="en-US"/>
          </a:p>
        </p:txBody>
      </p:sp>
      <p:sp>
        <p:nvSpPr>
          <p:cNvPr id="6" name="Footer Placeholder 5">
            <a:extLst>
              <a:ext uri="{FF2B5EF4-FFF2-40B4-BE49-F238E27FC236}">
                <a16:creationId xmlns:a16="http://schemas.microsoft.com/office/drawing/2014/main" id="{856BF0C7-58BA-2DE2-32B3-6B84F0FDDC72}"/>
              </a:ext>
            </a:extLst>
          </p:cNvPr>
          <p:cNvSpPr>
            <a:spLocks noGrp="1"/>
          </p:cNvSpPr>
          <p:nvPr>
            <p:ph type="ftr" sz="quarter" idx="11"/>
          </p:nvPr>
        </p:nvSpPr>
        <p:spPr/>
        <p:txBody>
          <a:bodyPr/>
          <a:lstStyle/>
          <a:p>
            <a:r>
              <a:rPr lang="en-US"/>
              <a:t>Copyright Peterson &amp; Davie, 2026</a:t>
            </a:r>
          </a:p>
        </p:txBody>
      </p:sp>
      <p:sp>
        <p:nvSpPr>
          <p:cNvPr id="7" name="Slide Number Placeholder 6">
            <a:extLst>
              <a:ext uri="{FF2B5EF4-FFF2-40B4-BE49-F238E27FC236}">
                <a16:creationId xmlns:a16="http://schemas.microsoft.com/office/drawing/2014/main" id="{970A454F-821E-AC99-31C4-2DF525F5D9AF}"/>
              </a:ext>
            </a:extLst>
          </p:cNvPr>
          <p:cNvSpPr>
            <a:spLocks noGrp="1"/>
          </p:cNvSpPr>
          <p:nvPr>
            <p:ph type="sldNum" sz="quarter" idx="12"/>
          </p:nvPr>
        </p:nvSpPr>
        <p:spPr/>
        <p:txBody>
          <a:bodyPr/>
          <a:lstStyle/>
          <a:p>
            <a:fld id="{394597B6-99AE-8F4E-8AC4-338DBFD9B0E5}" type="slidenum">
              <a:rPr lang="en-US" smtClean="0"/>
              <a:t>‹#›</a:t>
            </a:fld>
            <a:endParaRPr lang="en-US"/>
          </a:p>
        </p:txBody>
      </p:sp>
    </p:spTree>
    <p:extLst>
      <p:ext uri="{BB962C8B-B14F-4D97-AF65-F5344CB8AC3E}">
        <p14:creationId xmlns:p14="http://schemas.microsoft.com/office/powerpoint/2010/main" val="3109690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9E204-57F3-A972-D2AB-B8EB443E17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2128D8-E1CA-2D26-E644-D8B87B9C957F}"/>
              </a:ext>
            </a:extLst>
          </p:cNvPr>
          <p:cNvSpPr>
            <a:spLocks noGrp="1"/>
          </p:cNvSpPr>
          <p:nvPr>
            <p:ph type="dt" sz="half" idx="10"/>
          </p:nvPr>
        </p:nvSpPr>
        <p:spPr/>
        <p:txBody>
          <a:bodyPr/>
          <a:lstStyle/>
          <a:p>
            <a:fld id="{8B7A3374-4AC0-D34A-9EDE-BFA8B498AC97}" type="datetime1">
              <a:rPr lang="en-US" smtClean="0"/>
              <a:t>9/25/26</a:t>
            </a:fld>
            <a:endParaRPr lang="en-US"/>
          </a:p>
        </p:txBody>
      </p:sp>
      <p:sp>
        <p:nvSpPr>
          <p:cNvPr id="4" name="Footer Placeholder 3">
            <a:extLst>
              <a:ext uri="{FF2B5EF4-FFF2-40B4-BE49-F238E27FC236}">
                <a16:creationId xmlns:a16="http://schemas.microsoft.com/office/drawing/2014/main" id="{ACDE7C9D-573E-CCAB-347D-345D212F6DDC}"/>
              </a:ext>
            </a:extLst>
          </p:cNvPr>
          <p:cNvSpPr>
            <a:spLocks noGrp="1"/>
          </p:cNvSpPr>
          <p:nvPr>
            <p:ph type="ftr" sz="quarter" idx="11"/>
          </p:nvPr>
        </p:nvSpPr>
        <p:spPr/>
        <p:txBody>
          <a:bodyPr/>
          <a:lstStyle/>
          <a:p>
            <a:r>
              <a:rPr lang="en-US"/>
              <a:t>Copyright Peterson &amp; Davie, 2026</a:t>
            </a:r>
          </a:p>
        </p:txBody>
      </p:sp>
      <p:sp>
        <p:nvSpPr>
          <p:cNvPr id="5" name="Slide Number Placeholder 4">
            <a:extLst>
              <a:ext uri="{FF2B5EF4-FFF2-40B4-BE49-F238E27FC236}">
                <a16:creationId xmlns:a16="http://schemas.microsoft.com/office/drawing/2014/main" id="{22D19D84-0242-52EC-3A47-A0A3D5B647E5}"/>
              </a:ext>
            </a:extLst>
          </p:cNvPr>
          <p:cNvSpPr>
            <a:spLocks noGrp="1"/>
          </p:cNvSpPr>
          <p:nvPr>
            <p:ph type="sldNum" sz="quarter" idx="12"/>
          </p:nvPr>
        </p:nvSpPr>
        <p:spPr/>
        <p:txBody>
          <a:bodyPr/>
          <a:lstStyle/>
          <a:p>
            <a:fld id="{394597B6-99AE-8F4E-8AC4-338DBFD9B0E5}" type="slidenum">
              <a:rPr lang="en-US" smtClean="0"/>
              <a:t>‹#›</a:t>
            </a:fld>
            <a:endParaRPr lang="en-US"/>
          </a:p>
        </p:txBody>
      </p:sp>
    </p:spTree>
    <p:extLst>
      <p:ext uri="{BB962C8B-B14F-4D97-AF65-F5344CB8AC3E}">
        <p14:creationId xmlns:p14="http://schemas.microsoft.com/office/powerpoint/2010/main" val="746931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D7A92FF-B703-4780-1EBB-1AE0E3CF735C}"/>
              </a:ext>
            </a:extLst>
          </p:cNvPr>
          <p:cNvSpPr>
            <a:spLocks noGrp="1"/>
          </p:cNvSpPr>
          <p:nvPr>
            <p:ph type="body" idx="1"/>
          </p:nvPr>
        </p:nvSpPr>
        <p:spPr>
          <a:xfrm>
            <a:off x="838200" y="15482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FCCB9E3-427E-4369-98EC-BD677B2D53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DB3171-1844-2F47-97EA-4A15C005B429}" type="datetime1">
              <a:rPr lang="en-US" smtClean="0"/>
              <a:t>9/25/26</a:t>
            </a:fld>
            <a:endParaRPr lang="en-US"/>
          </a:p>
        </p:txBody>
      </p:sp>
      <p:sp>
        <p:nvSpPr>
          <p:cNvPr id="5" name="Footer Placeholder 4">
            <a:extLst>
              <a:ext uri="{FF2B5EF4-FFF2-40B4-BE49-F238E27FC236}">
                <a16:creationId xmlns:a16="http://schemas.microsoft.com/office/drawing/2014/main" id="{F8E7B86C-AB67-018D-C428-7A1EC0C20E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Copyright Peterson &amp; Davie, 2026</a:t>
            </a:r>
          </a:p>
        </p:txBody>
      </p:sp>
      <p:sp>
        <p:nvSpPr>
          <p:cNvPr id="6" name="Slide Number Placeholder 5">
            <a:extLst>
              <a:ext uri="{FF2B5EF4-FFF2-40B4-BE49-F238E27FC236}">
                <a16:creationId xmlns:a16="http://schemas.microsoft.com/office/drawing/2014/main" id="{3C29F652-BA41-5373-A931-0B0D06827F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4597B6-99AE-8F4E-8AC4-338DBFD9B0E5}" type="slidenum">
              <a:rPr lang="en-US" smtClean="0"/>
              <a:t>‹#›</a:t>
            </a:fld>
            <a:endParaRPr lang="en-US"/>
          </a:p>
        </p:txBody>
      </p:sp>
      <p:sp>
        <p:nvSpPr>
          <p:cNvPr id="7" name="Rectangle 6">
            <a:extLst>
              <a:ext uri="{FF2B5EF4-FFF2-40B4-BE49-F238E27FC236}">
                <a16:creationId xmlns:a16="http://schemas.microsoft.com/office/drawing/2014/main" id="{32BF1A77-8AB3-41F4-86D3-BFA6FEEDF61A}"/>
              </a:ext>
            </a:extLst>
          </p:cNvPr>
          <p:cNvSpPr/>
          <p:nvPr userDrawn="1"/>
        </p:nvSpPr>
        <p:spPr>
          <a:xfrm>
            <a:off x="0" y="0"/>
            <a:ext cx="12192000" cy="914400"/>
          </a:xfrm>
          <a:prstGeom prst="rect">
            <a:avLst/>
          </a:prstGeom>
          <a:solidFill>
            <a:srgbClr val="2F55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69470494-B9BA-F0AA-4595-820C4E478661}"/>
              </a:ext>
            </a:extLst>
          </p:cNvPr>
          <p:cNvSpPr>
            <a:spLocks noGrp="1"/>
          </p:cNvSpPr>
          <p:nvPr>
            <p:ph type="title"/>
          </p:nvPr>
        </p:nvSpPr>
        <p:spPr>
          <a:xfrm>
            <a:off x="838200" y="15809"/>
            <a:ext cx="10515600" cy="898592"/>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849538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Lst>
  <p:hf sldNum="0" hdr="0" dt="0"/>
  <p:txStyles>
    <p:titleStyle>
      <a:lvl1pPr algn="l" defTabSz="914400" rtl="0" eaLnBrk="1" latinLnBrk="0" hangingPunct="1">
        <a:lnSpc>
          <a:spcPct val="90000"/>
        </a:lnSpc>
        <a:spcBef>
          <a:spcPct val="0"/>
        </a:spcBef>
        <a:buNone/>
        <a:defRPr sz="4400" kern="1200">
          <a:solidFill>
            <a:srgbClr val="E9E0C5"/>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SzPct val="120000"/>
        <a:buFont typeface="System Font Regular"/>
        <a:buChar char="-"/>
        <a:defRPr sz="2400" kern="1200" baseline="0">
          <a:solidFill>
            <a:schemeClr val="tx1"/>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000" kern="1200" baseline="0">
          <a:solidFill>
            <a:schemeClr val="tx1"/>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Chapter 1: Introduction</a:t>
            </a:r>
          </a:p>
        </p:txBody>
      </p:sp>
      <p:sp>
        <p:nvSpPr>
          <p:cNvPr id="3" name="Subtitle 2"/>
          <p:cNvSpPr>
            <a:spLocks noGrp="1"/>
          </p:cNvSpPr>
          <p:nvPr>
            <p:ph type="subTitle" idx="1"/>
          </p:nvPr>
        </p:nvSpPr>
        <p:spPr/>
        <p:txBody>
          <a:bodyPr/>
          <a:lstStyle/>
          <a:p>
            <a:r>
              <a:rPr lang="en-US" dirty="0"/>
              <a:t>Computer Networks: A Systems Approach</a:t>
            </a:r>
            <a:endParaRPr dirty="0"/>
          </a:p>
        </p:txBody>
      </p:sp>
      <p:sp>
        <p:nvSpPr>
          <p:cNvPr id="4" name="Footer Placeholder 3">
            <a:extLst>
              <a:ext uri="{FF2B5EF4-FFF2-40B4-BE49-F238E27FC236}">
                <a16:creationId xmlns:a16="http://schemas.microsoft.com/office/drawing/2014/main" id="{A497755F-3BAB-878F-76B6-2A1846891CCB}"/>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normAutofit fontScale="85000" lnSpcReduction="10000"/>
          </a:bodyPr>
          <a:lstStyle/>
          <a:p>
            <a:pPr marL="0" indent="0">
              <a:lnSpc>
                <a:spcPct val="120000"/>
              </a:lnSpc>
              <a:buNone/>
            </a:pPr>
            <a:r>
              <a:rPr lang="en-US" i="1" dirty="0"/>
              <a:t>Today’s Internet connects over 22 billion devices. The network itself is a massively distributed system, built from hundreds of millions of switching devices. All of this is in the service of applications as diverse as video conferencing, live and on-demand streaming, e-commerce, social media, automated manufacturing.</a:t>
            </a:r>
          </a:p>
          <a:p>
            <a:pPr marL="0" indent="0">
              <a:lnSpc>
                <a:spcPct val="120000"/>
              </a:lnSpc>
              <a:spcBef>
                <a:spcPts val="1600"/>
              </a:spcBef>
              <a:buNone/>
            </a:pPr>
            <a:r>
              <a:rPr lang="en-US" i="1" dirty="0"/>
              <a:t>This book imagines that we’re setting out to build just such a network. What available technologies would serve as the underlying building blocks, and what kind of software architecture would you design to integrate these building blocks into an effective communication service? Answering this question is the overriding goal of this book. This chapter lays the foundation for doing just that.</a:t>
            </a:r>
          </a:p>
        </p:txBody>
      </p:sp>
      <p:sp>
        <p:nvSpPr>
          <p:cNvPr id="4" name="Footer Placeholder 3">
            <a:extLst>
              <a:ext uri="{FF2B5EF4-FFF2-40B4-BE49-F238E27FC236}">
                <a16:creationId xmlns:a16="http://schemas.microsoft.com/office/drawing/2014/main" id="{912B7993-DB7A-6633-5868-AD16F48E0CAB}"/>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Requirements</a:t>
            </a:r>
          </a:p>
        </p:txBody>
      </p:sp>
      <p:sp>
        <p:nvSpPr>
          <p:cNvPr id="3" name="Content Placeholder 2"/>
          <p:cNvSpPr>
            <a:spLocks noGrp="1"/>
          </p:cNvSpPr>
          <p:nvPr>
            <p:ph sz="half" idx="1"/>
          </p:nvPr>
        </p:nvSpPr>
        <p:spPr/>
        <p:txBody>
          <a:bodyPr>
            <a:normAutofit/>
          </a:bodyPr>
          <a:lstStyle/>
          <a:p>
            <a:r>
              <a:rPr dirty="0"/>
              <a:t>Scalab</a:t>
            </a:r>
            <a:r>
              <a:rPr lang="en-US" dirty="0"/>
              <a:t>le</a:t>
            </a:r>
            <a:endParaRPr dirty="0"/>
          </a:p>
          <a:p>
            <a:pPr lvl="1"/>
            <a:r>
              <a:rPr lang="en-US" dirty="0"/>
              <a:t>G</a:t>
            </a:r>
            <a:r>
              <a:rPr dirty="0"/>
              <a:t>row without arbitrary limits</a:t>
            </a:r>
          </a:p>
          <a:p>
            <a:r>
              <a:rPr dirty="0"/>
              <a:t>General</a:t>
            </a:r>
            <a:r>
              <a:rPr lang="en-US" dirty="0"/>
              <a:t>-Purpose</a:t>
            </a:r>
            <a:endParaRPr dirty="0"/>
          </a:p>
          <a:p>
            <a:pPr lvl="1"/>
            <a:r>
              <a:rPr dirty="0"/>
              <a:t>Support any application</a:t>
            </a:r>
          </a:p>
          <a:p>
            <a:r>
              <a:rPr dirty="0"/>
              <a:t>Cost-Effective </a:t>
            </a:r>
            <a:endParaRPr lang="en-US" dirty="0"/>
          </a:p>
          <a:p>
            <a:pPr lvl="1"/>
            <a:r>
              <a:rPr lang="en-US" dirty="0"/>
              <a:t>Efficiently share resources</a:t>
            </a:r>
          </a:p>
          <a:p>
            <a:r>
              <a:rPr lang="en-US" dirty="0"/>
              <a:t>High Performance</a:t>
            </a:r>
          </a:p>
          <a:p>
            <a:pPr lvl="1"/>
            <a:r>
              <a:rPr lang="en-US" dirty="0"/>
              <a:t>High Throughput / Low Latency</a:t>
            </a:r>
          </a:p>
          <a:p>
            <a:pPr marL="0" indent="0">
              <a:buNone/>
            </a:pPr>
            <a:endParaRPr lang="en-US" dirty="0"/>
          </a:p>
        </p:txBody>
      </p:sp>
      <p:sp>
        <p:nvSpPr>
          <p:cNvPr id="4" name="Content Placeholder 3"/>
          <p:cNvSpPr>
            <a:spLocks noGrp="1"/>
          </p:cNvSpPr>
          <p:nvPr>
            <p:ph sz="half" idx="2"/>
          </p:nvPr>
        </p:nvSpPr>
        <p:spPr/>
        <p:txBody>
          <a:bodyPr>
            <a:normAutofit/>
          </a:bodyPr>
          <a:lstStyle/>
          <a:p>
            <a:r>
              <a:rPr dirty="0"/>
              <a:t>Other </a:t>
            </a:r>
            <a:r>
              <a:rPr lang="en-US" dirty="0"/>
              <a:t>Common Requirements</a:t>
            </a:r>
          </a:p>
          <a:p>
            <a:pPr lvl="1"/>
            <a:r>
              <a:rPr lang="en-US" dirty="0"/>
              <a:t>S</a:t>
            </a:r>
            <a:r>
              <a:rPr dirty="0"/>
              <a:t>ecur</a:t>
            </a:r>
            <a:r>
              <a:rPr lang="en-US" dirty="0"/>
              <a:t>e</a:t>
            </a:r>
          </a:p>
          <a:p>
            <a:pPr lvl="1"/>
            <a:r>
              <a:rPr lang="en-US" dirty="0"/>
              <a:t>M</a:t>
            </a:r>
            <a:r>
              <a:rPr dirty="0"/>
              <a:t>anageab</a:t>
            </a:r>
            <a:r>
              <a:rPr lang="en-US" dirty="0"/>
              <a:t>le</a:t>
            </a:r>
          </a:p>
          <a:p>
            <a:pPr lvl="1"/>
            <a:r>
              <a:rPr lang="en-US" dirty="0"/>
              <a:t>R</a:t>
            </a:r>
            <a:r>
              <a:rPr dirty="0"/>
              <a:t>eliab</a:t>
            </a:r>
            <a:r>
              <a:rPr lang="en-US" dirty="0"/>
              <a:t>le (Available)</a:t>
            </a:r>
          </a:p>
          <a:p>
            <a:pPr lvl="1"/>
            <a:r>
              <a:rPr lang="en-US" dirty="0"/>
              <a:t>E</a:t>
            </a:r>
            <a:r>
              <a:rPr dirty="0"/>
              <a:t>volvab</a:t>
            </a:r>
            <a:r>
              <a:rPr lang="en-US" dirty="0"/>
              <a:t>le</a:t>
            </a:r>
            <a:endParaRPr dirty="0"/>
          </a:p>
          <a:p>
            <a:r>
              <a:rPr dirty="0"/>
              <a:t>Tradeoffs </a:t>
            </a:r>
            <a:r>
              <a:rPr lang="en-US" dirty="0"/>
              <a:t>I</a:t>
            </a:r>
            <a:r>
              <a:rPr dirty="0"/>
              <a:t>nevitable</a:t>
            </a:r>
            <a:endParaRPr lang="en-US" dirty="0"/>
          </a:p>
          <a:p>
            <a:pPr lvl="1"/>
            <a:r>
              <a:rPr lang="en-US" dirty="0"/>
              <a:t>P</a:t>
            </a:r>
            <a:r>
              <a:rPr dirty="0"/>
              <a:t>riorities </a:t>
            </a:r>
            <a:r>
              <a:rPr lang="en-US" dirty="0"/>
              <a:t>change</a:t>
            </a:r>
            <a:endParaRPr dirty="0"/>
          </a:p>
        </p:txBody>
      </p:sp>
      <p:sp>
        <p:nvSpPr>
          <p:cNvPr id="5" name="Footer Placeholder 4">
            <a:extLst>
              <a:ext uri="{FF2B5EF4-FFF2-40B4-BE49-F238E27FC236}">
                <a16:creationId xmlns:a16="http://schemas.microsoft.com/office/drawing/2014/main" id="{331D0D1D-B0BF-4FE9-2C9E-5B67BC15E5E7}"/>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Network Architecture</a:t>
            </a:r>
          </a:p>
        </p:txBody>
      </p:sp>
      <p:sp>
        <p:nvSpPr>
          <p:cNvPr id="3" name="Content Placeholder 2"/>
          <p:cNvSpPr>
            <a:spLocks noGrp="1"/>
          </p:cNvSpPr>
          <p:nvPr>
            <p:ph idx="1"/>
          </p:nvPr>
        </p:nvSpPr>
        <p:spPr>
          <a:xfrm>
            <a:off x="838200" y="1548225"/>
            <a:ext cx="10515600" cy="4555120"/>
          </a:xfrm>
        </p:spPr>
        <p:txBody>
          <a:bodyPr>
            <a:normAutofit/>
          </a:bodyPr>
          <a:lstStyle/>
          <a:p>
            <a:r>
              <a:rPr dirty="0"/>
              <a:t>Blueprint for modularizing a </a:t>
            </a:r>
            <a:r>
              <a:rPr lang="en-US" dirty="0"/>
              <a:t>network</a:t>
            </a:r>
            <a:endParaRPr dirty="0"/>
          </a:p>
          <a:p>
            <a:pPr lvl="1"/>
            <a:r>
              <a:rPr lang="en-US" dirty="0"/>
              <a:t>Same challenge as modularizing any complex system</a:t>
            </a:r>
            <a:endParaRPr dirty="0"/>
          </a:p>
          <a:p>
            <a:pPr lvl="1"/>
            <a:r>
              <a:rPr lang="en-US" dirty="0"/>
              <a:t>Added challenge of reaching agreement about interoperating</a:t>
            </a:r>
            <a:endParaRPr dirty="0"/>
          </a:p>
          <a:p>
            <a:r>
              <a:rPr lang="en-US" dirty="0"/>
              <a:t>An architecture is both </a:t>
            </a:r>
            <a:r>
              <a:rPr lang="en-US" i="1" dirty="0"/>
              <a:t>descriptive</a:t>
            </a:r>
            <a:r>
              <a:rPr lang="en-US" dirty="0"/>
              <a:t> and </a:t>
            </a:r>
            <a:r>
              <a:rPr lang="en-US" i="1" dirty="0"/>
              <a:t>prescriptive</a:t>
            </a:r>
          </a:p>
          <a:p>
            <a:pPr lvl="1"/>
            <a:r>
              <a:rPr lang="en-US" dirty="0"/>
              <a:t>Describes what exists so others can understand it (and build upon it)</a:t>
            </a:r>
          </a:p>
          <a:p>
            <a:pPr lvl="1"/>
            <a:r>
              <a:rPr lang="en-US" dirty="0"/>
              <a:t>Prescribes how to extend and evolve what’s already there</a:t>
            </a:r>
          </a:p>
          <a:p>
            <a:r>
              <a:rPr lang="en-US" dirty="0"/>
              <a:t>Balancing Act</a:t>
            </a:r>
          </a:p>
          <a:p>
            <a:pPr lvl="1"/>
            <a:r>
              <a:rPr lang="en-US" dirty="0"/>
              <a:t>An architecture is “anchored” by a set of invariants (require agreement)</a:t>
            </a:r>
          </a:p>
          <a:p>
            <a:pPr lvl="1"/>
            <a:r>
              <a:rPr lang="en-US" dirty="0"/>
              <a:t>An architecture is flexible enough to evolve (encourage innovation)</a:t>
            </a:r>
          </a:p>
        </p:txBody>
      </p:sp>
      <p:sp>
        <p:nvSpPr>
          <p:cNvPr id="4" name="Footer Placeholder 3">
            <a:extLst>
              <a:ext uri="{FF2B5EF4-FFF2-40B4-BE49-F238E27FC236}">
                <a16:creationId xmlns:a16="http://schemas.microsoft.com/office/drawing/2014/main" id="{AAE162FB-AE6E-6909-7B37-B581B3059674}"/>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OSI Architecture</a:t>
            </a:r>
          </a:p>
        </p:txBody>
      </p:sp>
      <p:sp>
        <p:nvSpPr>
          <p:cNvPr id="3" name="Content Placeholder 2"/>
          <p:cNvSpPr>
            <a:spLocks noGrp="1"/>
          </p:cNvSpPr>
          <p:nvPr>
            <p:ph idx="1"/>
          </p:nvPr>
        </p:nvSpPr>
        <p:spPr>
          <a:xfrm>
            <a:off x="616945" y="1300088"/>
            <a:ext cx="6962660" cy="4351320"/>
          </a:xfrm>
        </p:spPr>
        <p:txBody>
          <a:bodyPr/>
          <a:lstStyle/>
          <a:p>
            <a:r>
              <a:rPr lang="en-US" dirty="0"/>
              <a:t>Prescribes 7 layers of abstract functionality</a:t>
            </a:r>
          </a:p>
          <a:p>
            <a:pPr lvl="1"/>
            <a:r>
              <a:rPr lang="en-US" dirty="0"/>
              <a:t>Networking through the Telco lens</a:t>
            </a:r>
            <a:endParaRPr dirty="0"/>
          </a:p>
        </p:txBody>
      </p:sp>
      <p:pic>
        <p:nvPicPr>
          <p:cNvPr id="4" name="Picture 3" descr="osi.png"/>
          <p:cNvPicPr>
            <a:picLocks noChangeAspect="1"/>
          </p:cNvPicPr>
          <p:nvPr/>
        </p:nvPicPr>
        <p:blipFill>
          <a:blip r:embed="rId2"/>
          <a:stretch>
            <a:fillRect/>
          </a:stretch>
        </p:blipFill>
        <p:spPr>
          <a:xfrm>
            <a:off x="4856400" y="2224655"/>
            <a:ext cx="6497280" cy="4076996"/>
          </a:xfrm>
          <a:prstGeom prst="rect">
            <a:avLst/>
          </a:prstGeom>
        </p:spPr>
      </p:pic>
      <p:sp>
        <p:nvSpPr>
          <p:cNvPr id="5" name="Footer Placeholder 4">
            <a:extLst>
              <a:ext uri="{FF2B5EF4-FFF2-40B4-BE49-F238E27FC236}">
                <a16:creationId xmlns:a16="http://schemas.microsoft.com/office/drawing/2014/main" id="{D33CE063-F96E-7718-876D-C405EC441E14}"/>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4E11E-B4C7-A39D-4D26-2927C8490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27C379-D871-3249-67C7-546C7FDD98E7}"/>
              </a:ext>
            </a:extLst>
          </p:cNvPr>
          <p:cNvSpPr>
            <a:spLocks noGrp="1"/>
          </p:cNvSpPr>
          <p:nvPr>
            <p:ph type="title"/>
          </p:nvPr>
        </p:nvSpPr>
        <p:spPr/>
        <p:txBody>
          <a:bodyPr/>
          <a:lstStyle/>
          <a:p>
            <a:r>
              <a:t>OSI Architecture</a:t>
            </a:r>
          </a:p>
        </p:txBody>
      </p:sp>
      <p:sp>
        <p:nvSpPr>
          <p:cNvPr id="3" name="Content Placeholder 2">
            <a:extLst>
              <a:ext uri="{FF2B5EF4-FFF2-40B4-BE49-F238E27FC236}">
                <a16:creationId xmlns:a16="http://schemas.microsoft.com/office/drawing/2014/main" id="{7D7EFCC4-D7CB-32E6-03C9-5D18BF9E30A2}"/>
              </a:ext>
            </a:extLst>
          </p:cNvPr>
          <p:cNvSpPr>
            <a:spLocks noGrp="1"/>
          </p:cNvSpPr>
          <p:nvPr>
            <p:ph idx="1"/>
          </p:nvPr>
        </p:nvSpPr>
        <p:spPr>
          <a:xfrm>
            <a:off x="616945" y="1300088"/>
            <a:ext cx="6962660" cy="4351320"/>
          </a:xfrm>
        </p:spPr>
        <p:txBody>
          <a:bodyPr/>
          <a:lstStyle/>
          <a:p>
            <a:r>
              <a:rPr lang="en-US" dirty="0"/>
              <a:t>Prescribes 7 layers of abstract functionality</a:t>
            </a:r>
          </a:p>
          <a:p>
            <a:pPr lvl="1"/>
            <a:r>
              <a:rPr lang="en-US" dirty="0"/>
              <a:t>Networking through the Telco lens</a:t>
            </a:r>
          </a:p>
          <a:p>
            <a:pPr lvl="1"/>
            <a:r>
              <a:rPr lang="en-US" dirty="0"/>
              <a:t>Outlines role of switching</a:t>
            </a:r>
            <a:endParaRPr dirty="0"/>
          </a:p>
        </p:txBody>
      </p:sp>
      <p:pic>
        <p:nvPicPr>
          <p:cNvPr id="4" name="Picture 3" descr="osi.png">
            <a:extLst>
              <a:ext uri="{FF2B5EF4-FFF2-40B4-BE49-F238E27FC236}">
                <a16:creationId xmlns:a16="http://schemas.microsoft.com/office/drawing/2014/main" id="{E4BB586F-ECFF-96E0-55C9-1EF15D9D9195}"/>
              </a:ext>
            </a:extLst>
          </p:cNvPr>
          <p:cNvPicPr>
            <a:picLocks noChangeAspect="1"/>
          </p:cNvPicPr>
          <p:nvPr/>
        </p:nvPicPr>
        <p:blipFill>
          <a:blip r:embed="rId2"/>
          <a:stretch>
            <a:fillRect/>
          </a:stretch>
        </p:blipFill>
        <p:spPr>
          <a:xfrm>
            <a:off x="4856400" y="2224655"/>
            <a:ext cx="6497280" cy="4076996"/>
          </a:xfrm>
          <a:prstGeom prst="rect">
            <a:avLst/>
          </a:prstGeom>
        </p:spPr>
      </p:pic>
      <p:sp>
        <p:nvSpPr>
          <p:cNvPr id="6" name="Rectangle 5">
            <a:extLst>
              <a:ext uri="{FF2B5EF4-FFF2-40B4-BE49-F238E27FC236}">
                <a16:creationId xmlns:a16="http://schemas.microsoft.com/office/drawing/2014/main" id="{FEE42B88-0016-5F25-58EE-5830CF0EC895}"/>
              </a:ext>
            </a:extLst>
          </p:cNvPr>
          <p:cNvSpPr/>
          <p:nvPr/>
        </p:nvSpPr>
        <p:spPr>
          <a:xfrm>
            <a:off x="6657474" y="3746598"/>
            <a:ext cx="2967789" cy="28293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png">
            <a:extLst>
              <a:ext uri="{FF2B5EF4-FFF2-40B4-BE49-F238E27FC236}">
                <a16:creationId xmlns:a16="http://schemas.microsoft.com/office/drawing/2014/main" id="{221EE580-F434-F73E-DD2D-787CFECE1973}"/>
              </a:ext>
            </a:extLst>
          </p:cNvPr>
          <p:cNvPicPr>
            <a:picLocks noChangeAspect="1"/>
          </p:cNvPicPr>
          <p:nvPr/>
        </p:nvPicPr>
        <p:blipFill>
          <a:blip r:embed="rId3"/>
          <a:stretch>
            <a:fillRect/>
          </a:stretch>
        </p:blipFill>
        <p:spPr>
          <a:xfrm>
            <a:off x="6499935" y="3844799"/>
            <a:ext cx="3149391" cy="2367445"/>
          </a:xfrm>
          <a:prstGeom prst="rect">
            <a:avLst/>
          </a:prstGeom>
        </p:spPr>
      </p:pic>
      <p:cxnSp>
        <p:nvCxnSpPr>
          <p:cNvPr id="8" name="Straight Connector 7">
            <a:extLst>
              <a:ext uri="{FF2B5EF4-FFF2-40B4-BE49-F238E27FC236}">
                <a16:creationId xmlns:a16="http://schemas.microsoft.com/office/drawing/2014/main" id="{AEF2FD67-92AA-81F0-DBE4-9ADE7E17D191}"/>
              </a:ext>
            </a:extLst>
          </p:cNvPr>
          <p:cNvCxnSpPr>
            <a:cxnSpLocks/>
          </p:cNvCxnSpPr>
          <p:nvPr/>
        </p:nvCxnSpPr>
        <p:spPr>
          <a:xfrm>
            <a:off x="6096000" y="5702968"/>
            <a:ext cx="1121808" cy="0"/>
          </a:xfrm>
          <a:prstGeom prst="line">
            <a:avLst/>
          </a:prstGeom>
          <a:ln>
            <a:solidFill>
              <a:srgbClr val="6A99D0"/>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3823921-0686-950D-5CFE-8C258385579B}"/>
              </a:ext>
            </a:extLst>
          </p:cNvPr>
          <p:cNvCxnSpPr>
            <a:cxnSpLocks/>
          </p:cNvCxnSpPr>
          <p:nvPr/>
        </p:nvCxnSpPr>
        <p:spPr>
          <a:xfrm>
            <a:off x="8819361" y="5702968"/>
            <a:ext cx="1225026" cy="0"/>
          </a:xfrm>
          <a:prstGeom prst="line">
            <a:avLst/>
          </a:prstGeom>
          <a:ln>
            <a:solidFill>
              <a:srgbClr val="6A99D0"/>
            </a:solidFill>
          </a:ln>
        </p:spPr>
        <p:style>
          <a:lnRef idx="2">
            <a:schemeClr val="accent1"/>
          </a:lnRef>
          <a:fillRef idx="0">
            <a:schemeClr val="accent1"/>
          </a:fillRef>
          <a:effectRef idx="1">
            <a:schemeClr val="accent1"/>
          </a:effectRef>
          <a:fontRef idx="minor">
            <a:schemeClr val="tx1"/>
          </a:fontRef>
        </p:style>
      </p:cxnSp>
      <p:sp>
        <p:nvSpPr>
          <p:cNvPr id="7" name="Footer Placeholder 6">
            <a:extLst>
              <a:ext uri="{FF2B5EF4-FFF2-40B4-BE49-F238E27FC236}">
                <a16:creationId xmlns:a16="http://schemas.microsoft.com/office/drawing/2014/main" id="{5AFC0070-FFD5-005B-01BA-F5736D074502}"/>
              </a:ext>
            </a:extLst>
          </p:cNvPr>
          <p:cNvSpPr>
            <a:spLocks noGrp="1"/>
          </p:cNvSpPr>
          <p:nvPr>
            <p:ph type="ftr" sz="quarter" idx="11"/>
          </p:nvPr>
        </p:nvSpPr>
        <p:spPr/>
        <p:txBody>
          <a:bodyPr/>
          <a:lstStyle/>
          <a:p>
            <a:r>
              <a:rPr lang="en-US"/>
              <a:t>Copyright Peterson &amp; Davie, 2026</a:t>
            </a:r>
          </a:p>
        </p:txBody>
      </p:sp>
    </p:spTree>
    <p:extLst>
      <p:ext uri="{BB962C8B-B14F-4D97-AF65-F5344CB8AC3E}">
        <p14:creationId xmlns:p14="http://schemas.microsoft.com/office/powerpoint/2010/main" val="1609014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Internet Architecture</a:t>
            </a:r>
          </a:p>
        </p:txBody>
      </p:sp>
      <p:sp>
        <p:nvSpPr>
          <p:cNvPr id="3" name="Content Placeholder 2"/>
          <p:cNvSpPr>
            <a:spLocks noGrp="1"/>
          </p:cNvSpPr>
          <p:nvPr>
            <p:ph idx="1"/>
          </p:nvPr>
        </p:nvSpPr>
        <p:spPr>
          <a:xfrm>
            <a:off x="838080" y="1476360"/>
            <a:ext cx="5181480" cy="4351320"/>
          </a:xfrm>
        </p:spPr>
        <p:txBody>
          <a:bodyPr/>
          <a:lstStyle/>
          <a:p>
            <a:r>
              <a:rPr dirty="0"/>
              <a:t>Organized aro</a:t>
            </a:r>
            <a:r>
              <a:rPr lang="en-US" dirty="0"/>
              <a:t>und core</a:t>
            </a:r>
            <a:r>
              <a:rPr dirty="0"/>
              <a:t> protocols</a:t>
            </a:r>
            <a:endParaRPr lang="en-US" dirty="0"/>
          </a:p>
          <a:p>
            <a:r>
              <a:rPr dirty="0"/>
              <a:t>Hourglass</a:t>
            </a:r>
            <a:r>
              <a:rPr lang="en-US" dirty="0"/>
              <a:t> Shape</a:t>
            </a:r>
          </a:p>
          <a:p>
            <a:pPr lvl="1"/>
            <a:r>
              <a:rPr lang="en-US" dirty="0"/>
              <a:t>M</a:t>
            </a:r>
            <a:r>
              <a:rPr dirty="0"/>
              <a:t>any apps on top</a:t>
            </a:r>
            <a:endParaRPr lang="en-US" dirty="0"/>
          </a:p>
          <a:p>
            <a:pPr lvl="1"/>
            <a:r>
              <a:rPr lang="en-US" dirty="0"/>
              <a:t>M</a:t>
            </a:r>
            <a:r>
              <a:rPr dirty="0"/>
              <a:t>any link technologies below</a:t>
            </a:r>
          </a:p>
          <a:p>
            <a:pPr lvl="1"/>
            <a:r>
              <a:rPr dirty="0"/>
              <a:t>IP </a:t>
            </a:r>
            <a:r>
              <a:rPr lang="en-US" dirty="0"/>
              <a:t>defines the narrow waist</a:t>
            </a:r>
          </a:p>
          <a:p>
            <a:pPr lvl="2"/>
            <a:r>
              <a:rPr lang="en-US" i="1" dirty="0"/>
              <a:t>Universal Connectivity</a:t>
            </a:r>
          </a:p>
          <a:p>
            <a:pPr lvl="2"/>
            <a:r>
              <a:rPr lang="en-US" i="1" dirty="0"/>
              <a:t>Best-Effort Packet Delivery</a:t>
            </a:r>
          </a:p>
        </p:txBody>
      </p:sp>
      <p:pic>
        <p:nvPicPr>
          <p:cNvPr id="4" name="Picture 3" descr="internet.png"/>
          <p:cNvPicPr>
            <a:picLocks noChangeAspect="1"/>
          </p:cNvPicPr>
          <p:nvPr/>
        </p:nvPicPr>
        <p:blipFill>
          <a:blip r:embed="rId2"/>
          <a:stretch>
            <a:fillRect/>
          </a:stretch>
        </p:blipFill>
        <p:spPr>
          <a:xfrm>
            <a:off x="6172200" y="1562062"/>
            <a:ext cx="5181480" cy="4179915"/>
          </a:xfrm>
          <a:prstGeom prst="rect">
            <a:avLst/>
          </a:prstGeom>
        </p:spPr>
      </p:pic>
      <p:sp>
        <p:nvSpPr>
          <p:cNvPr id="5" name="Footer Placeholder 4">
            <a:extLst>
              <a:ext uri="{FF2B5EF4-FFF2-40B4-BE49-F238E27FC236}">
                <a16:creationId xmlns:a16="http://schemas.microsoft.com/office/drawing/2014/main" id="{809D7038-2B8F-24C7-0FB1-5BA892421E9E}"/>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Internet Architecture (cont)</a:t>
            </a:r>
          </a:p>
        </p:txBody>
      </p:sp>
      <p:sp>
        <p:nvSpPr>
          <p:cNvPr id="3" name="Content Placeholder 2"/>
          <p:cNvSpPr>
            <a:spLocks noGrp="1"/>
          </p:cNvSpPr>
          <p:nvPr>
            <p:ph idx="1"/>
          </p:nvPr>
        </p:nvSpPr>
        <p:spPr>
          <a:xfrm>
            <a:off x="616945" y="1476360"/>
            <a:ext cx="5938091" cy="4351320"/>
          </a:xfrm>
        </p:spPr>
        <p:txBody>
          <a:bodyPr/>
          <a:lstStyle/>
          <a:p>
            <a:r>
              <a:rPr dirty="0"/>
              <a:t>IP </a:t>
            </a:r>
            <a:r>
              <a:rPr lang="en-US" dirty="0"/>
              <a:t>is a logical network</a:t>
            </a:r>
          </a:p>
          <a:p>
            <a:r>
              <a:rPr lang="en-US" dirty="0"/>
              <a:t>Overlayed on physical networks</a:t>
            </a:r>
          </a:p>
          <a:p>
            <a:r>
              <a:rPr lang="en-US" dirty="0"/>
              <a:t>Powerful idea </a:t>
            </a:r>
            <a:r>
              <a:rPr lang="en-US" dirty="0">
                <a:sym typeface="Wingdings" pitchFamily="2" charset="2"/>
              </a:rPr>
              <a:t> </a:t>
            </a:r>
            <a:r>
              <a:rPr lang="en-US" i="1" dirty="0"/>
              <a:t>Recursive Networks</a:t>
            </a:r>
          </a:p>
          <a:p>
            <a:pPr lvl="1"/>
            <a:r>
              <a:rPr lang="en-US" dirty="0"/>
              <a:t>You can build a network by… </a:t>
            </a:r>
          </a:p>
          <a:p>
            <a:pPr lvl="2"/>
            <a:r>
              <a:rPr lang="en-US" dirty="0"/>
              <a:t>connecting two or more nodes with a link</a:t>
            </a:r>
          </a:p>
          <a:p>
            <a:pPr lvl="2"/>
            <a:r>
              <a:rPr lang="en-US" dirty="0"/>
              <a:t>connecting two more networks  with a node</a:t>
            </a:r>
          </a:p>
          <a:p>
            <a:pPr lvl="1"/>
            <a:endParaRPr i="1" dirty="0"/>
          </a:p>
        </p:txBody>
      </p:sp>
      <p:pic>
        <p:nvPicPr>
          <p:cNvPr id="4" name="Picture 3" descr="internet-cloud.png"/>
          <p:cNvPicPr>
            <a:picLocks noChangeAspect="1"/>
          </p:cNvPicPr>
          <p:nvPr/>
        </p:nvPicPr>
        <p:blipFill>
          <a:blip r:embed="rId3"/>
          <a:stretch>
            <a:fillRect/>
          </a:stretch>
        </p:blipFill>
        <p:spPr>
          <a:xfrm>
            <a:off x="6775373" y="3429000"/>
            <a:ext cx="5181480" cy="3149197"/>
          </a:xfrm>
          <a:prstGeom prst="rect">
            <a:avLst/>
          </a:prstGeom>
        </p:spPr>
      </p:pic>
      <p:pic>
        <p:nvPicPr>
          <p:cNvPr id="5" name="Picture 4" descr="network.png">
            <a:extLst>
              <a:ext uri="{FF2B5EF4-FFF2-40B4-BE49-F238E27FC236}">
                <a16:creationId xmlns:a16="http://schemas.microsoft.com/office/drawing/2014/main" id="{D419536F-2F05-EC27-E9FA-D8A33BCE71F8}"/>
              </a:ext>
            </a:extLst>
          </p:cNvPr>
          <p:cNvPicPr>
            <a:picLocks noChangeAspect="1"/>
          </p:cNvPicPr>
          <p:nvPr/>
        </p:nvPicPr>
        <p:blipFill>
          <a:blip r:embed="rId4"/>
          <a:stretch>
            <a:fillRect/>
          </a:stretch>
        </p:blipFill>
        <p:spPr>
          <a:xfrm>
            <a:off x="7791418" y="987978"/>
            <a:ext cx="3149391" cy="2367445"/>
          </a:xfrm>
          <a:prstGeom prst="rect">
            <a:avLst/>
          </a:prstGeom>
        </p:spPr>
      </p:pic>
      <p:sp>
        <p:nvSpPr>
          <p:cNvPr id="6" name="Footer Placeholder 5">
            <a:extLst>
              <a:ext uri="{FF2B5EF4-FFF2-40B4-BE49-F238E27FC236}">
                <a16:creationId xmlns:a16="http://schemas.microsoft.com/office/drawing/2014/main" id="{BFE802C4-10FF-832D-B44D-B419B0299C66}"/>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Design Principles</a:t>
            </a:r>
          </a:p>
        </p:txBody>
      </p:sp>
      <p:sp>
        <p:nvSpPr>
          <p:cNvPr id="3" name="Content Placeholder 2"/>
          <p:cNvSpPr>
            <a:spLocks noGrp="1"/>
          </p:cNvSpPr>
          <p:nvPr>
            <p:ph idx="1"/>
          </p:nvPr>
        </p:nvSpPr>
        <p:spPr>
          <a:xfrm>
            <a:off x="838200" y="1548225"/>
            <a:ext cx="9958330" cy="4351338"/>
          </a:xfrm>
        </p:spPr>
        <p:txBody>
          <a:bodyPr>
            <a:normAutofit/>
          </a:bodyPr>
          <a:lstStyle/>
          <a:p>
            <a:r>
              <a:rPr dirty="0"/>
              <a:t>Separation of Concerns</a:t>
            </a:r>
          </a:p>
          <a:p>
            <a:pPr lvl="1"/>
            <a:r>
              <a:rPr lang="en-US" dirty="0"/>
              <a:t>Don’t try to solve all problems (satisfy all requirements) at once</a:t>
            </a:r>
            <a:endParaRPr dirty="0"/>
          </a:p>
          <a:p>
            <a:pPr lvl="1"/>
            <a:r>
              <a:rPr lang="en-US" dirty="0"/>
              <a:t>Internet Example</a:t>
            </a:r>
          </a:p>
          <a:p>
            <a:pPr lvl="2"/>
            <a:r>
              <a:rPr lang="en-US" dirty="0"/>
              <a:t>Focus on universal connectivity</a:t>
            </a:r>
          </a:p>
          <a:p>
            <a:pPr lvl="2"/>
            <a:r>
              <a:rPr lang="en-US" dirty="0"/>
              <a:t>Remain agnostic about apps (top) and technologies (bottom)</a:t>
            </a:r>
          </a:p>
          <a:p>
            <a:r>
              <a:rPr dirty="0"/>
              <a:t>End-to-End Arguments</a:t>
            </a:r>
          </a:p>
          <a:p>
            <a:pPr lvl="1"/>
            <a:r>
              <a:rPr lang="en-US" dirty="0"/>
              <a:t>Don’t try to solve problems at low levels (inside the network) that can only be fully addressed at high levels (with application knowledge)</a:t>
            </a:r>
          </a:p>
          <a:p>
            <a:pPr lvl="1"/>
            <a:r>
              <a:rPr lang="en-US" dirty="0"/>
              <a:t>Internet </a:t>
            </a:r>
            <a:r>
              <a:rPr dirty="0"/>
              <a:t>Example</a:t>
            </a:r>
            <a:endParaRPr lang="en-US" dirty="0"/>
          </a:p>
          <a:p>
            <a:pPr lvl="2"/>
            <a:r>
              <a:rPr lang="en-US" dirty="0"/>
              <a:t>Reliable delivery can only </a:t>
            </a:r>
            <a:r>
              <a:rPr dirty="0"/>
              <a:t>be verified end-to-end</a:t>
            </a:r>
            <a:endParaRPr lang="en-US" dirty="0"/>
          </a:p>
          <a:p>
            <a:pPr lvl="2"/>
            <a:r>
              <a:rPr lang="en-US" dirty="0"/>
              <a:t>Detect (and optionally “fix”) errors inside the network as an optimization</a:t>
            </a:r>
            <a:endParaRPr dirty="0"/>
          </a:p>
        </p:txBody>
      </p:sp>
      <p:sp>
        <p:nvSpPr>
          <p:cNvPr id="4" name="Footer Placeholder 3">
            <a:extLst>
              <a:ext uri="{FF2B5EF4-FFF2-40B4-BE49-F238E27FC236}">
                <a16:creationId xmlns:a16="http://schemas.microsoft.com/office/drawing/2014/main" id="{7F9E87CE-9212-02DA-534A-379E9EBF87CD}"/>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Layering</a:t>
            </a:r>
          </a:p>
        </p:txBody>
      </p:sp>
      <p:sp>
        <p:nvSpPr>
          <p:cNvPr id="3" name="Content Placeholder 2"/>
          <p:cNvSpPr>
            <a:spLocks noGrp="1"/>
          </p:cNvSpPr>
          <p:nvPr>
            <p:ph idx="1"/>
          </p:nvPr>
        </p:nvSpPr>
        <p:spPr>
          <a:xfrm>
            <a:off x="694063" y="1496531"/>
            <a:ext cx="7414351" cy="4351320"/>
          </a:xfrm>
        </p:spPr>
        <p:txBody>
          <a:bodyPr/>
          <a:lstStyle/>
          <a:p>
            <a:r>
              <a:rPr lang="en-US" dirty="0"/>
              <a:t>Approach to modularity</a:t>
            </a:r>
          </a:p>
          <a:p>
            <a:r>
              <a:rPr dirty="0"/>
              <a:t>Stack of abstractions</a:t>
            </a:r>
            <a:endParaRPr lang="en-US" dirty="0"/>
          </a:p>
          <a:p>
            <a:pPr lvl="1"/>
            <a:r>
              <a:rPr lang="en-US" sz="2200" dirty="0"/>
              <a:t>Hardware at the base</a:t>
            </a:r>
            <a:endParaRPr sz="2200" dirty="0"/>
          </a:p>
          <a:p>
            <a:pPr lvl="1"/>
            <a:r>
              <a:rPr sz="2200" dirty="0"/>
              <a:t>Each layer</a:t>
            </a:r>
            <a:r>
              <a:rPr lang="en-US" sz="2200" dirty="0"/>
              <a:t> builds on</a:t>
            </a:r>
            <a:r>
              <a:rPr sz="2200" dirty="0"/>
              <a:t> </a:t>
            </a:r>
            <a:r>
              <a:rPr lang="en-US" sz="2200" dirty="0"/>
              <a:t>lower-level </a:t>
            </a:r>
            <a:r>
              <a:rPr sz="2200" dirty="0"/>
              <a:t>services</a:t>
            </a:r>
          </a:p>
          <a:p>
            <a:pPr lvl="1"/>
            <a:r>
              <a:rPr sz="2200" dirty="0"/>
              <a:t>Layers independently replaceable</a:t>
            </a:r>
          </a:p>
          <a:p>
            <a:r>
              <a:rPr lang="en-US" dirty="0"/>
              <a:t>Internet </a:t>
            </a:r>
            <a:r>
              <a:rPr dirty="0"/>
              <a:t>Example</a:t>
            </a:r>
            <a:endParaRPr lang="en-US" dirty="0"/>
          </a:p>
          <a:p>
            <a:pPr lvl="1"/>
            <a:r>
              <a:rPr sz="2200" dirty="0"/>
              <a:t>IP </a:t>
            </a:r>
            <a:r>
              <a:rPr lang="en-US" sz="2200" dirty="0">
                <a:sym typeface="Wingdings" pitchFamily="2" charset="2"/>
              </a:rPr>
              <a:t></a:t>
            </a:r>
            <a:r>
              <a:rPr lang="en-US" sz="2200" dirty="0"/>
              <a:t> </a:t>
            </a:r>
            <a:r>
              <a:rPr sz="2200" dirty="0"/>
              <a:t>host-to-host </a:t>
            </a:r>
            <a:r>
              <a:rPr lang="en-US" sz="2200" dirty="0"/>
              <a:t>packet delivery</a:t>
            </a:r>
          </a:p>
          <a:p>
            <a:pPr lvl="1"/>
            <a:r>
              <a:rPr sz="2200" dirty="0"/>
              <a:t>T</a:t>
            </a:r>
            <a:r>
              <a:rPr lang="en-US" sz="2200" dirty="0"/>
              <a:t>CP </a:t>
            </a:r>
            <a:r>
              <a:rPr lang="en-US" sz="2200" dirty="0">
                <a:sym typeface="Wingdings" pitchFamily="2" charset="2"/>
              </a:rPr>
              <a:t> </a:t>
            </a:r>
            <a:r>
              <a:rPr sz="2200" dirty="0"/>
              <a:t>process-to-process</a:t>
            </a:r>
            <a:r>
              <a:rPr lang="en-US" sz="2200" dirty="0"/>
              <a:t> communication channel</a:t>
            </a:r>
            <a:endParaRPr sz="2200" dirty="0"/>
          </a:p>
        </p:txBody>
      </p:sp>
      <p:pic>
        <p:nvPicPr>
          <p:cNvPr id="4" name="Picture 3" descr="layers.png"/>
          <p:cNvPicPr>
            <a:picLocks noChangeAspect="1"/>
          </p:cNvPicPr>
          <p:nvPr/>
        </p:nvPicPr>
        <p:blipFill>
          <a:blip r:embed="rId2"/>
          <a:stretch>
            <a:fillRect/>
          </a:stretch>
        </p:blipFill>
        <p:spPr>
          <a:xfrm>
            <a:off x="6513723" y="1496531"/>
            <a:ext cx="5181480" cy="2878985"/>
          </a:xfrm>
          <a:prstGeom prst="rect">
            <a:avLst/>
          </a:prstGeom>
        </p:spPr>
      </p:pic>
      <p:sp>
        <p:nvSpPr>
          <p:cNvPr id="5" name="Footer Placeholder 4">
            <a:extLst>
              <a:ext uri="{FF2B5EF4-FFF2-40B4-BE49-F238E27FC236}">
                <a16:creationId xmlns:a16="http://schemas.microsoft.com/office/drawing/2014/main" id="{923E67D9-F5B5-62B6-3DEA-A787D2F160C5}"/>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Protocols</a:t>
            </a:r>
          </a:p>
        </p:txBody>
      </p:sp>
      <p:sp>
        <p:nvSpPr>
          <p:cNvPr id="3" name="Content Placeholder 2"/>
          <p:cNvSpPr>
            <a:spLocks noGrp="1"/>
          </p:cNvSpPr>
          <p:nvPr>
            <p:ph idx="1"/>
          </p:nvPr>
        </p:nvSpPr>
        <p:spPr>
          <a:xfrm>
            <a:off x="838080" y="1476360"/>
            <a:ext cx="5181480" cy="4351320"/>
          </a:xfrm>
        </p:spPr>
        <p:txBody>
          <a:bodyPr/>
          <a:lstStyle/>
          <a:p>
            <a:r>
              <a:rPr lang="en-US" dirty="0"/>
              <a:t>Network module</a:t>
            </a:r>
            <a:endParaRPr dirty="0"/>
          </a:p>
          <a:p>
            <a:r>
              <a:rPr dirty="0"/>
              <a:t>Define</a:t>
            </a:r>
            <a:r>
              <a:rPr lang="en-US" dirty="0"/>
              <a:t>s</a:t>
            </a:r>
            <a:r>
              <a:rPr dirty="0"/>
              <a:t> two interfaces</a:t>
            </a:r>
          </a:p>
          <a:p>
            <a:pPr lvl="1"/>
            <a:r>
              <a:rPr dirty="0"/>
              <a:t>Service interface: operations exposed to layer above</a:t>
            </a:r>
          </a:p>
          <a:p>
            <a:pPr lvl="1"/>
            <a:r>
              <a:rPr dirty="0"/>
              <a:t>Peer interface: message format exchanged with remote peer</a:t>
            </a:r>
          </a:p>
        </p:txBody>
      </p:sp>
      <p:pic>
        <p:nvPicPr>
          <p:cNvPr id="4" name="Picture 3" descr="interfaces.png"/>
          <p:cNvPicPr>
            <a:picLocks noChangeAspect="1"/>
          </p:cNvPicPr>
          <p:nvPr/>
        </p:nvPicPr>
        <p:blipFill>
          <a:blip r:embed="rId2"/>
          <a:stretch>
            <a:fillRect/>
          </a:stretch>
        </p:blipFill>
        <p:spPr>
          <a:xfrm>
            <a:off x="6172200" y="2206973"/>
            <a:ext cx="5181480" cy="2890093"/>
          </a:xfrm>
          <a:prstGeom prst="rect">
            <a:avLst/>
          </a:prstGeom>
        </p:spPr>
      </p:pic>
      <p:sp>
        <p:nvSpPr>
          <p:cNvPr id="5" name="Footer Placeholder 4">
            <a:extLst>
              <a:ext uri="{FF2B5EF4-FFF2-40B4-BE49-F238E27FC236}">
                <a16:creationId xmlns:a16="http://schemas.microsoft.com/office/drawing/2014/main" id="{A72CAFBA-C0BA-092E-6650-94EB54EAE430}"/>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Encapsulation</a:t>
            </a:r>
          </a:p>
        </p:txBody>
      </p:sp>
      <p:sp>
        <p:nvSpPr>
          <p:cNvPr id="3" name="Content Placeholder 2"/>
          <p:cNvSpPr>
            <a:spLocks noGrp="1"/>
          </p:cNvSpPr>
          <p:nvPr>
            <p:ph idx="1"/>
          </p:nvPr>
        </p:nvSpPr>
        <p:spPr>
          <a:xfrm>
            <a:off x="838080" y="1476360"/>
            <a:ext cx="5181480" cy="4351320"/>
          </a:xfrm>
        </p:spPr>
        <p:txBody>
          <a:bodyPr/>
          <a:lstStyle/>
          <a:p>
            <a:r>
              <a:rPr dirty="0"/>
              <a:t>Each layer prepends a header (control info for its peer)</a:t>
            </a:r>
          </a:p>
          <a:p>
            <a:pPr lvl="1"/>
            <a:r>
              <a:rPr dirty="0"/>
              <a:t>Payload untouched by intermediate nodes</a:t>
            </a:r>
          </a:p>
          <a:p>
            <a:r>
              <a:rPr dirty="0"/>
              <a:t>Destination strips headers in reverse order</a:t>
            </a:r>
          </a:p>
        </p:txBody>
      </p:sp>
      <p:pic>
        <p:nvPicPr>
          <p:cNvPr id="4" name="Picture 3" descr="encapsulation.png"/>
          <p:cNvPicPr>
            <a:picLocks noChangeAspect="1"/>
          </p:cNvPicPr>
          <p:nvPr/>
        </p:nvPicPr>
        <p:blipFill>
          <a:blip r:embed="rId2"/>
          <a:stretch>
            <a:fillRect/>
          </a:stretch>
        </p:blipFill>
        <p:spPr>
          <a:xfrm>
            <a:off x="5500170" y="2827329"/>
            <a:ext cx="6090439" cy="3000351"/>
          </a:xfrm>
          <a:prstGeom prst="rect">
            <a:avLst/>
          </a:prstGeom>
        </p:spPr>
      </p:pic>
      <p:sp>
        <p:nvSpPr>
          <p:cNvPr id="5" name="Footer Placeholder 4">
            <a:extLst>
              <a:ext uri="{FF2B5EF4-FFF2-40B4-BE49-F238E27FC236}">
                <a16:creationId xmlns:a16="http://schemas.microsoft.com/office/drawing/2014/main" id="{D5A3194A-AE7F-C4ED-A113-493026222262}"/>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B8E98-213E-9A84-DFDC-1A5A1C592F82}"/>
              </a:ext>
            </a:extLst>
          </p:cNvPr>
          <p:cNvSpPr>
            <a:spLocks noGrp="1"/>
          </p:cNvSpPr>
          <p:nvPr>
            <p:ph type="title"/>
          </p:nvPr>
        </p:nvSpPr>
        <p:spPr/>
        <p:txBody>
          <a:bodyPr/>
          <a:lstStyle/>
          <a:p>
            <a:r>
              <a:rPr lang="en-US" dirty="0"/>
              <a:t>Example Headers</a:t>
            </a:r>
          </a:p>
        </p:txBody>
      </p:sp>
      <p:pic>
        <p:nvPicPr>
          <p:cNvPr id="5" name="Picture 4">
            <a:extLst>
              <a:ext uri="{FF2B5EF4-FFF2-40B4-BE49-F238E27FC236}">
                <a16:creationId xmlns:a16="http://schemas.microsoft.com/office/drawing/2014/main" id="{04A8BE37-1B50-B2ED-BB2D-8BEB20A6325E}"/>
              </a:ext>
            </a:extLst>
          </p:cNvPr>
          <p:cNvPicPr>
            <a:picLocks noChangeAspect="1"/>
          </p:cNvPicPr>
          <p:nvPr/>
        </p:nvPicPr>
        <p:blipFill>
          <a:blip r:embed="rId2"/>
          <a:stretch>
            <a:fillRect/>
          </a:stretch>
        </p:blipFill>
        <p:spPr>
          <a:xfrm>
            <a:off x="838200" y="1148508"/>
            <a:ext cx="3104410" cy="3429000"/>
          </a:xfrm>
          <a:prstGeom prst="rect">
            <a:avLst/>
          </a:prstGeom>
        </p:spPr>
      </p:pic>
      <p:pic>
        <p:nvPicPr>
          <p:cNvPr id="7" name="Picture 6">
            <a:extLst>
              <a:ext uri="{FF2B5EF4-FFF2-40B4-BE49-F238E27FC236}">
                <a16:creationId xmlns:a16="http://schemas.microsoft.com/office/drawing/2014/main" id="{8F5F0384-E4CE-E07E-105F-519543F8150C}"/>
              </a:ext>
            </a:extLst>
          </p:cNvPr>
          <p:cNvPicPr>
            <a:picLocks noChangeAspect="1"/>
          </p:cNvPicPr>
          <p:nvPr/>
        </p:nvPicPr>
        <p:blipFill>
          <a:blip r:embed="rId3"/>
          <a:stretch>
            <a:fillRect/>
          </a:stretch>
        </p:blipFill>
        <p:spPr>
          <a:xfrm>
            <a:off x="4536035" y="1148508"/>
            <a:ext cx="3119931" cy="3429001"/>
          </a:xfrm>
          <a:prstGeom prst="rect">
            <a:avLst/>
          </a:prstGeom>
        </p:spPr>
      </p:pic>
      <p:pic>
        <p:nvPicPr>
          <p:cNvPr id="9" name="Picture 8">
            <a:extLst>
              <a:ext uri="{FF2B5EF4-FFF2-40B4-BE49-F238E27FC236}">
                <a16:creationId xmlns:a16="http://schemas.microsoft.com/office/drawing/2014/main" id="{6AC83845-F5CF-8F33-E173-FC6A4BBAC346}"/>
              </a:ext>
            </a:extLst>
          </p:cNvPr>
          <p:cNvPicPr>
            <a:picLocks noChangeAspect="1"/>
          </p:cNvPicPr>
          <p:nvPr/>
        </p:nvPicPr>
        <p:blipFill>
          <a:blip r:embed="rId4"/>
          <a:stretch>
            <a:fillRect/>
          </a:stretch>
        </p:blipFill>
        <p:spPr>
          <a:xfrm>
            <a:off x="8220098" y="1148508"/>
            <a:ext cx="3144838" cy="1826441"/>
          </a:xfrm>
          <a:prstGeom prst="rect">
            <a:avLst/>
          </a:prstGeom>
        </p:spPr>
      </p:pic>
      <p:pic>
        <p:nvPicPr>
          <p:cNvPr id="11" name="Picture 10">
            <a:extLst>
              <a:ext uri="{FF2B5EF4-FFF2-40B4-BE49-F238E27FC236}">
                <a16:creationId xmlns:a16="http://schemas.microsoft.com/office/drawing/2014/main" id="{8FF9C21F-8EE0-05FB-5643-58E3B3EA286A}"/>
              </a:ext>
            </a:extLst>
          </p:cNvPr>
          <p:cNvPicPr>
            <a:picLocks noChangeAspect="1"/>
          </p:cNvPicPr>
          <p:nvPr/>
        </p:nvPicPr>
        <p:blipFill>
          <a:blip r:embed="rId5"/>
          <a:stretch>
            <a:fillRect/>
          </a:stretch>
        </p:blipFill>
        <p:spPr>
          <a:xfrm>
            <a:off x="811117" y="5322246"/>
            <a:ext cx="6801998" cy="677796"/>
          </a:xfrm>
          <a:prstGeom prst="rect">
            <a:avLst/>
          </a:prstGeom>
        </p:spPr>
      </p:pic>
      <p:sp>
        <p:nvSpPr>
          <p:cNvPr id="12" name="TextBox 11">
            <a:extLst>
              <a:ext uri="{FF2B5EF4-FFF2-40B4-BE49-F238E27FC236}">
                <a16:creationId xmlns:a16="http://schemas.microsoft.com/office/drawing/2014/main" id="{19CA4716-3058-6246-A438-4F0933D85033}"/>
              </a:ext>
            </a:extLst>
          </p:cNvPr>
          <p:cNvSpPr txBox="1"/>
          <p:nvPr/>
        </p:nvSpPr>
        <p:spPr>
          <a:xfrm>
            <a:off x="9518573" y="3024344"/>
            <a:ext cx="548548" cy="338554"/>
          </a:xfrm>
          <a:prstGeom prst="rect">
            <a:avLst/>
          </a:prstGeom>
          <a:noFill/>
        </p:spPr>
        <p:txBody>
          <a:bodyPr wrap="none" rtlCol="0">
            <a:spAutoFit/>
          </a:bodyPr>
          <a:lstStyle/>
          <a:p>
            <a:pPr algn="ctr"/>
            <a:r>
              <a:rPr lang="en-US" sz="1600" dirty="0">
                <a:latin typeface="Calibri" panose="020F0502020204030204" pitchFamily="34" charset="0"/>
                <a:cs typeface="Calibri" panose="020F0502020204030204" pitchFamily="34" charset="0"/>
              </a:rPr>
              <a:t>UDP</a:t>
            </a:r>
          </a:p>
        </p:txBody>
      </p:sp>
      <p:sp>
        <p:nvSpPr>
          <p:cNvPr id="13" name="TextBox 12">
            <a:extLst>
              <a:ext uri="{FF2B5EF4-FFF2-40B4-BE49-F238E27FC236}">
                <a16:creationId xmlns:a16="http://schemas.microsoft.com/office/drawing/2014/main" id="{D526D19F-211F-34C7-9551-F2CD47E9A5C7}"/>
              </a:ext>
            </a:extLst>
          </p:cNvPr>
          <p:cNvSpPr txBox="1"/>
          <p:nvPr/>
        </p:nvSpPr>
        <p:spPr>
          <a:xfrm>
            <a:off x="5848689" y="4637379"/>
            <a:ext cx="494623" cy="338554"/>
          </a:xfrm>
          <a:prstGeom prst="rect">
            <a:avLst/>
          </a:prstGeom>
          <a:noFill/>
        </p:spPr>
        <p:txBody>
          <a:bodyPr wrap="none" rtlCol="0">
            <a:spAutoFit/>
          </a:bodyPr>
          <a:lstStyle/>
          <a:p>
            <a:pPr algn="ctr"/>
            <a:r>
              <a:rPr lang="en-US" sz="1600" dirty="0">
                <a:latin typeface="Calibri" panose="020F0502020204030204" pitchFamily="34" charset="0"/>
                <a:cs typeface="Calibri" panose="020F0502020204030204" pitchFamily="34" charset="0"/>
              </a:rPr>
              <a:t>TCP</a:t>
            </a:r>
          </a:p>
        </p:txBody>
      </p:sp>
      <p:sp>
        <p:nvSpPr>
          <p:cNvPr id="14" name="TextBox 13">
            <a:extLst>
              <a:ext uri="{FF2B5EF4-FFF2-40B4-BE49-F238E27FC236}">
                <a16:creationId xmlns:a16="http://schemas.microsoft.com/office/drawing/2014/main" id="{160112A2-36BA-FF5E-C6C9-27E63FE28CEE}"/>
              </a:ext>
            </a:extLst>
          </p:cNvPr>
          <p:cNvSpPr txBox="1"/>
          <p:nvPr/>
        </p:nvSpPr>
        <p:spPr>
          <a:xfrm>
            <a:off x="2219524" y="4626362"/>
            <a:ext cx="341760" cy="338554"/>
          </a:xfrm>
          <a:prstGeom prst="rect">
            <a:avLst/>
          </a:prstGeom>
          <a:noFill/>
        </p:spPr>
        <p:txBody>
          <a:bodyPr wrap="none" rtlCol="0">
            <a:spAutoFit/>
          </a:bodyPr>
          <a:lstStyle/>
          <a:p>
            <a:pPr algn="ctr"/>
            <a:r>
              <a:rPr lang="en-US" sz="1600" dirty="0">
                <a:latin typeface="Calibri" panose="020F0502020204030204" pitchFamily="34" charset="0"/>
                <a:cs typeface="Calibri" panose="020F0502020204030204" pitchFamily="34" charset="0"/>
              </a:rPr>
              <a:t>IP</a:t>
            </a:r>
          </a:p>
        </p:txBody>
      </p:sp>
      <p:sp>
        <p:nvSpPr>
          <p:cNvPr id="15" name="TextBox 14">
            <a:extLst>
              <a:ext uri="{FF2B5EF4-FFF2-40B4-BE49-F238E27FC236}">
                <a16:creationId xmlns:a16="http://schemas.microsoft.com/office/drawing/2014/main" id="{F02A7F11-5EC3-99EC-57B4-074124BDADDB}"/>
              </a:ext>
            </a:extLst>
          </p:cNvPr>
          <p:cNvSpPr txBox="1"/>
          <p:nvPr/>
        </p:nvSpPr>
        <p:spPr>
          <a:xfrm>
            <a:off x="3933441" y="6045701"/>
            <a:ext cx="513282" cy="338554"/>
          </a:xfrm>
          <a:prstGeom prst="rect">
            <a:avLst/>
          </a:prstGeom>
          <a:noFill/>
        </p:spPr>
        <p:txBody>
          <a:bodyPr wrap="none" rtlCol="0">
            <a:spAutoFit/>
          </a:bodyPr>
          <a:lstStyle/>
          <a:p>
            <a:pPr algn="ctr"/>
            <a:r>
              <a:rPr lang="en-US" sz="1600" dirty="0">
                <a:latin typeface="Calibri" panose="020F0502020204030204" pitchFamily="34" charset="0"/>
                <a:cs typeface="Calibri" panose="020F0502020204030204" pitchFamily="34" charset="0"/>
              </a:rPr>
              <a:t>ETH</a:t>
            </a:r>
          </a:p>
        </p:txBody>
      </p:sp>
      <p:sp>
        <p:nvSpPr>
          <p:cNvPr id="3" name="Content Placeholder 2">
            <a:extLst>
              <a:ext uri="{FF2B5EF4-FFF2-40B4-BE49-F238E27FC236}">
                <a16:creationId xmlns:a16="http://schemas.microsoft.com/office/drawing/2014/main" id="{977DB88B-49B3-5487-8962-98E7A98673C0}"/>
              </a:ext>
            </a:extLst>
          </p:cNvPr>
          <p:cNvSpPr>
            <a:spLocks noGrp="1"/>
          </p:cNvSpPr>
          <p:nvPr>
            <p:ph idx="1"/>
          </p:nvPr>
        </p:nvSpPr>
        <p:spPr>
          <a:xfrm>
            <a:off x="8064349" y="3803573"/>
            <a:ext cx="4108920" cy="2536665"/>
          </a:xfrm>
        </p:spPr>
        <p:txBody>
          <a:bodyPr>
            <a:normAutofit lnSpcReduction="10000"/>
          </a:bodyPr>
          <a:lstStyle/>
          <a:p>
            <a:r>
              <a:rPr lang="en-US" sz="2000" dirty="0"/>
              <a:t>Host Addresses</a:t>
            </a:r>
          </a:p>
          <a:p>
            <a:pPr lvl="1"/>
            <a:r>
              <a:rPr lang="en-US" sz="1700" dirty="0"/>
              <a:t>How we write them (for now)</a:t>
            </a:r>
          </a:p>
          <a:p>
            <a:pPr lvl="1"/>
            <a:r>
              <a:rPr lang="en-US" sz="1700" dirty="0"/>
              <a:t>More details later</a:t>
            </a:r>
          </a:p>
          <a:p>
            <a:r>
              <a:rPr lang="en-US" sz="2000" dirty="0"/>
              <a:t>Ethernet (48 bits)</a:t>
            </a:r>
            <a:endParaRPr sz="2000" dirty="0"/>
          </a:p>
          <a:p>
            <a:pPr lvl="1"/>
            <a:r>
              <a:rPr lang="en-US" sz="1600" dirty="0">
                <a:latin typeface="Lucida Sans" panose="020B0602030504020204" pitchFamily="34" charset="77"/>
              </a:rPr>
              <a:t>6e:86:88:18:7d:39</a:t>
            </a:r>
          </a:p>
          <a:p>
            <a:r>
              <a:rPr lang="en-US" sz="2000" dirty="0"/>
              <a:t>IP (32 bits)</a:t>
            </a:r>
          </a:p>
          <a:p>
            <a:pPr lvl="1"/>
            <a:r>
              <a:rPr lang="en-US" sz="1600" dirty="0">
                <a:latin typeface="Lucida Sans" panose="020B0602030504020204" pitchFamily="34" charset="77"/>
              </a:rPr>
              <a:t>128.112.155.172</a:t>
            </a:r>
          </a:p>
          <a:p>
            <a:pPr lvl="1"/>
            <a:r>
              <a:rPr lang="en-US" sz="1600" dirty="0">
                <a:latin typeface="Lucida Sans" panose="020B0602030504020204" pitchFamily="34" charset="77"/>
              </a:rPr>
              <a:t>128.112.155.0/24</a:t>
            </a:r>
          </a:p>
        </p:txBody>
      </p:sp>
      <p:sp>
        <p:nvSpPr>
          <p:cNvPr id="4" name="Footer Placeholder 3">
            <a:extLst>
              <a:ext uri="{FF2B5EF4-FFF2-40B4-BE49-F238E27FC236}">
                <a16:creationId xmlns:a16="http://schemas.microsoft.com/office/drawing/2014/main" id="{33C3128F-74A8-7A38-1E1A-5AC48C7FB5C2}"/>
              </a:ext>
            </a:extLst>
          </p:cNvPr>
          <p:cNvSpPr>
            <a:spLocks noGrp="1"/>
          </p:cNvSpPr>
          <p:nvPr>
            <p:ph type="ftr" sz="quarter" idx="11"/>
          </p:nvPr>
        </p:nvSpPr>
        <p:spPr/>
        <p:txBody>
          <a:bodyPr/>
          <a:lstStyle/>
          <a:p>
            <a:r>
              <a:rPr lang="en-US"/>
              <a:t>Copyright Peterson &amp; Davie, 2026</a:t>
            </a:r>
          </a:p>
        </p:txBody>
      </p:sp>
    </p:spTree>
    <p:extLst>
      <p:ext uri="{BB962C8B-B14F-4D97-AF65-F5344CB8AC3E}">
        <p14:creationId xmlns:p14="http://schemas.microsoft.com/office/powerpoint/2010/main" val="3223167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Protocol Specifications</a:t>
            </a:r>
          </a:p>
        </p:txBody>
      </p:sp>
      <p:sp>
        <p:nvSpPr>
          <p:cNvPr id="3" name="Content Placeholder 2"/>
          <p:cNvSpPr>
            <a:spLocks noGrp="1"/>
          </p:cNvSpPr>
          <p:nvPr>
            <p:ph idx="1"/>
          </p:nvPr>
        </p:nvSpPr>
        <p:spPr/>
        <p:txBody>
          <a:bodyPr/>
          <a:lstStyle/>
          <a:p>
            <a:r>
              <a:rPr dirty="0"/>
              <a:t>Abstract definition</a:t>
            </a:r>
          </a:p>
          <a:p>
            <a:pPr lvl="1"/>
            <a:r>
              <a:rPr lang="en-US" dirty="0"/>
              <a:t>P</a:t>
            </a:r>
            <a:r>
              <a:rPr dirty="0"/>
              <a:t>rose, pseudocode, state diagrams, packet </a:t>
            </a:r>
            <a:r>
              <a:rPr lang="en-US" dirty="0"/>
              <a:t>header </a:t>
            </a:r>
            <a:r>
              <a:rPr dirty="0"/>
              <a:t>diagrams</a:t>
            </a:r>
            <a:endParaRPr lang="en-US" dirty="0"/>
          </a:p>
          <a:p>
            <a:pPr lvl="1"/>
            <a:r>
              <a:rPr lang="en-US" dirty="0"/>
              <a:t>RFCs give examples for Internet protocols</a:t>
            </a:r>
            <a:endParaRPr dirty="0"/>
          </a:p>
          <a:p>
            <a:r>
              <a:rPr dirty="0"/>
              <a:t>Key requirement: different implementations must interoperate</a:t>
            </a:r>
            <a:endParaRPr lang="en-US" dirty="0"/>
          </a:p>
          <a:p>
            <a:pPr lvl="1"/>
            <a:r>
              <a:rPr lang="en-US" dirty="0"/>
              <a:t>Focus typically on the peer-to-peer interface</a:t>
            </a:r>
          </a:p>
          <a:p>
            <a:pPr lvl="1"/>
            <a:r>
              <a:rPr lang="en-US" dirty="0"/>
              <a:t>Common service interface lowers barrier to use, but not required</a:t>
            </a:r>
            <a:endParaRPr dirty="0"/>
          </a:p>
        </p:txBody>
      </p:sp>
      <p:sp>
        <p:nvSpPr>
          <p:cNvPr id="4" name="Footer Placeholder 3">
            <a:extLst>
              <a:ext uri="{FF2B5EF4-FFF2-40B4-BE49-F238E27FC236}">
                <a16:creationId xmlns:a16="http://schemas.microsoft.com/office/drawing/2014/main" id="{2E82F8D4-4081-3F79-33A5-58A82C93DC34}"/>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Multiplexing and Demultiplexing</a:t>
            </a:r>
          </a:p>
        </p:txBody>
      </p:sp>
      <p:sp>
        <p:nvSpPr>
          <p:cNvPr id="3" name="Content Placeholder 2"/>
          <p:cNvSpPr>
            <a:spLocks noGrp="1"/>
          </p:cNvSpPr>
          <p:nvPr>
            <p:ph idx="1"/>
          </p:nvPr>
        </p:nvSpPr>
        <p:spPr>
          <a:xfrm>
            <a:off x="658791" y="1548225"/>
            <a:ext cx="5334000" cy="4351338"/>
          </a:xfrm>
        </p:spPr>
        <p:txBody>
          <a:bodyPr>
            <a:normAutofit/>
          </a:bodyPr>
          <a:lstStyle/>
          <a:p>
            <a:r>
              <a:rPr lang="en-US" dirty="0"/>
              <a:t>Common for m</a:t>
            </a:r>
            <a:r>
              <a:rPr dirty="0"/>
              <a:t>ultiple users</a:t>
            </a:r>
            <a:r>
              <a:rPr lang="en-US" dirty="0"/>
              <a:t> (apps or protocols)</a:t>
            </a:r>
            <a:r>
              <a:rPr dirty="0"/>
              <a:t> </a:t>
            </a:r>
            <a:r>
              <a:rPr lang="en-US" dirty="0"/>
              <a:t>to </a:t>
            </a:r>
            <a:r>
              <a:rPr dirty="0"/>
              <a:t>share </a:t>
            </a:r>
            <a:r>
              <a:rPr lang="en-US" dirty="0"/>
              <a:t>a</a:t>
            </a:r>
            <a:r>
              <a:rPr dirty="0"/>
              <a:t> protocol</a:t>
            </a:r>
          </a:p>
          <a:p>
            <a:r>
              <a:rPr dirty="0" err="1"/>
              <a:t>Demux</a:t>
            </a:r>
            <a:r>
              <a:rPr dirty="0"/>
              <a:t> key in header identifies the intended recipient</a:t>
            </a:r>
          </a:p>
          <a:p>
            <a:pPr lvl="1"/>
            <a:r>
              <a:rPr dirty="0"/>
              <a:t>No universal format</a:t>
            </a:r>
            <a:endParaRPr lang="en-US" dirty="0"/>
          </a:p>
          <a:p>
            <a:pPr lvl="1"/>
            <a:r>
              <a:rPr lang="en-US" dirty="0"/>
              <a:t>ETH: 16-bit </a:t>
            </a:r>
            <a:r>
              <a:rPr lang="en-US" sz="2000" dirty="0">
                <a:latin typeface="Lucida Sans" panose="020B0602030504020204" pitchFamily="34" charset="77"/>
              </a:rPr>
              <a:t>Type</a:t>
            </a:r>
            <a:r>
              <a:rPr lang="en-US" dirty="0"/>
              <a:t> field</a:t>
            </a:r>
          </a:p>
          <a:p>
            <a:pPr lvl="1"/>
            <a:r>
              <a:rPr lang="en-US" dirty="0"/>
              <a:t>IP: </a:t>
            </a:r>
            <a:r>
              <a:rPr dirty="0"/>
              <a:t>8-bit </a:t>
            </a:r>
            <a:r>
              <a:rPr lang="en-US" sz="2000" dirty="0">
                <a:latin typeface="Lucida Sans" panose="020B0602030504020204" pitchFamily="34" charset="77"/>
              </a:rPr>
              <a:t>Protocol</a:t>
            </a:r>
            <a:r>
              <a:rPr lang="en-US" dirty="0"/>
              <a:t> field</a:t>
            </a:r>
          </a:p>
          <a:p>
            <a:pPr lvl="1"/>
            <a:r>
              <a:rPr dirty="0"/>
              <a:t>TCP/UDP</a:t>
            </a:r>
            <a:r>
              <a:rPr lang="en-US" dirty="0"/>
              <a:t>: pair of 16-bit </a:t>
            </a:r>
            <a:r>
              <a:rPr lang="en-US" sz="2000" dirty="0">
                <a:latin typeface="Lucida Sans" panose="020B0602030504020204" pitchFamily="34" charset="77"/>
              </a:rPr>
              <a:t>Port</a:t>
            </a:r>
            <a:r>
              <a:rPr lang="en-US" dirty="0"/>
              <a:t> fields</a:t>
            </a:r>
            <a:endParaRPr dirty="0"/>
          </a:p>
        </p:txBody>
      </p:sp>
      <p:pic>
        <p:nvPicPr>
          <p:cNvPr id="4" name="Picture 3" descr="protograph.png">
            <a:extLst>
              <a:ext uri="{FF2B5EF4-FFF2-40B4-BE49-F238E27FC236}">
                <a16:creationId xmlns:a16="http://schemas.microsoft.com/office/drawing/2014/main" id="{FBCD5525-B6C8-19DA-DB12-8A3113E8CBB7}"/>
              </a:ext>
            </a:extLst>
          </p:cNvPr>
          <p:cNvPicPr>
            <a:picLocks noChangeAspect="1"/>
          </p:cNvPicPr>
          <p:nvPr/>
        </p:nvPicPr>
        <p:blipFill>
          <a:blip r:embed="rId2"/>
          <a:stretch>
            <a:fillRect/>
          </a:stretch>
        </p:blipFill>
        <p:spPr>
          <a:xfrm>
            <a:off x="6172199" y="2049137"/>
            <a:ext cx="5513409" cy="3023724"/>
          </a:xfrm>
          <a:prstGeom prst="rect">
            <a:avLst/>
          </a:prstGeom>
        </p:spPr>
      </p:pic>
      <p:sp>
        <p:nvSpPr>
          <p:cNvPr id="5" name="Footer Placeholder 4">
            <a:extLst>
              <a:ext uri="{FF2B5EF4-FFF2-40B4-BE49-F238E27FC236}">
                <a16:creationId xmlns:a16="http://schemas.microsoft.com/office/drawing/2014/main" id="{0CDEAE0C-5A90-74CB-6E58-41AEB37064CF}"/>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Multiplexin</a:t>
            </a:r>
            <a:r>
              <a:rPr lang="en-US" dirty="0"/>
              <a:t>g (More Generally)</a:t>
            </a:r>
            <a:endParaRPr dirty="0"/>
          </a:p>
        </p:txBody>
      </p:sp>
      <p:sp>
        <p:nvSpPr>
          <p:cNvPr id="3" name="Content Placeholder 2"/>
          <p:cNvSpPr>
            <a:spLocks noGrp="1"/>
          </p:cNvSpPr>
          <p:nvPr>
            <p:ph idx="1"/>
          </p:nvPr>
        </p:nvSpPr>
        <p:spPr>
          <a:xfrm>
            <a:off x="838080" y="1476360"/>
            <a:ext cx="5181480" cy="4351320"/>
          </a:xfrm>
        </p:spPr>
        <p:txBody>
          <a:bodyPr/>
          <a:lstStyle/>
          <a:p>
            <a:r>
              <a:rPr lang="en-US" dirty="0"/>
              <a:t>About how to share resources</a:t>
            </a:r>
          </a:p>
          <a:p>
            <a:r>
              <a:rPr dirty="0"/>
              <a:t>Synchronous TDM (STDM)</a:t>
            </a:r>
            <a:endParaRPr lang="en-US" dirty="0"/>
          </a:p>
          <a:p>
            <a:pPr lvl="1"/>
            <a:r>
              <a:rPr lang="en-US" dirty="0"/>
              <a:t>F</a:t>
            </a:r>
            <a:r>
              <a:rPr dirty="0"/>
              <a:t>ixed time slots per flow</a:t>
            </a:r>
          </a:p>
          <a:p>
            <a:r>
              <a:rPr dirty="0"/>
              <a:t>Frequency Division (FDM)</a:t>
            </a:r>
            <a:endParaRPr lang="en-US" dirty="0"/>
          </a:p>
          <a:p>
            <a:pPr lvl="1"/>
            <a:r>
              <a:rPr lang="en-US" dirty="0"/>
              <a:t>Fi</a:t>
            </a:r>
            <a:r>
              <a:rPr dirty="0"/>
              <a:t>xed frequency band per flow</a:t>
            </a:r>
          </a:p>
          <a:p>
            <a:r>
              <a:rPr dirty="0"/>
              <a:t>Limitation</a:t>
            </a:r>
            <a:endParaRPr lang="en-US" dirty="0"/>
          </a:p>
          <a:p>
            <a:pPr lvl="1"/>
            <a:r>
              <a:rPr lang="en-US" dirty="0"/>
              <a:t>I</a:t>
            </a:r>
            <a:r>
              <a:rPr dirty="0"/>
              <a:t>dle slots waste capacity</a:t>
            </a:r>
            <a:endParaRPr lang="en-US" dirty="0"/>
          </a:p>
          <a:p>
            <a:pPr lvl="1"/>
            <a:r>
              <a:rPr lang="en-US" dirty="0"/>
              <a:t>F</a:t>
            </a:r>
            <a:r>
              <a:rPr dirty="0"/>
              <a:t>ixed number of flows</a:t>
            </a:r>
          </a:p>
        </p:txBody>
      </p:sp>
      <p:pic>
        <p:nvPicPr>
          <p:cNvPr id="4" name="Picture 3" descr="mux.png"/>
          <p:cNvPicPr>
            <a:picLocks noChangeAspect="1"/>
          </p:cNvPicPr>
          <p:nvPr/>
        </p:nvPicPr>
        <p:blipFill>
          <a:blip r:embed="rId2"/>
          <a:stretch>
            <a:fillRect/>
          </a:stretch>
        </p:blipFill>
        <p:spPr>
          <a:xfrm>
            <a:off x="5486646" y="2159306"/>
            <a:ext cx="5867154" cy="2273671"/>
          </a:xfrm>
          <a:prstGeom prst="rect">
            <a:avLst/>
          </a:prstGeom>
        </p:spPr>
      </p:pic>
      <p:sp>
        <p:nvSpPr>
          <p:cNvPr id="5" name="Footer Placeholder 4">
            <a:extLst>
              <a:ext uri="{FF2B5EF4-FFF2-40B4-BE49-F238E27FC236}">
                <a16:creationId xmlns:a16="http://schemas.microsoft.com/office/drawing/2014/main" id="{CFB799D0-171F-97A7-08E5-34899885CEE3}"/>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Statistical Multiplexing</a:t>
            </a:r>
          </a:p>
        </p:txBody>
      </p:sp>
      <p:sp>
        <p:nvSpPr>
          <p:cNvPr id="3" name="Content Placeholder 2"/>
          <p:cNvSpPr>
            <a:spLocks noGrp="1"/>
          </p:cNvSpPr>
          <p:nvPr>
            <p:ph idx="1"/>
          </p:nvPr>
        </p:nvSpPr>
        <p:spPr>
          <a:xfrm>
            <a:off x="838080" y="1476360"/>
            <a:ext cx="5334120" cy="4351320"/>
          </a:xfrm>
        </p:spPr>
        <p:txBody>
          <a:bodyPr/>
          <a:lstStyle/>
          <a:p>
            <a:r>
              <a:rPr dirty="0"/>
              <a:t>Transmit on demand</a:t>
            </a:r>
          </a:p>
          <a:p>
            <a:pPr lvl="1"/>
            <a:r>
              <a:rPr dirty="0"/>
              <a:t>Packets </a:t>
            </a:r>
            <a:r>
              <a:rPr lang="en-US" dirty="0"/>
              <a:t>define “scheduling interval”</a:t>
            </a:r>
            <a:endParaRPr dirty="0"/>
          </a:p>
          <a:p>
            <a:pPr lvl="1"/>
            <a:r>
              <a:rPr lang="en-US" dirty="0"/>
              <a:t>Queue packets waiting service </a:t>
            </a:r>
          </a:p>
          <a:p>
            <a:pPr lvl="2"/>
            <a:r>
              <a:rPr lang="en-US" dirty="0"/>
              <a:t>e.g., </a:t>
            </a:r>
            <a:r>
              <a:rPr dirty="0"/>
              <a:t>FIFO</a:t>
            </a:r>
          </a:p>
          <a:p>
            <a:r>
              <a:rPr dirty="0"/>
              <a:t>Congestion</a:t>
            </a:r>
            <a:endParaRPr lang="en-US" dirty="0"/>
          </a:p>
          <a:p>
            <a:pPr lvl="1"/>
            <a:r>
              <a:rPr lang="en-US" dirty="0"/>
              <a:t>Input rate </a:t>
            </a:r>
            <a:r>
              <a:rPr dirty="0"/>
              <a:t>exceed</a:t>
            </a:r>
            <a:r>
              <a:rPr lang="en-US" dirty="0"/>
              <a:t>s</a:t>
            </a:r>
            <a:r>
              <a:rPr dirty="0"/>
              <a:t> output rate</a:t>
            </a:r>
          </a:p>
          <a:p>
            <a:pPr lvl="1"/>
            <a:r>
              <a:rPr dirty="0"/>
              <a:t>Packet </a:t>
            </a:r>
            <a:r>
              <a:rPr lang="en-US" dirty="0"/>
              <a:t>buffer overflows</a:t>
            </a:r>
          </a:p>
          <a:p>
            <a:pPr lvl="1"/>
            <a:r>
              <a:rPr lang="en-US" dirty="0"/>
              <a:t>No choice but to drop some packet</a:t>
            </a:r>
            <a:endParaRPr dirty="0"/>
          </a:p>
        </p:txBody>
      </p:sp>
      <p:pic>
        <p:nvPicPr>
          <p:cNvPr id="4" name="Picture 3" descr="statmux.png"/>
          <p:cNvPicPr>
            <a:picLocks noChangeAspect="1"/>
          </p:cNvPicPr>
          <p:nvPr/>
        </p:nvPicPr>
        <p:blipFill>
          <a:blip r:embed="rId2"/>
          <a:stretch>
            <a:fillRect/>
          </a:stretch>
        </p:blipFill>
        <p:spPr>
          <a:xfrm>
            <a:off x="6172200" y="2396315"/>
            <a:ext cx="5181480" cy="2511408"/>
          </a:xfrm>
          <a:prstGeom prst="rect">
            <a:avLst/>
          </a:prstGeom>
        </p:spPr>
      </p:pic>
      <p:sp>
        <p:nvSpPr>
          <p:cNvPr id="5" name="Footer Placeholder 4">
            <a:extLst>
              <a:ext uri="{FF2B5EF4-FFF2-40B4-BE49-F238E27FC236}">
                <a16:creationId xmlns:a16="http://schemas.microsoft.com/office/drawing/2014/main" id="{32ACFC11-F709-F87A-4620-4B4A9B625D8F}"/>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Performance Metrics</a:t>
            </a:r>
          </a:p>
        </p:txBody>
      </p:sp>
      <p:sp>
        <p:nvSpPr>
          <p:cNvPr id="3" name="Content Placeholder 2"/>
          <p:cNvSpPr>
            <a:spLocks noGrp="1"/>
          </p:cNvSpPr>
          <p:nvPr>
            <p:ph idx="1"/>
          </p:nvPr>
        </p:nvSpPr>
        <p:spPr>
          <a:xfrm>
            <a:off x="838200" y="1454228"/>
            <a:ext cx="10515600" cy="4847420"/>
          </a:xfrm>
        </p:spPr>
        <p:txBody>
          <a:bodyPr>
            <a:normAutofit/>
          </a:bodyPr>
          <a:lstStyle/>
          <a:p>
            <a:r>
              <a:rPr dirty="0"/>
              <a:t>Bandwidth</a:t>
            </a:r>
            <a:r>
              <a:rPr lang="en-US" dirty="0"/>
              <a:t> / Throughput </a:t>
            </a:r>
          </a:p>
          <a:p>
            <a:pPr lvl="1"/>
            <a:r>
              <a:rPr lang="en-US" dirty="0"/>
              <a:t>Measured in bits-per-second (</a:t>
            </a:r>
            <a:r>
              <a:rPr dirty="0"/>
              <a:t>bps)</a:t>
            </a:r>
          </a:p>
          <a:p>
            <a:pPr lvl="1"/>
            <a:r>
              <a:rPr lang="en-US" dirty="0"/>
              <a:t>Limited by spectrum “bandwidth” (e.g., 10 MHz implies 10 Mbps)</a:t>
            </a:r>
            <a:endParaRPr dirty="0"/>
          </a:p>
          <a:p>
            <a:r>
              <a:rPr dirty="0"/>
              <a:t>Latency</a:t>
            </a:r>
            <a:r>
              <a:rPr lang="en-US" dirty="0"/>
              <a:t> / Response Time / Delay</a:t>
            </a:r>
          </a:p>
          <a:p>
            <a:pPr lvl="1"/>
            <a:r>
              <a:rPr lang="en-US" dirty="0"/>
              <a:t>Measured in seconds (</a:t>
            </a:r>
            <a:r>
              <a:rPr lang="en-US" dirty="0" err="1"/>
              <a:t>ms</a:t>
            </a:r>
            <a:r>
              <a:rPr lang="en-US" dirty="0"/>
              <a:t>, µs)</a:t>
            </a:r>
          </a:p>
          <a:p>
            <a:pPr lvl="1"/>
            <a:r>
              <a:rPr lang="en-US" dirty="0"/>
              <a:t>One way: </a:t>
            </a:r>
            <a:r>
              <a:rPr dirty="0"/>
              <a:t>Propagation + Transmission + Queuing</a:t>
            </a:r>
            <a:endParaRPr lang="en-US" dirty="0"/>
          </a:p>
          <a:p>
            <a:pPr lvl="2"/>
            <a:r>
              <a:rPr lang="en-US" dirty="0"/>
              <a:t>Transmission = </a:t>
            </a:r>
            <a:r>
              <a:rPr lang="en-US" dirty="0" err="1"/>
              <a:t>T</a:t>
            </a:r>
            <a:r>
              <a:rPr dirty="0" err="1"/>
              <a:t>ransferSize</a:t>
            </a:r>
            <a:r>
              <a:rPr dirty="0"/>
              <a:t> / Bandwidth</a:t>
            </a:r>
          </a:p>
          <a:p>
            <a:pPr lvl="1"/>
            <a:r>
              <a:rPr lang="en-US" dirty="0"/>
              <a:t>Round-trip (RTT)</a:t>
            </a:r>
          </a:p>
          <a:p>
            <a:r>
              <a:rPr lang="en-US" dirty="0"/>
              <a:t>Intuition</a:t>
            </a:r>
          </a:p>
          <a:p>
            <a:pPr lvl="1"/>
            <a:r>
              <a:rPr dirty="0"/>
              <a:t>Small transfers: RTT-dominated</a:t>
            </a:r>
          </a:p>
          <a:p>
            <a:pPr lvl="1"/>
            <a:r>
              <a:rPr dirty="0"/>
              <a:t>Large transfers: bandwidth-dominated</a:t>
            </a:r>
          </a:p>
        </p:txBody>
      </p:sp>
      <p:sp>
        <p:nvSpPr>
          <p:cNvPr id="4" name="Footer Placeholder 3">
            <a:extLst>
              <a:ext uri="{FF2B5EF4-FFF2-40B4-BE49-F238E27FC236}">
                <a16:creationId xmlns:a16="http://schemas.microsoft.com/office/drawing/2014/main" id="{9AB5C1B8-97D2-DF79-D24B-436B1DE4B9A2}"/>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Delay × Bandwidth Product</a:t>
            </a:r>
          </a:p>
        </p:txBody>
      </p:sp>
      <p:sp>
        <p:nvSpPr>
          <p:cNvPr id="3" name="Content Placeholder 2"/>
          <p:cNvSpPr>
            <a:spLocks noGrp="1"/>
          </p:cNvSpPr>
          <p:nvPr>
            <p:ph idx="1"/>
          </p:nvPr>
        </p:nvSpPr>
        <p:spPr>
          <a:xfrm>
            <a:off x="838080" y="1476360"/>
            <a:ext cx="5694922" cy="4351320"/>
          </a:xfrm>
        </p:spPr>
        <p:txBody>
          <a:bodyPr/>
          <a:lstStyle/>
          <a:p>
            <a:r>
              <a:rPr dirty="0"/>
              <a:t>Bits </a:t>
            </a:r>
            <a:r>
              <a:rPr lang="en-US" dirty="0"/>
              <a:t>"</a:t>
            </a:r>
            <a:r>
              <a:rPr dirty="0"/>
              <a:t>in flight"</a:t>
            </a:r>
            <a:endParaRPr lang="en-US" dirty="0"/>
          </a:p>
          <a:p>
            <a:pPr lvl="1"/>
            <a:r>
              <a:rPr lang="en-US" dirty="0"/>
              <a:t>Typically RTT</a:t>
            </a:r>
            <a:r>
              <a:rPr dirty="0"/>
              <a:t> × </a:t>
            </a:r>
            <a:r>
              <a:rPr lang="en-US" dirty="0"/>
              <a:t>B</a:t>
            </a:r>
            <a:r>
              <a:rPr dirty="0"/>
              <a:t>andwidth</a:t>
            </a:r>
          </a:p>
          <a:p>
            <a:r>
              <a:rPr lang="en-US" dirty="0"/>
              <a:t>Goal is to</a:t>
            </a:r>
            <a:r>
              <a:rPr dirty="0"/>
              <a:t> </a:t>
            </a:r>
            <a:r>
              <a:rPr lang="en-US" dirty="0"/>
              <a:t>”keep</a:t>
            </a:r>
            <a:r>
              <a:rPr dirty="0"/>
              <a:t> the pipe</a:t>
            </a:r>
            <a:r>
              <a:rPr lang="en-US" dirty="0"/>
              <a:t> full"</a:t>
            </a:r>
          </a:p>
          <a:p>
            <a:pPr lvl="1"/>
            <a:r>
              <a:rPr lang="en-US" dirty="0"/>
              <a:t>Otherwise measured </a:t>
            </a:r>
            <a:r>
              <a:rPr lang="en-US" dirty="0" err="1"/>
              <a:t>xput</a:t>
            </a:r>
            <a:r>
              <a:rPr lang="en-US" dirty="0"/>
              <a:t> suffers</a:t>
            </a:r>
          </a:p>
          <a:p>
            <a:r>
              <a:rPr dirty="0"/>
              <a:t>As bandwidth → ∞</a:t>
            </a:r>
            <a:endParaRPr lang="en-US" dirty="0"/>
          </a:p>
          <a:p>
            <a:pPr lvl="1"/>
            <a:r>
              <a:rPr lang="en-US" dirty="0"/>
              <a:t>L</a:t>
            </a:r>
            <a:r>
              <a:rPr dirty="0"/>
              <a:t>atency becomes the bottleneck</a:t>
            </a:r>
            <a:endParaRPr lang="en-US" dirty="0"/>
          </a:p>
          <a:p>
            <a:pPr lvl="1"/>
            <a:r>
              <a:rPr lang="en-US" dirty="0"/>
              <a:t>Physics (speed of light)</a:t>
            </a:r>
            <a:endParaRPr dirty="0"/>
          </a:p>
        </p:txBody>
      </p:sp>
      <p:pic>
        <p:nvPicPr>
          <p:cNvPr id="4" name="Picture 3" descr="pipe.png"/>
          <p:cNvPicPr>
            <a:picLocks noChangeAspect="1"/>
          </p:cNvPicPr>
          <p:nvPr/>
        </p:nvPicPr>
        <p:blipFill>
          <a:blip r:embed="rId2"/>
          <a:stretch>
            <a:fillRect/>
          </a:stretch>
        </p:blipFill>
        <p:spPr>
          <a:xfrm>
            <a:off x="6172200" y="1971218"/>
            <a:ext cx="5181480" cy="1185943"/>
          </a:xfrm>
          <a:prstGeom prst="rect">
            <a:avLst/>
          </a:prstGeom>
        </p:spPr>
      </p:pic>
      <p:pic>
        <p:nvPicPr>
          <p:cNvPr id="5" name="Picture 4" descr="pipe-full.png"/>
          <p:cNvPicPr>
            <a:picLocks noChangeAspect="1"/>
          </p:cNvPicPr>
          <p:nvPr/>
        </p:nvPicPr>
        <p:blipFill>
          <a:blip r:embed="rId3"/>
          <a:stretch>
            <a:fillRect/>
          </a:stretch>
        </p:blipFill>
        <p:spPr>
          <a:xfrm>
            <a:off x="6172200" y="3688124"/>
            <a:ext cx="5181480" cy="2103450"/>
          </a:xfrm>
          <a:prstGeom prst="rect">
            <a:avLst/>
          </a:prstGeom>
        </p:spPr>
      </p:pic>
      <p:sp>
        <p:nvSpPr>
          <p:cNvPr id="6" name="Footer Placeholder 5">
            <a:extLst>
              <a:ext uri="{FF2B5EF4-FFF2-40B4-BE49-F238E27FC236}">
                <a16:creationId xmlns:a16="http://schemas.microsoft.com/office/drawing/2014/main" id="{CEC1121D-601C-97A8-D7A8-CBE72DECA116}"/>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 Requirements</a:t>
            </a:r>
          </a:p>
        </p:txBody>
      </p:sp>
      <p:sp>
        <p:nvSpPr>
          <p:cNvPr id="3" name="Content Placeholder 2"/>
          <p:cNvSpPr>
            <a:spLocks noGrp="1"/>
          </p:cNvSpPr>
          <p:nvPr>
            <p:ph idx="1"/>
          </p:nvPr>
        </p:nvSpPr>
        <p:spPr>
          <a:xfrm>
            <a:off x="583894" y="1476361"/>
            <a:ext cx="11204153" cy="2897336"/>
          </a:xfrm>
        </p:spPr>
        <p:txBody>
          <a:bodyPr>
            <a:normAutofit/>
          </a:bodyPr>
          <a:lstStyle/>
          <a:p>
            <a:r>
              <a:rPr lang="en-US" dirty="0"/>
              <a:t>Some applications can use as much bandwidth as the network can deliver</a:t>
            </a:r>
          </a:p>
          <a:p>
            <a:pPr lvl="1"/>
            <a:r>
              <a:rPr lang="en-US" dirty="0"/>
              <a:t>shorter downloads</a:t>
            </a:r>
          </a:p>
          <a:p>
            <a:r>
              <a:rPr lang="en-US" dirty="0"/>
              <a:t>Some applications care about delay</a:t>
            </a:r>
          </a:p>
          <a:p>
            <a:pPr lvl="1"/>
            <a:r>
              <a:rPr lang="en-US" dirty="0"/>
              <a:t>faster response times</a:t>
            </a:r>
          </a:p>
          <a:p>
            <a:r>
              <a:rPr lang="en-US" dirty="0"/>
              <a:t>Some applications care about jitter: minimize variation in delay</a:t>
            </a:r>
          </a:p>
          <a:p>
            <a:pPr lvl="1"/>
            <a:r>
              <a:rPr lang="en-US" dirty="0"/>
              <a:t>predictable arrival rate</a:t>
            </a:r>
          </a:p>
        </p:txBody>
      </p:sp>
      <p:pic>
        <p:nvPicPr>
          <p:cNvPr id="4" name="Picture 3" descr="jitter.png"/>
          <p:cNvPicPr>
            <a:picLocks noChangeAspect="1"/>
          </p:cNvPicPr>
          <p:nvPr/>
        </p:nvPicPr>
        <p:blipFill>
          <a:blip r:embed="rId2"/>
          <a:stretch>
            <a:fillRect/>
          </a:stretch>
        </p:blipFill>
        <p:spPr>
          <a:xfrm>
            <a:off x="1586233" y="4311253"/>
            <a:ext cx="9019535" cy="2140772"/>
          </a:xfrm>
          <a:prstGeom prst="rect">
            <a:avLst/>
          </a:prstGeom>
        </p:spPr>
      </p:pic>
      <p:sp>
        <p:nvSpPr>
          <p:cNvPr id="5" name="Footer Placeholder 4">
            <a:extLst>
              <a:ext uri="{FF2B5EF4-FFF2-40B4-BE49-F238E27FC236}">
                <a16:creationId xmlns:a16="http://schemas.microsoft.com/office/drawing/2014/main" id="{0478F00A-14AB-D910-CBDC-B7E08B6BC18C}"/>
              </a:ext>
            </a:extLst>
          </p:cNvPr>
          <p:cNvSpPr>
            <a:spLocks noGrp="1"/>
          </p:cNvSpPr>
          <p:nvPr>
            <p:ph type="ftr" sz="quarter" idx="11"/>
          </p:nvPr>
        </p:nvSpPr>
        <p:spPr/>
        <p:txBody>
          <a:bodyPr/>
          <a:lstStyle/>
          <a:p>
            <a:r>
              <a:rPr lang="en-US"/>
              <a:t>Copyright Peterson &amp; Davie,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1266</TotalTime>
  <Words>1005</Words>
  <Application>Microsoft Macintosh PowerPoint</Application>
  <PresentationFormat>Widescreen</PresentationFormat>
  <Paragraphs>175</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Arial</vt:lpstr>
      <vt:lpstr>Calibri</vt:lpstr>
      <vt:lpstr>Lucida Sans</vt:lpstr>
      <vt:lpstr>System Font Regular</vt:lpstr>
      <vt:lpstr>Wingdings</vt:lpstr>
      <vt:lpstr>Office Theme</vt:lpstr>
      <vt:lpstr>Chapter 1: Introduction</vt:lpstr>
      <vt:lpstr>Overview</vt:lpstr>
      <vt:lpstr>Requirements</vt:lpstr>
      <vt:lpstr>Network Architecture</vt:lpstr>
      <vt:lpstr>OSI Architecture</vt:lpstr>
      <vt:lpstr>OSI Architecture</vt:lpstr>
      <vt:lpstr>Internet Architecture</vt:lpstr>
      <vt:lpstr>Internet Architecture (cont)</vt:lpstr>
      <vt:lpstr>Design Principles</vt:lpstr>
      <vt:lpstr>Layering</vt:lpstr>
      <vt:lpstr>Protocols</vt:lpstr>
      <vt:lpstr>Encapsulation</vt:lpstr>
      <vt:lpstr>Example Headers</vt:lpstr>
      <vt:lpstr>Protocol Specifications</vt:lpstr>
      <vt:lpstr>Multiplexing and Demultiplexing</vt:lpstr>
      <vt:lpstr>Multiplexing (More Generally)</vt:lpstr>
      <vt:lpstr>Statistical Multiplexing</vt:lpstr>
      <vt:lpstr>Performance Metrics</vt:lpstr>
      <vt:lpstr>Delay × Bandwidth Product</vt:lpstr>
      <vt:lpstr>Application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Larry Peterson</dc:creator>
  <cp:lastModifiedBy>Larry Peterson</cp:lastModifiedBy>
  <cp:revision>16</cp:revision>
  <dcterms:created xsi:type="dcterms:W3CDTF">2026-08-04T17:34:08Z</dcterms:created>
  <dcterms:modified xsi:type="dcterms:W3CDTF">2026-09-25T21:23:03Z</dcterms:modified>
</cp:coreProperties>
</file>