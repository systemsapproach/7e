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8" r:id="rId9"/>
    <p:sldId id="279" r:id="rId10"/>
    <p:sldId id="275" r:id="rId11"/>
    <p:sldId id="263" r:id="rId12"/>
    <p:sldId id="264" r:id="rId13"/>
    <p:sldId id="265" r:id="rId14"/>
    <p:sldId id="266" r:id="rId15"/>
    <p:sldId id="267" r:id="rId16"/>
    <p:sldId id="268" r:id="rId17"/>
    <p:sldId id="276" r:id="rId18"/>
    <p:sldId id="269" r:id="rId19"/>
    <p:sldId id="270" r:id="rId20"/>
    <p:sldId id="271" r:id="rId21"/>
    <p:sldId id="277" r:id="rId22"/>
    <p:sldId id="273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131"/>
    <a:srgbClr val="E9E0C5"/>
    <a:srgbClr val="2F5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2"/>
    <p:restoredTop sz="94658"/>
  </p:normalViewPr>
  <p:slideViewPr>
    <p:cSldViewPr snapToGrid="0">
      <p:cViewPr varScale="1">
        <p:scale>
          <a:sx n="112" d="100"/>
          <a:sy n="112" d="100"/>
        </p:scale>
        <p:origin x="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F2789-8AA8-B642-BB33-D304F9683406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850CE-8CEA-7D4E-8CBC-5CF4D700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7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5E7130F-F05B-B150-3729-9E271DF171FA}"/>
              </a:ext>
            </a:extLst>
          </p:cNvPr>
          <p:cNvSpPr/>
          <p:nvPr userDrawn="1"/>
        </p:nvSpPr>
        <p:spPr>
          <a:xfrm>
            <a:off x="0" y="2723115"/>
            <a:ext cx="12192000" cy="4175981"/>
          </a:xfrm>
          <a:prstGeom prst="rect">
            <a:avLst/>
          </a:prstGeom>
          <a:solidFill>
            <a:srgbClr val="33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BDD6A-1823-8EBE-4339-8BE6A00F709B}"/>
              </a:ext>
            </a:extLst>
          </p:cNvPr>
          <p:cNvSpPr/>
          <p:nvPr userDrawn="1"/>
        </p:nvSpPr>
        <p:spPr>
          <a:xfrm>
            <a:off x="0" y="315538"/>
            <a:ext cx="12192000" cy="4622137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EA07-9D5A-E087-CD0F-85CD617F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1677"/>
            <a:ext cx="9144000" cy="238760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209C7-F1CD-D1FA-BA76-113A478A9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35621"/>
            <a:ext cx="9144000" cy="836398"/>
          </a:xfr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8ECE-1E6D-F8F2-58B1-71D7BE74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2500-32E8-5144-9E57-4D09EC85014B}" type="datetime1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AB94-E371-30E1-1464-0D57E5C4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57B5-7F35-E930-6BE6-D185519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DA490C-3727-1BB3-41EC-8E8B0CB167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55810" y="3139629"/>
            <a:ext cx="3280381" cy="15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7BDD6A-1823-8EBE-4339-8BE6A00F709B}"/>
              </a:ext>
            </a:extLst>
          </p:cNvPr>
          <p:cNvSpPr/>
          <p:nvPr userDrawn="1"/>
        </p:nvSpPr>
        <p:spPr>
          <a:xfrm>
            <a:off x="0" y="1600201"/>
            <a:ext cx="12192000" cy="2412586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EA07-9D5A-E087-CD0F-85CD617F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5187"/>
            <a:ext cx="9144000" cy="238760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8ECE-1E6D-F8F2-58B1-71D7BE74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FD9E-92DF-C945-9CC3-C8761E6DD53E}" type="datetime1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AB94-E371-30E1-1464-0D57E5C4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57B5-7F35-E930-6BE6-D185519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1D39B3-5E5D-0F11-FC35-6F2C9B63E066}"/>
              </a:ext>
            </a:extLst>
          </p:cNvPr>
          <p:cNvSpPr/>
          <p:nvPr userDrawn="1"/>
        </p:nvSpPr>
        <p:spPr>
          <a:xfrm>
            <a:off x="0" y="-1813"/>
            <a:ext cx="12192000" cy="1400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3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4224-9B42-A3A3-FD4B-7DCB37A5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A945-E77C-96EC-A764-294BBBDF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AD0B7-B808-1B7F-CEF5-3629CD750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75B6-024D-E744-A288-90142305A663}" type="datetime1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5568F-D032-2C7B-B173-457682AC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4C81A-A9BC-68BA-10CE-C1911563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01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F158-323C-D3C4-5EDF-AEB556D3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1458E-494E-6576-E590-8D027645C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7630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EEC45-80B7-E5F2-1EE8-4F13C3A49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7630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B021E-F3AB-3183-A464-2E0E7E6D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02AE8-C9C0-3442-997B-0C9665747156}" type="datetime1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BF0C7-58BA-2DE2-32B3-6B84F0FD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A454F-821E-AC99-31C4-2DF525F5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9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E204-57F3-A972-D2AB-B8EB443E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128D8-E1CA-2D26-E644-D8B87B9C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08B6-A266-0D4E-9E72-AA29D695C536}" type="datetime1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E7C9D-573E-CCAB-347D-345D212F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19D84-0242-52EC-3A47-A0A3D5B6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A92FF-B703-4780-1EBB-1AE0E3CF7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82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CB9E3-427E-4369-98EC-BD677B2D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AE8B4-62F9-8243-A1C0-4FE715F4AE61}" type="datetime1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7B86C-AB67-018D-C428-7A1EC0C20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Peterson &amp; Davie,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9F652-BA41-5373-A931-0B0D06827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BF1A77-8AB3-41F4-86D3-BFA6FEEDF61A}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70494-B9BA-F0AA-4595-820C4E478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09"/>
            <a:ext cx="10515600" cy="89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953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2" r:id="rId4"/>
    <p:sldLayoutId id="2147483654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9E0C5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20000"/>
        <a:buFont typeface="System Font Regular"/>
        <a:buChar char="-"/>
        <a:defRPr sz="24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Chapter 2: Network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Computer Networks: A Systems Approach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DB788-8A70-431B-817B-457DA025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i="1" dirty="0"/>
              <a:t>The </a:t>
            </a:r>
            <a:r>
              <a:rPr lang="en-US" i="1" dirty="0"/>
              <a:t>genius of the </a:t>
            </a:r>
            <a:r>
              <a:rPr i="1" dirty="0"/>
              <a:t>Internet </a:t>
            </a:r>
            <a:r>
              <a:rPr lang="en-US" i="1" dirty="0"/>
              <a:t>is that it i</a:t>
            </a:r>
            <a:r>
              <a:rPr i="1" dirty="0"/>
              <a:t>s designed to support any application</a:t>
            </a:r>
            <a:r>
              <a:rPr lang="en-US" i="1" dirty="0"/>
              <a:t>. Those applications are implemented in software and run on general-purpose computers. </a:t>
            </a:r>
            <a:r>
              <a:rPr i="1" dirty="0"/>
              <a:t>This chapter </a:t>
            </a:r>
            <a:r>
              <a:rPr lang="en-US" i="1" dirty="0"/>
              <a:t>introduces this</a:t>
            </a:r>
            <a:r>
              <a:rPr i="1" dirty="0"/>
              <a:t> </a:t>
            </a:r>
            <a:r>
              <a:rPr lang="en-US" i="1" dirty="0"/>
              <a:t>software</a:t>
            </a:r>
            <a:r>
              <a:rPr i="1" dirty="0"/>
              <a:t> ecosystem, </a:t>
            </a:r>
            <a:r>
              <a:rPr lang="en-US" i="1" dirty="0"/>
              <a:t>setting the stage for understanding everything it takes to create apps</a:t>
            </a:r>
            <a:r>
              <a:rPr i="1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6E12D-86A3-A793-1D7C-B417F46CC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Client-Server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Dominant </a:t>
            </a:r>
            <a:r>
              <a:rPr lang="en-US" dirty="0"/>
              <a:t>application programming </a:t>
            </a:r>
            <a:r>
              <a:rPr dirty="0"/>
              <a:t>paradigm</a:t>
            </a:r>
            <a:endParaRPr lang="en-US" dirty="0"/>
          </a:p>
          <a:p>
            <a:pPr lvl="1"/>
            <a:r>
              <a:rPr lang="en-US" dirty="0"/>
              <a:t>C</a:t>
            </a:r>
            <a:r>
              <a:rPr dirty="0"/>
              <a:t>lient initiates</a:t>
            </a:r>
            <a:r>
              <a:rPr lang="en-US" dirty="0"/>
              <a:t> / S</a:t>
            </a:r>
            <a:r>
              <a:rPr dirty="0"/>
              <a:t>erver responds</a:t>
            </a:r>
          </a:p>
          <a:p>
            <a:r>
              <a:rPr dirty="0"/>
              <a:t>Each application defines its own protocol</a:t>
            </a:r>
            <a:endParaRPr lang="en-US" dirty="0"/>
          </a:p>
          <a:p>
            <a:pPr lvl="1"/>
            <a:r>
              <a:rPr lang="en-US" dirty="0"/>
              <a:t>e.g., </a:t>
            </a:r>
            <a:r>
              <a:rPr dirty="0"/>
              <a:t>HTTP, SMTP</a:t>
            </a:r>
          </a:p>
          <a:p>
            <a:r>
              <a:rPr lang="en-US" dirty="0"/>
              <a:t>Typically runs on top of</a:t>
            </a:r>
            <a:r>
              <a:rPr dirty="0"/>
              <a:t> TCP/IP</a:t>
            </a:r>
            <a:endParaRPr lang="en-US" dirty="0"/>
          </a:p>
          <a:p>
            <a:pPr lvl="1"/>
            <a:r>
              <a:rPr lang="en-US" dirty="0"/>
              <a:t>Provided as part of the OS</a:t>
            </a:r>
          </a:p>
          <a:p>
            <a:r>
              <a:rPr dirty="0"/>
              <a:t>Socket API</a:t>
            </a:r>
            <a:r>
              <a:rPr lang="en-US" dirty="0"/>
              <a:t> provides the programming interface</a:t>
            </a:r>
          </a:p>
          <a:p>
            <a:pPr lvl="1"/>
            <a:r>
              <a:rPr lang="en-US" dirty="0"/>
              <a:t>Originally d</a:t>
            </a:r>
            <a:r>
              <a:rPr dirty="0"/>
              <a:t>efined in BSD Unix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dirty="0"/>
              <a:t>ow universal across all operating systems</a:t>
            </a:r>
          </a:p>
          <a:p>
            <a:pPr lvl="1"/>
            <a:r>
              <a:rPr lang="en-US" dirty="0"/>
              <a:t>Often wrapped in a language-specific library (e.g., </a:t>
            </a:r>
            <a:r>
              <a:rPr lang="en-US" dirty="0" err="1">
                <a:latin typeface="Lucida Sans" panose="020B0602030504020204" pitchFamily="34" charset="77"/>
              </a:rPr>
              <a:t>java.net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BA935-403B-A878-9C59-4E248A900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Socket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9319472" cy="4351320"/>
          </a:xfrm>
        </p:spPr>
        <p:txBody>
          <a:bodyPr>
            <a:normAutofit/>
          </a:bodyPr>
          <a:lstStyle/>
          <a:p>
            <a:r>
              <a:rPr dirty="0"/>
              <a:t>Server performs a </a:t>
            </a:r>
            <a:r>
              <a:rPr i="1" dirty="0"/>
              <a:t>passive open</a:t>
            </a:r>
            <a:r>
              <a:rPr lang="en-US" dirty="0"/>
              <a:t>; blocks </a:t>
            </a:r>
            <a:r>
              <a:rPr dirty="0"/>
              <a:t>wait</a:t>
            </a:r>
            <a:r>
              <a:rPr lang="en-US" dirty="0"/>
              <a:t>ing</a:t>
            </a:r>
            <a:r>
              <a:rPr dirty="0"/>
              <a:t> for </a:t>
            </a:r>
            <a:r>
              <a:rPr lang="en-US" dirty="0"/>
              <a:t>requests</a:t>
            </a:r>
          </a:p>
          <a:p>
            <a:endParaRPr lang="en-US" dirty="0"/>
          </a:p>
          <a:p>
            <a:endParaRPr dirty="0"/>
          </a:p>
          <a:p>
            <a:r>
              <a:rPr dirty="0"/>
              <a:t>Client performs an </a:t>
            </a:r>
            <a:r>
              <a:rPr i="1" dirty="0"/>
              <a:t>active open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sz="1100" dirty="0"/>
          </a:p>
          <a:p>
            <a:r>
              <a:rPr dirty="0"/>
              <a:t>Both sides</a:t>
            </a:r>
            <a:r>
              <a:rPr lang="en-US" dirty="0"/>
              <a:t> </a:t>
            </a:r>
            <a:r>
              <a:rPr dirty="0"/>
              <a:t>exchange </a:t>
            </a:r>
            <a:r>
              <a:rPr lang="en-US" dirty="0"/>
              <a:t>messages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633768" y="1982947"/>
            <a:ext cx="55492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Lucida Console"/>
              </a:rPr>
              <a:t>bind(sock, &amp;</a:t>
            </a:r>
            <a:r>
              <a:rPr dirty="0" err="1">
                <a:latin typeface="Lucida Console"/>
              </a:rPr>
              <a:t>addr</a:t>
            </a:r>
            <a:r>
              <a:rPr dirty="0">
                <a:latin typeface="Lucida Console"/>
              </a:rPr>
              <a:t>, </a:t>
            </a:r>
            <a:r>
              <a:rPr dirty="0" err="1">
                <a:latin typeface="Lucida Console"/>
              </a:rPr>
              <a:t>len</a:t>
            </a:r>
            <a:r>
              <a:rPr dirty="0">
                <a:latin typeface="Lucida Console"/>
              </a:rPr>
              <a:t>);</a:t>
            </a:r>
          </a:p>
          <a:p>
            <a:r>
              <a:rPr dirty="0">
                <a:latin typeface="Lucida Console"/>
              </a:rPr>
              <a:t>listen(sock, backlog);</a:t>
            </a:r>
          </a:p>
          <a:p>
            <a:r>
              <a:rPr dirty="0" err="1">
                <a:latin typeface="Lucida Console"/>
              </a:rPr>
              <a:t>new_sock</a:t>
            </a:r>
            <a:r>
              <a:rPr dirty="0">
                <a:latin typeface="Lucida Console"/>
              </a:rPr>
              <a:t> = accept(sock, &amp;peer, &amp;</a:t>
            </a:r>
            <a:r>
              <a:rPr dirty="0" err="1">
                <a:latin typeface="Lucida Console"/>
              </a:rPr>
              <a:t>len</a:t>
            </a:r>
            <a:r>
              <a:rPr dirty="0">
                <a:latin typeface="Lucida Console"/>
              </a:rPr>
              <a:t>);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FF1E6-F182-9EDF-237C-030BE53E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DEF31-5F0C-898B-6EC5-AA418DEA6D68}"/>
              </a:ext>
            </a:extLst>
          </p:cNvPr>
          <p:cNvSpPr txBox="1"/>
          <p:nvPr/>
        </p:nvSpPr>
        <p:spPr>
          <a:xfrm>
            <a:off x="1633768" y="3606175"/>
            <a:ext cx="38106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latin typeface="Lucida Console"/>
              </a:rPr>
              <a:t>connect(sock, &amp;</a:t>
            </a:r>
            <a:r>
              <a:rPr dirty="0" err="1">
                <a:latin typeface="Lucida Console"/>
              </a:rPr>
              <a:t>addr</a:t>
            </a:r>
            <a:r>
              <a:rPr dirty="0">
                <a:latin typeface="Lucida Console"/>
              </a:rPr>
              <a:t>, </a:t>
            </a:r>
            <a:r>
              <a:rPr dirty="0" err="1">
                <a:latin typeface="Lucida Console"/>
              </a:rPr>
              <a:t>len</a:t>
            </a:r>
            <a:r>
              <a:rPr dirty="0">
                <a:latin typeface="Lucida Console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94279-B11A-863E-F887-09BDEDDFE7B7}"/>
              </a:ext>
            </a:extLst>
          </p:cNvPr>
          <p:cNvSpPr txBox="1"/>
          <p:nvPr/>
        </p:nvSpPr>
        <p:spPr>
          <a:xfrm>
            <a:off x="6477000" y="7245534"/>
            <a:ext cx="5181480" cy="4351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latin typeface="Lucida Console"/>
              </a:rPr>
              <a:t>/* Server */</a:t>
            </a:r>
          </a:p>
          <a:p>
            <a:r>
              <a:rPr sz="1600" dirty="0">
                <a:latin typeface="Lucida Console"/>
              </a:rPr>
              <a:t>bind(sock, &amp;</a:t>
            </a:r>
            <a:r>
              <a:rPr sz="1600" dirty="0" err="1">
                <a:latin typeface="Lucida Console"/>
              </a:rPr>
              <a:t>addr</a:t>
            </a:r>
            <a:r>
              <a:rPr sz="1600" dirty="0">
                <a:latin typeface="Lucida Console"/>
              </a:rPr>
              <a:t>, </a:t>
            </a:r>
            <a:r>
              <a:rPr sz="1600" dirty="0" err="1">
                <a:latin typeface="Lucida Console"/>
              </a:rPr>
              <a:t>len</a:t>
            </a:r>
            <a:r>
              <a:rPr sz="1600" dirty="0">
                <a:latin typeface="Lucida Console"/>
              </a:rPr>
              <a:t>);</a:t>
            </a:r>
          </a:p>
          <a:p>
            <a:r>
              <a:rPr sz="1600" dirty="0">
                <a:latin typeface="Lucida Console"/>
              </a:rPr>
              <a:t>listen(sock, backlog);</a:t>
            </a:r>
          </a:p>
          <a:p>
            <a:r>
              <a:rPr sz="1600" dirty="0" err="1">
                <a:latin typeface="Lucida Console"/>
              </a:rPr>
              <a:t>new_sock</a:t>
            </a:r>
            <a:r>
              <a:rPr sz="1600" dirty="0">
                <a:latin typeface="Lucida Console"/>
              </a:rPr>
              <a:t> = accept(sock, &amp;peer, &amp;</a:t>
            </a:r>
            <a:r>
              <a:rPr sz="1600" dirty="0" err="1">
                <a:latin typeface="Lucida Console"/>
              </a:rPr>
              <a:t>len</a:t>
            </a:r>
            <a:r>
              <a:rPr sz="1600" dirty="0">
                <a:latin typeface="Lucida Console"/>
              </a:rPr>
              <a:t>);</a:t>
            </a:r>
          </a:p>
          <a:p>
            <a:r>
              <a:rPr sz="1600" dirty="0">
                <a:latin typeface="Lucida Console"/>
              </a:rPr>
              <a:t>/* Client */</a:t>
            </a:r>
          </a:p>
          <a:p>
            <a:r>
              <a:rPr sz="1600" dirty="0">
                <a:latin typeface="Lucida Console"/>
              </a:rPr>
              <a:t>connect(sock, &amp;</a:t>
            </a:r>
            <a:r>
              <a:rPr sz="1600" dirty="0" err="1">
                <a:latin typeface="Lucida Console"/>
              </a:rPr>
              <a:t>addr</a:t>
            </a:r>
            <a:r>
              <a:rPr sz="1600" dirty="0">
                <a:latin typeface="Lucida Console"/>
              </a:rPr>
              <a:t>, </a:t>
            </a:r>
            <a:r>
              <a:rPr sz="1600" dirty="0" err="1">
                <a:latin typeface="Lucida Console"/>
              </a:rPr>
              <a:t>len</a:t>
            </a:r>
            <a:r>
              <a:rPr sz="1600" dirty="0">
                <a:latin typeface="Lucida Console"/>
              </a:rPr>
              <a:t>);</a:t>
            </a:r>
          </a:p>
          <a:p>
            <a:r>
              <a:rPr sz="1600" dirty="0">
                <a:latin typeface="Lucida Console"/>
              </a:rPr>
              <a:t>/* Both */</a:t>
            </a:r>
          </a:p>
          <a:p>
            <a:r>
              <a:rPr sz="1600" dirty="0">
                <a:latin typeface="Lucida Console"/>
              </a:rPr>
              <a:t>send(sock, msg, </a:t>
            </a:r>
            <a:r>
              <a:rPr sz="1600" dirty="0" err="1">
                <a:latin typeface="Lucida Console"/>
              </a:rPr>
              <a:t>len</a:t>
            </a:r>
            <a:r>
              <a:rPr sz="1600" dirty="0">
                <a:latin typeface="Lucida Console"/>
              </a:rPr>
              <a:t>, 0);</a:t>
            </a:r>
          </a:p>
          <a:p>
            <a:r>
              <a:rPr sz="1600" dirty="0" err="1">
                <a:latin typeface="Lucida Console"/>
              </a:rPr>
              <a:t>recv</a:t>
            </a:r>
            <a:r>
              <a:rPr sz="1600" dirty="0">
                <a:latin typeface="Lucida Console"/>
              </a:rPr>
              <a:t>(sock, </a:t>
            </a:r>
            <a:r>
              <a:rPr sz="1600" dirty="0" err="1">
                <a:latin typeface="Lucida Console"/>
              </a:rPr>
              <a:t>buf</a:t>
            </a:r>
            <a:r>
              <a:rPr sz="1600" dirty="0">
                <a:latin typeface="Lucida Console"/>
              </a:rPr>
              <a:t>, </a:t>
            </a:r>
            <a:r>
              <a:rPr sz="1600" dirty="0" err="1">
                <a:latin typeface="Lucida Console"/>
              </a:rPr>
              <a:t>len</a:t>
            </a:r>
            <a:r>
              <a:rPr sz="1600" dirty="0">
                <a:latin typeface="Lucida Console"/>
              </a:rPr>
              <a:t>, 0);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2091B-64EC-3C4C-0973-887B33349B35}"/>
              </a:ext>
            </a:extLst>
          </p:cNvPr>
          <p:cNvSpPr txBox="1"/>
          <p:nvPr/>
        </p:nvSpPr>
        <p:spPr>
          <a:xfrm>
            <a:off x="1633768" y="4741780"/>
            <a:ext cx="35317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latin typeface="Lucida Console"/>
              </a:rPr>
              <a:t>send(sock, msg, </a:t>
            </a:r>
            <a:r>
              <a:rPr dirty="0" err="1">
                <a:latin typeface="Lucida Console"/>
              </a:rPr>
              <a:t>len</a:t>
            </a:r>
            <a:r>
              <a:rPr dirty="0">
                <a:latin typeface="Lucida Console"/>
              </a:rPr>
              <a:t>, 0);</a:t>
            </a:r>
          </a:p>
          <a:p>
            <a:r>
              <a:rPr dirty="0" err="1">
                <a:latin typeface="Lucida Console"/>
              </a:rPr>
              <a:t>recv</a:t>
            </a:r>
            <a:r>
              <a:rPr dirty="0">
                <a:latin typeface="Lucida Console"/>
              </a:rPr>
              <a:t>(sock, </a:t>
            </a:r>
            <a:r>
              <a:rPr dirty="0" err="1">
                <a:latin typeface="Lucida Console"/>
              </a:rPr>
              <a:t>buf</a:t>
            </a:r>
            <a:r>
              <a:rPr dirty="0">
                <a:latin typeface="Lucida Console"/>
              </a:rPr>
              <a:t>, </a:t>
            </a:r>
            <a:r>
              <a:rPr dirty="0" err="1">
                <a:latin typeface="Lucida Console"/>
              </a:rPr>
              <a:t>len</a:t>
            </a:r>
            <a:r>
              <a:rPr dirty="0">
                <a:latin typeface="Lucida Console"/>
              </a:rPr>
              <a:t>, 0);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Scalable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>
            <a:normAutofit/>
          </a:bodyPr>
          <a:lstStyle/>
          <a:p>
            <a:r>
              <a:rPr dirty="0"/>
              <a:t>Cloud </a:t>
            </a:r>
            <a:r>
              <a:rPr lang="en-US" dirty="0"/>
              <a:t>scales </a:t>
            </a:r>
            <a:r>
              <a:rPr dirty="0"/>
              <a:t>server side </a:t>
            </a:r>
            <a:endParaRPr lang="en-US" dirty="0"/>
          </a:p>
          <a:p>
            <a:pPr lvl="1"/>
            <a:r>
              <a:rPr dirty="0"/>
              <a:t>Load balancer distributes requests across a pool of backend instances</a:t>
            </a:r>
          </a:p>
          <a:p>
            <a:pPr lvl="1"/>
            <a:r>
              <a:rPr lang="en-US" dirty="0"/>
              <a:t>Instances ~ Containers</a:t>
            </a:r>
            <a:endParaRPr dirty="0"/>
          </a:p>
          <a:p>
            <a:r>
              <a:rPr dirty="0"/>
              <a:t>Client see a single IP address</a:t>
            </a:r>
            <a:endParaRPr lang="en-US" dirty="0"/>
          </a:p>
          <a:p>
            <a:pPr lvl="1"/>
            <a:r>
              <a:rPr lang="en-US" dirty="0"/>
              <a:t>Makes request to a </a:t>
            </a:r>
            <a:r>
              <a:rPr lang="en-US" i="1" dirty="0"/>
              <a:t>service</a:t>
            </a:r>
            <a:endParaRPr i="1" dirty="0"/>
          </a:p>
        </p:txBody>
      </p:sp>
      <p:pic>
        <p:nvPicPr>
          <p:cNvPr id="4" name="Picture 3" descr="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04380"/>
            <a:ext cx="5181480" cy="389527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DA212-705F-7279-D50B-90DBF83B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Scalable Services: </a:t>
            </a:r>
            <a:r>
              <a:rPr dirty="0"/>
              <a:t>Datacenter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>
            <a:normAutofit/>
          </a:bodyPr>
          <a:lstStyle/>
          <a:p>
            <a:r>
              <a:rPr dirty="0"/>
              <a:t>Leaf-spine </a:t>
            </a:r>
            <a:r>
              <a:rPr lang="en-US" dirty="0"/>
              <a:t>Datacenter F</a:t>
            </a:r>
            <a:r>
              <a:rPr dirty="0"/>
              <a:t>abric</a:t>
            </a:r>
            <a:endParaRPr lang="en-US" dirty="0"/>
          </a:p>
          <a:p>
            <a:pPr lvl="1"/>
            <a:r>
              <a:rPr lang="en-US" dirty="0"/>
              <a:t>C</a:t>
            </a:r>
            <a:r>
              <a:rPr dirty="0"/>
              <a:t>ommodity </a:t>
            </a:r>
            <a:r>
              <a:rPr lang="en-US" dirty="0"/>
              <a:t>S</a:t>
            </a:r>
            <a:r>
              <a:rPr dirty="0"/>
              <a:t>witches</a:t>
            </a:r>
            <a:endParaRPr lang="en-US" dirty="0"/>
          </a:p>
          <a:p>
            <a:pPr lvl="1"/>
            <a:r>
              <a:rPr lang="en-US" dirty="0"/>
              <a:t>Example shows two-level fabric</a:t>
            </a:r>
            <a:endParaRPr dirty="0"/>
          </a:p>
          <a:p>
            <a:r>
              <a:rPr dirty="0"/>
              <a:t>Leaf (Top-of-Rack) </a:t>
            </a:r>
            <a:r>
              <a:rPr lang="en-US" dirty="0"/>
              <a:t>S</a:t>
            </a:r>
            <a:r>
              <a:rPr dirty="0"/>
              <a:t>witch</a:t>
            </a:r>
            <a:r>
              <a:rPr lang="en-US" dirty="0"/>
              <a:t>es</a:t>
            </a:r>
          </a:p>
          <a:p>
            <a:pPr lvl="1"/>
            <a:r>
              <a:rPr lang="en-US" dirty="0"/>
              <a:t>C</a:t>
            </a:r>
            <a:r>
              <a:rPr dirty="0"/>
              <a:t>onnect servers within a rack</a:t>
            </a:r>
          </a:p>
          <a:p>
            <a:r>
              <a:rPr dirty="0"/>
              <a:t>Spine </a:t>
            </a:r>
            <a:r>
              <a:rPr lang="en-US" dirty="0"/>
              <a:t>S</a:t>
            </a:r>
            <a:r>
              <a:rPr dirty="0"/>
              <a:t>witches</a:t>
            </a:r>
            <a:endParaRPr lang="en-US" dirty="0"/>
          </a:p>
          <a:p>
            <a:pPr lvl="1"/>
            <a:r>
              <a:rPr lang="en-US" dirty="0"/>
              <a:t>C</a:t>
            </a:r>
            <a:r>
              <a:rPr dirty="0"/>
              <a:t>onnect leaf switches across racks</a:t>
            </a:r>
            <a:endParaRPr lang="en-US" dirty="0"/>
          </a:p>
          <a:p>
            <a:pPr lvl="1"/>
            <a:r>
              <a:rPr lang="en-US" dirty="0"/>
              <a:t>Supports multiple paths</a:t>
            </a:r>
            <a:endParaRPr dirty="0"/>
          </a:p>
        </p:txBody>
      </p:sp>
      <p:pic>
        <p:nvPicPr>
          <p:cNvPr id="4" name="Picture 3" descr="leaf-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78376"/>
            <a:ext cx="5181480" cy="314728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E9248-95D2-AC04-A6BB-919EFBAB6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096" y="1476360"/>
            <a:ext cx="5303464" cy="4351320"/>
          </a:xfrm>
        </p:spPr>
        <p:txBody>
          <a:bodyPr>
            <a:normAutofit fontScale="92500"/>
          </a:bodyPr>
          <a:lstStyle/>
          <a:p>
            <a:r>
              <a:rPr dirty="0"/>
              <a:t>Replicate service </a:t>
            </a:r>
            <a:r>
              <a:rPr lang="en-US" dirty="0"/>
              <a:t>over</a:t>
            </a:r>
            <a:r>
              <a:rPr dirty="0"/>
              <a:t> multiple</a:t>
            </a:r>
            <a:r>
              <a:rPr lang="en-US" dirty="0"/>
              <a:t> </a:t>
            </a:r>
            <a:r>
              <a:rPr dirty="0"/>
              <a:t>sites</a:t>
            </a:r>
          </a:p>
          <a:p>
            <a:pPr lvl="1"/>
            <a:r>
              <a:rPr dirty="0"/>
              <a:t>Lower </a:t>
            </a:r>
            <a:r>
              <a:rPr lang="en-US" dirty="0"/>
              <a:t>L</a:t>
            </a:r>
            <a:r>
              <a:rPr dirty="0"/>
              <a:t>atency: serve from nearby site</a:t>
            </a:r>
          </a:p>
          <a:p>
            <a:pPr lvl="1"/>
            <a:r>
              <a:rPr dirty="0"/>
              <a:t>Higher </a:t>
            </a:r>
            <a:r>
              <a:rPr lang="en-US" dirty="0"/>
              <a:t>C</a:t>
            </a:r>
            <a:r>
              <a:rPr dirty="0"/>
              <a:t>apacity: aggregate resources</a:t>
            </a:r>
          </a:p>
          <a:p>
            <a:pPr lvl="1"/>
            <a:r>
              <a:rPr dirty="0"/>
              <a:t>Higher </a:t>
            </a:r>
            <a:r>
              <a:rPr lang="en-US" dirty="0"/>
              <a:t>A</a:t>
            </a:r>
            <a:r>
              <a:rPr dirty="0"/>
              <a:t>vailability: survive site failure</a:t>
            </a:r>
          </a:p>
          <a:p>
            <a:r>
              <a:rPr dirty="0"/>
              <a:t>5000+ cloud sites worldwide</a:t>
            </a:r>
            <a:endParaRPr lang="en-US" dirty="0"/>
          </a:p>
          <a:p>
            <a:pPr lvl="1"/>
            <a:r>
              <a:rPr lang="en-US" dirty="0"/>
              <a:t>H</a:t>
            </a:r>
            <a:r>
              <a:rPr dirty="0"/>
              <a:t>yperscale datacenters</a:t>
            </a:r>
            <a:endParaRPr lang="en-US" dirty="0"/>
          </a:p>
          <a:p>
            <a:pPr lvl="1"/>
            <a:r>
              <a:rPr lang="en-US" dirty="0"/>
              <a:t>E</a:t>
            </a:r>
            <a:r>
              <a:rPr dirty="0"/>
              <a:t>dge locations</a:t>
            </a:r>
            <a:r>
              <a:rPr lang="en-US" dirty="0"/>
              <a:t> (e.g., IXP)</a:t>
            </a:r>
            <a:endParaRPr dirty="0"/>
          </a:p>
          <a:p>
            <a:r>
              <a:rPr dirty="0"/>
              <a:t>Internet and </a:t>
            </a:r>
            <a:r>
              <a:rPr lang="en-US" dirty="0"/>
              <a:t>C</a:t>
            </a:r>
            <a:r>
              <a:rPr dirty="0"/>
              <a:t>loud are </a:t>
            </a:r>
            <a:r>
              <a:rPr lang="en-US" dirty="0"/>
              <a:t>S</a:t>
            </a:r>
            <a:r>
              <a:rPr dirty="0"/>
              <a:t>ymbiotic</a:t>
            </a:r>
            <a:endParaRPr lang="en-US" dirty="0"/>
          </a:p>
          <a:p>
            <a:pPr lvl="1"/>
            <a:r>
              <a:rPr lang="en-US" dirty="0"/>
              <a:t>Cloud runs over Internet protocols</a:t>
            </a:r>
          </a:p>
          <a:p>
            <a:pPr lvl="1"/>
            <a:r>
              <a:rPr lang="en-US" dirty="0"/>
              <a:t>Internet functions run on cloud servers</a:t>
            </a:r>
          </a:p>
        </p:txBody>
      </p:sp>
      <p:pic>
        <p:nvPicPr>
          <p:cNvPr id="4" name="Picture 3" descr="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962" y="2137272"/>
            <a:ext cx="5707218" cy="277396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85C55-C287-BD9A-3C62-8CAD552D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9190"/>
            <a:ext cx="10515600" cy="5392615"/>
          </a:xfrm>
        </p:spPr>
        <p:txBody>
          <a:bodyPr>
            <a:normAutofit/>
          </a:bodyPr>
          <a:lstStyle/>
          <a:p>
            <a:r>
              <a:rPr lang="en-US" sz="2400" dirty="0"/>
              <a:t>Parallel programs are another kind of application that use the network</a:t>
            </a:r>
          </a:p>
          <a:p>
            <a:pPr lvl="1"/>
            <a:r>
              <a:rPr lang="en-US" sz="2200" dirty="0"/>
              <a:t>Historically known as High-Performance Computing (HPC)</a:t>
            </a:r>
          </a:p>
          <a:p>
            <a:pPr lvl="2"/>
            <a:r>
              <a:rPr lang="en-US" dirty="0"/>
              <a:t>e.g., weather forecasting, financial modeling, aerodynamic design, physics simulations</a:t>
            </a:r>
          </a:p>
          <a:p>
            <a:pPr lvl="1"/>
            <a:r>
              <a:rPr lang="en-US" sz="2200" dirty="0"/>
              <a:t>Originally ran on purpose-built supercomputers</a:t>
            </a:r>
          </a:p>
          <a:p>
            <a:pPr lvl="1"/>
            <a:r>
              <a:rPr lang="en-US" sz="2200" dirty="0"/>
              <a:t>Today they typically run in datacenters (commodity servers, datacenter fabric)</a:t>
            </a:r>
          </a:p>
          <a:p>
            <a:r>
              <a:rPr lang="en-US" sz="2400" dirty="0"/>
              <a:t>Modern workloads now include…</a:t>
            </a:r>
            <a:endParaRPr sz="2400" dirty="0"/>
          </a:p>
          <a:p>
            <a:pPr lvl="1"/>
            <a:r>
              <a:rPr lang="en-US" sz="2200" dirty="0"/>
              <a:t>Building search indices</a:t>
            </a:r>
          </a:p>
          <a:p>
            <a:pPr lvl="1"/>
            <a:r>
              <a:rPr sz="2200" dirty="0"/>
              <a:t>AI model training</a:t>
            </a:r>
          </a:p>
          <a:p>
            <a:r>
              <a:rPr lang="en-US" sz="2400" dirty="0"/>
              <a:t>Key properties (with respect to networking)</a:t>
            </a:r>
          </a:p>
          <a:p>
            <a:pPr lvl="1"/>
            <a:r>
              <a:rPr lang="en-US" sz="2200" dirty="0"/>
              <a:t>Involve a </a:t>
            </a:r>
            <a:r>
              <a:rPr sz="2200" dirty="0"/>
              <a:t>group of processes </a:t>
            </a:r>
            <a:r>
              <a:rPr lang="en-US" sz="2200" dirty="0"/>
              <a:t>(a </a:t>
            </a:r>
            <a:r>
              <a:rPr lang="en-US" sz="2200" i="1" dirty="0"/>
              <a:t>collective</a:t>
            </a:r>
            <a:r>
              <a:rPr lang="en-US" sz="2200" dirty="0"/>
              <a:t>) rather than just a client-server pair</a:t>
            </a:r>
          </a:p>
          <a:p>
            <a:pPr lvl="1"/>
            <a:r>
              <a:rPr lang="en-US" sz="2200" dirty="0"/>
              <a:t>Programs are structured to iterate through a sequence of steps</a:t>
            </a:r>
          </a:p>
          <a:p>
            <a:pPr lvl="2"/>
            <a:r>
              <a:rPr lang="en-US" dirty="0"/>
              <a:t>Scatter “chunks of data” to peers (one-to-many communication)</a:t>
            </a:r>
          </a:p>
          <a:p>
            <a:pPr lvl="2"/>
            <a:r>
              <a:rPr lang="en-US" dirty="0"/>
              <a:t>Shuffle “intermediate results” between peers (many-to-many communication)</a:t>
            </a:r>
          </a:p>
          <a:p>
            <a:pPr lvl="2"/>
            <a:r>
              <a:rPr lang="en-US" dirty="0"/>
              <a:t>Gather “results” back in a central location (many-to-one communication) 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FB449-BD9D-400E-38D7-28BF35CF5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Synchronization and Work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8224"/>
            <a:ext cx="10515600" cy="4770513"/>
          </a:xfrm>
        </p:spPr>
        <p:txBody>
          <a:bodyPr/>
          <a:lstStyle/>
          <a:p>
            <a:r>
              <a:rPr lang="en-US" dirty="0"/>
              <a:t>Goal is to maximize parallelism and minimize blocking</a:t>
            </a:r>
          </a:p>
          <a:p>
            <a:r>
              <a:rPr dirty="0"/>
              <a:t>Synchronization barrier between </a:t>
            </a:r>
            <a:r>
              <a:rPr lang="en-US" dirty="0"/>
              <a:t>steps and iterations</a:t>
            </a:r>
            <a:endParaRPr dirty="0"/>
          </a:p>
          <a:p>
            <a:pPr lvl="1"/>
            <a:r>
              <a:rPr dirty="0"/>
              <a:t>Next iteration can't start until </a:t>
            </a:r>
            <a:r>
              <a:rPr lang="en-US" dirty="0"/>
              <a:t>previous</a:t>
            </a:r>
            <a:r>
              <a:rPr dirty="0"/>
              <a:t> one fully completes</a:t>
            </a:r>
          </a:p>
          <a:p>
            <a:pPr lvl="1"/>
            <a:r>
              <a:rPr dirty="0"/>
              <a:t>Overall </a:t>
            </a:r>
            <a:r>
              <a:rPr lang="en-US" dirty="0"/>
              <a:t>speed</a:t>
            </a:r>
            <a:r>
              <a:rPr dirty="0"/>
              <a:t> = slowest transfer, not the fastest</a:t>
            </a:r>
          </a:p>
          <a:p>
            <a:r>
              <a:rPr lang="en-US" dirty="0"/>
              <a:t>Avoid blocking on the network </a:t>
            </a:r>
          </a:p>
          <a:p>
            <a:pPr lvl="1"/>
            <a:r>
              <a:rPr lang="en-US" dirty="0"/>
              <a:t>Communication “channel” includes a work queue and a completion queue</a:t>
            </a:r>
          </a:p>
          <a:p>
            <a:pPr lvl="1"/>
            <a:r>
              <a:rPr dirty="0"/>
              <a:t>Threads </a:t>
            </a:r>
            <a:r>
              <a:rPr lang="en-US" dirty="0"/>
              <a:t>asynchronously </a:t>
            </a:r>
            <a:r>
              <a:rPr dirty="0"/>
              <a:t>insert </a:t>
            </a:r>
            <a:r>
              <a:rPr lang="en-US" dirty="0"/>
              <a:t>messages</a:t>
            </a:r>
            <a:r>
              <a:rPr dirty="0"/>
              <a:t> into a work queue</a:t>
            </a:r>
          </a:p>
          <a:p>
            <a:pPr lvl="1"/>
            <a:r>
              <a:rPr lang="en-US" dirty="0"/>
              <a:t>Threads p</a:t>
            </a:r>
            <a:r>
              <a:rPr dirty="0"/>
              <a:t>oll the completion queue </a:t>
            </a:r>
            <a:r>
              <a:rPr lang="en-US" dirty="0"/>
              <a:t>for a notice about success/failure</a:t>
            </a:r>
            <a:endParaRPr dirty="0"/>
          </a:p>
          <a:p>
            <a:r>
              <a:rPr lang="en-US" dirty="0"/>
              <a:t>Sockets do not provide the right abstraction</a:t>
            </a:r>
          </a:p>
          <a:p>
            <a:pPr lvl="1"/>
            <a:r>
              <a:rPr lang="en-US" dirty="0"/>
              <a:t>And neither does TCP</a:t>
            </a:r>
          </a:p>
          <a:p>
            <a:pPr lvl="1"/>
            <a:r>
              <a:rPr lang="en-US" dirty="0"/>
              <a:t>We’ll see alternatives to both in Chapter 15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8717B-A671-FD6A-438B-08A660CA3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2019-9549-6622-0FE7-0C1C04BFDE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HTTP: From App to Framework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567C0-0A57-6BB8-670A-C6108CA4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  <p:extLst>
      <p:ext uri="{BB962C8B-B14F-4D97-AF65-F5344CB8AC3E}">
        <p14:creationId xmlns:p14="http://schemas.microsoft.com/office/powerpoint/2010/main" val="2632201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/>
          <a:lstStyle/>
          <a:p>
            <a:r>
              <a:rPr dirty="0"/>
              <a:t>HTTP began as the protocol of the World Wide Web</a:t>
            </a:r>
          </a:p>
          <a:p>
            <a:r>
              <a:rPr dirty="0"/>
              <a:t>Has evolved into </a:t>
            </a:r>
            <a:r>
              <a:rPr lang="en-US" dirty="0"/>
              <a:t>a</a:t>
            </a:r>
            <a:r>
              <a:rPr dirty="0"/>
              <a:t> framework for Internet applications</a:t>
            </a:r>
          </a:p>
          <a:p>
            <a:pPr lvl="1"/>
            <a:r>
              <a:rPr dirty="0"/>
              <a:t>Mobile apps, video streaming</a:t>
            </a:r>
            <a:r>
              <a:rPr lang="en-US" dirty="0"/>
              <a:t>…</a:t>
            </a:r>
            <a:endParaRPr dirty="0"/>
          </a:p>
          <a:p>
            <a:r>
              <a:rPr lang="en-US" dirty="0"/>
              <a:t>R</a:t>
            </a:r>
            <a:r>
              <a:rPr dirty="0"/>
              <a:t>equest/</a:t>
            </a:r>
            <a:r>
              <a:rPr lang="en-US" dirty="0"/>
              <a:t>R</a:t>
            </a:r>
            <a:r>
              <a:rPr dirty="0"/>
              <a:t>esponse </a:t>
            </a:r>
            <a:r>
              <a:rPr lang="en-US" dirty="0"/>
              <a:t>P</a:t>
            </a:r>
            <a:r>
              <a:rPr dirty="0"/>
              <a:t>rotocol</a:t>
            </a:r>
            <a:endParaRPr lang="en-US" dirty="0"/>
          </a:p>
          <a:p>
            <a:pPr lvl="1"/>
            <a:r>
              <a:rPr lang="en-US" dirty="0"/>
              <a:t>and more…</a:t>
            </a:r>
            <a:endParaRPr dirty="0"/>
          </a:p>
        </p:txBody>
      </p:sp>
      <p:pic>
        <p:nvPicPr>
          <p:cNvPr id="4" name="Picture 3" descr="firef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05105"/>
            <a:ext cx="5181480" cy="389382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79E49-DB51-166E-BF20-94F8E02F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Request</a:t>
            </a:r>
            <a:r>
              <a:rPr lang="en-US" dirty="0"/>
              <a:t>/</a:t>
            </a:r>
            <a:r>
              <a:rPr dirty="0"/>
              <a:t>Response</a:t>
            </a:r>
            <a:r>
              <a:rPr lang="en-US" dirty="0"/>
              <a:t> Protocol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Request: </a:t>
            </a:r>
            <a:r>
              <a:rPr lang="en-US" dirty="0"/>
              <a:t>M</a:t>
            </a:r>
            <a:r>
              <a:rPr dirty="0"/>
              <a:t>ethod + </a:t>
            </a:r>
            <a:r>
              <a:rPr lang="en-US" dirty="0"/>
              <a:t>Resource (named by URL)</a:t>
            </a:r>
            <a:endParaRPr dirty="0"/>
          </a:p>
          <a:p>
            <a:pPr lvl="1"/>
            <a:r>
              <a:rPr dirty="0"/>
              <a:t>GET (retrieve), POST (submit), PUT (update), DELETE (remove)</a:t>
            </a:r>
          </a:p>
          <a:p>
            <a:r>
              <a:rPr dirty="0"/>
              <a:t>Response: 3-digit status code + reason phrase</a:t>
            </a:r>
          </a:p>
          <a:p>
            <a:pPr lvl="1"/>
            <a:r>
              <a:rPr dirty="0"/>
              <a:t>2xx success</a:t>
            </a:r>
            <a:r>
              <a:rPr lang="en-US" dirty="0"/>
              <a:t>,</a:t>
            </a:r>
            <a:r>
              <a:rPr dirty="0"/>
              <a:t> 3xx redirect</a:t>
            </a:r>
            <a:r>
              <a:rPr lang="en-US" dirty="0"/>
              <a:t>,</a:t>
            </a:r>
            <a:r>
              <a:rPr dirty="0"/>
              <a:t> 4xx client error</a:t>
            </a:r>
            <a:r>
              <a:rPr lang="en-US" dirty="0"/>
              <a:t>,</a:t>
            </a:r>
            <a:r>
              <a:rPr dirty="0"/>
              <a:t> 5xx server error</a:t>
            </a:r>
          </a:p>
          <a:p>
            <a:r>
              <a:rPr dirty="0"/>
              <a:t>HTML and HTTP are companion standards</a:t>
            </a:r>
            <a:endParaRPr lang="en-US" dirty="0"/>
          </a:p>
          <a:p>
            <a:pPr lvl="1"/>
            <a:r>
              <a:rPr lang="en-US" dirty="0"/>
              <a:t>D</a:t>
            </a:r>
            <a:r>
              <a:rPr dirty="0"/>
              <a:t>ata format separate from transfer protocol</a:t>
            </a:r>
            <a:endParaRPr lang="en-US" dirty="0"/>
          </a:p>
          <a:p>
            <a:pPr lvl="1"/>
            <a:r>
              <a:rPr lang="en-US" dirty="0"/>
              <a:t>Easy to substitute other formats (e.g., XML)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923E9-4193-0A34-E11B-408C9FB4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 Overhead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9" y="1476360"/>
            <a:ext cx="7049998" cy="4748170"/>
          </a:xfrm>
        </p:spPr>
        <p:txBody>
          <a:bodyPr>
            <a:normAutofit lnSpcReduction="10000"/>
          </a:bodyPr>
          <a:lstStyle/>
          <a:p>
            <a:r>
              <a:rPr sz="2400" dirty="0"/>
              <a:t>HTTP 1.0</a:t>
            </a:r>
            <a:endParaRPr lang="en-US" sz="2400" dirty="0"/>
          </a:p>
          <a:p>
            <a:pPr lvl="1"/>
            <a:r>
              <a:rPr lang="en-US" sz="2000" dirty="0"/>
              <a:t>O</a:t>
            </a:r>
            <a:r>
              <a:rPr sz="2000" dirty="0"/>
              <a:t>ne TCP connection per object</a:t>
            </a:r>
          </a:p>
          <a:p>
            <a:pPr lvl="1"/>
            <a:r>
              <a:rPr lang="en-US" sz="2000" dirty="0"/>
              <a:t>P</a:t>
            </a:r>
            <a:r>
              <a:rPr sz="2000" dirty="0"/>
              <a:t>age with 12 images → 13 TCP </a:t>
            </a:r>
            <a:r>
              <a:rPr lang="en-US" sz="2000" dirty="0"/>
              <a:t>connections</a:t>
            </a:r>
          </a:p>
          <a:p>
            <a:pPr lvl="1"/>
            <a:r>
              <a:rPr lang="en-US" sz="2000" dirty="0"/>
              <a:t>TLS adds additional round trips</a:t>
            </a:r>
            <a:endParaRPr sz="2000" dirty="0"/>
          </a:p>
          <a:p>
            <a:r>
              <a:rPr sz="2400" dirty="0"/>
              <a:t>HTTP 1.1</a:t>
            </a:r>
            <a:endParaRPr lang="en-US" sz="2400" dirty="0"/>
          </a:p>
          <a:p>
            <a:pPr lvl="1"/>
            <a:r>
              <a:rPr lang="en-US" sz="2000" dirty="0"/>
              <a:t>P</a:t>
            </a:r>
            <a:r>
              <a:rPr sz="2000" dirty="0"/>
              <a:t>ersistent connections</a:t>
            </a:r>
            <a:endParaRPr lang="en-US" sz="2000" dirty="0"/>
          </a:p>
          <a:p>
            <a:pPr lvl="1"/>
            <a:r>
              <a:rPr lang="en-US" sz="2000" dirty="0"/>
              <a:t>R</a:t>
            </a:r>
            <a:r>
              <a:rPr sz="2000" dirty="0"/>
              <a:t>euse one TCP for multiple requests</a:t>
            </a:r>
          </a:p>
          <a:p>
            <a:r>
              <a:rPr sz="2400" dirty="0"/>
              <a:t>HTTP/2</a:t>
            </a:r>
            <a:endParaRPr lang="en-US" sz="2400" dirty="0"/>
          </a:p>
          <a:p>
            <a:pPr lvl="1"/>
            <a:r>
              <a:rPr lang="en-US" sz="2000" dirty="0"/>
              <a:t>M</a:t>
            </a:r>
            <a:r>
              <a:rPr sz="2000" dirty="0"/>
              <a:t>ultiplexed streams</a:t>
            </a:r>
            <a:endParaRPr lang="en-US" sz="2000" dirty="0"/>
          </a:p>
          <a:p>
            <a:pPr lvl="1"/>
            <a:r>
              <a:rPr lang="en-US" sz="2000" dirty="0"/>
              <a:t>C</a:t>
            </a:r>
            <a:r>
              <a:rPr sz="2000" dirty="0"/>
              <a:t>oncurrent request/response pairs on one TCP</a:t>
            </a:r>
          </a:p>
          <a:p>
            <a:r>
              <a:rPr sz="2400" dirty="0"/>
              <a:t>HTTP/3 </a:t>
            </a:r>
            <a:r>
              <a:rPr lang="en-US" sz="2400" dirty="0"/>
              <a:t>&amp;</a:t>
            </a:r>
            <a:r>
              <a:rPr sz="2400" dirty="0"/>
              <a:t> QUIC</a:t>
            </a:r>
            <a:endParaRPr lang="en-US" sz="2400" dirty="0"/>
          </a:p>
          <a:p>
            <a:pPr lvl="1"/>
            <a:r>
              <a:rPr lang="en-US" sz="2000" dirty="0"/>
              <a:t>R</a:t>
            </a:r>
            <a:r>
              <a:rPr sz="2000" dirty="0"/>
              <a:t>eplaces TCP entirely </a:t>
            </a:r>
            <a:endParaRPr lang="en-US" sz="2000" dirty="0"/>
          </a:p>
          <a:p>
            <a:pPr lvl="1"/>
            <a:r>
              <a:rPr lang="en-US" sz="2000" dirty="0"/>
              <a:t>See </a:t>
            </a:r>
            <a:r>
              <a:rPr sz="2000" dirty="0"/>
              <a:t>Chapter 15</a:t>
            </a:r>
          </a:p>
        </p:txBody>
      </p:sp>
      <p:pic>
        <p:nvPicPr>
          <p:cNvPr id="4" name="Picture 3" descr="rtt-over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909" y="1476360"/>
            <a:ext cx="4539815" cy="435132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C1BA4-A1FF-6732-7AFE-39F9765E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Scheme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48225"/>
            <a:ext cx="10751545" cy="4351338"/>
          </a:xfrm>
        </p:spPr>
        <p:txBody>
          <a:bodyPr/>
          <a:lstStyle/>
          <a:p>
            <a:r>
              <a:rPr dirty="0"/>
              <a:t>URI: Uniform Resource Identifier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dirty="0"/>
              <a:t>ames any resource on the Internet</a:t>
            </a:r>
          </a:p>
          <a:p>
            <a:pPr lvl="1"/>
            <a:r>
              <a:rPr dirty="0"/>
              <a:t>Format: scheme + scheme-specific part</a:t>
            </a:r>
          </a:p>
          <a:p>
            <a:r>
              <a:rPr dirty="0"/>
              <a:t>URL: </a:t>
            </a:r>
            <a:r>
              <a:rPr lang="en-US" dirty="0"/>
              <a:t>Uniform Resource Locator</a:t>
            </a:r>
          </a:p>
          <a:p>
            <a:pPr lvl="1"/>
            <a:r>
              <a:rPr dirty="0"/>
              <a:t>URI that also locates the resource</a:t>
            </a:r>
          </a:p>
          <a:p>
            <a:pPr lvl="1"/>
            <a:r>
              <a:rPr sz="2300" dirty="0">
                <a:latin typeface="Lucida Sans" panose="020B0602030504020204" pitchFamily="34" charset="77"/>
              </a:rPr>
              <a:t>https://</a:t>
            </a:r>
            <a:r>
              <a:rPr sz="2300" dirty="0" err="1">
                <a:latin typeface="Lucida Sans" panose="020B0602030504020204" pitchFamily="34" charset="77"/>
              </a:rPr>
              <a:t>book.systemsapproach.org</a:t>
            </a:r>
            <a:r>
              <a:rPr sz="2300" dirty="0">
                <a:latin typeface="Lucida Sans" panose="020B0602030504020204" pitchFamily="34" charset="77"/>
              </a:rPr>
              <a:t>/</a:t>
            </a:r>
            <a:r>
              <a:rPr sz="2300" dirty="0" err="1">
                <a:latin typeface="Lucida Sans" panose="020B0602030504020204" pitchFamily="34" charset="77"/>
              </a:rPr>
              <a:t>index.html</a:t>
            </a:r>
            <a:r>
              <a:rPr lang="en-US" sz="2300" dirty="0">
                <a:latin typeface="Lucida Sans" panose="020B0602030504020204" pitchFamily="34" charset="77"/>
              </a:rPr>
              <a:t> </a:t>
            </a:r>
            <a:r>
              <a:rPr sz="2300" dirty="0">
                <a:latin typeface="Lucida Sans" panose="020B0602030504020204" pitchFamily="34" charset="77"/>
              </a:rPr>
              <a:t> </a:t>
            </a:r>
            <a:r>
              <a:rPr lang="en-US" dirty="0"/>
              <a:t>(</a:t>
            </a:r>
            <a:r>
              <a:rPr dirty="0"/>
              <a:t>the familiar form</a:t>
            </a:r>
            <a:r>
              <a:rPr lang="en-US" dirty="0"/>
              <a:t>)</a:t>
            </a:r>
            <a:endParaRPr dirty="0"/>
          </a:p>
          <a:p>
            <a:r>
              <a:rPr dirty="0"/>
              <a:t>URN: </a:t>
            </a:r>
            <a:r>
              <a:rPr lang="en-US" dirty="0"/>
              <a:t>Uniform Resource Name</a:t>
            </a:r>
          </a:p>
          <a:p>
            <a:pPr lvl="1"/>
            <a:r>
              <a:rPr dirty="0"/>
              <a:t>URI that gives a persistent name without implying a location</a:t>
            </a:r>
          </a:p>
          <a:p>
            <a:pPr lvl="1"/>
            <a:r>
              <a:rPr sz="2300" dirty="0">
                <a:latin typeface="Lucida Sans" panose="020B0602030504020204" pitchFamily="34" charset="77"/>
              </a:rPr>
              <a:t>doi:10.17487/RFC0791 </a:t>
            </a:r>
            <a:r>
              <a:rPr lang="en-US" dirty="0">
                <a:sym typeface="Wingdings" pitchFamily="2" charset="2"/>
              </a:rPr>
              <a:t>(</a:t>
            </a:r>
            <a:r>
              <a:rPr dirty="0"/>
              <a:t>identifies RFC 791 regardless of where it's hosted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A3A1A-2E1A-4E86-A5F3-0CAED44B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Caching</a:t>
            </a:r>
            <a:r>
              <a:rPr lang="en-US" dirty="0"/>
              <a:t> Infrastructure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8225"/>
            <a:ext cx="10515600" cy="470935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Two Benefits</a:t>
            </a:r>
          </a:p>
          <a:p>
            <a:pPr lvl="1"/>
            <a:r>
              <a:rPr lang="en-US" dirty="0"/>
              <a:t>R</a:t>
            </a:r>
            <a:r>
              <a:rPr dirty="0"/>
              <a:t>educes </a:t>
            </a:r>
            <a:r>
              <a:rPr lang="en-US" dirty="0"/>
              <a:t>response time</a:t>
            </a:r>
          </a:p>
          <a:p>
            <a:pPr lvl="1"/>
            <a:r>
              <a:rPr lang="en-US" dirty="0"/>
              <a:t>Reduces </a:t>
            </a:r>
            <a:r>
              <a:rPr dirty="0"/>
              <a:t>server load</a:t>
            </a:r>
          </a:p>
          <a:p>
            <a:r>
              <a:rPr dirty="0"/>
              <a:t>Where </a:t>
            </a:r>
            <a:r>
              <a:rPr lang="en-US" dirty="0"/>
              <a:t>do </a:t>
            </a:r>
            <a:r>
              <a:rPr dirty="0"/>
              <a:t>caches live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B</a:t>
            </a:r>
            <a:r>
              <a:rPr dirty="0"/>
              <a:t>rowser</a:t>
            </a:r>
            <a:endParaRPr lang="en-US" dirty="0"/>
          </a:p>
          <a:p>
            <a:pPr lvl="1"/>
            <a:r>
              <a:rPr lang="en-US" dirty="0"/>
              <a:t>S</a:t>
            </a:r>
            <a:r>
              <a:rPr dirty="0"/>
              <a:t>ite </a:t>
            </a:r>
            <a:r>
              <a:rPr lang="en-US" dirty="0"/>
              <a:t>P</a:t>
            </a:r>
            <a:r>
              <a:rPr dirty="0"/>
              <a:t>roxy</a:t>
            </a:r>
          </a:p>
          <a:p>
            <a:pPr lvl="1"/>
            <a:r>
              <a:rPr dirty="0"/>
              <a:t>CDNs</a:t>
            </a:r>
            <a:r>
              <a:rPr lang="en-US" dirty="0"/>
              <a:t>: O</a:t>
            </a:r>
            <a:r>
              <a:rPr dirty="0"/>
              <a:t>verlay network with caches </a:t>
            </a:r>
            <a:r>
              <a:rPr lang="en-US" dirty="0"/>
              <a:t>distributed globally</a:t>
            </a:r>
            <a:endParaRPr dirty="0"/>
          </a:p>
          <a:p>
            <a:r>
              <a:rPr dirty="0"/>
              <a:t>HTTP explicitly supports caching</a:t>
            </a:r>
          </a:p>
          <a:p>
            <a:pPr lvl="1"/>
            <a:r>
              <a:rPr dirty="0"/>
              <a:t>Expires </a:t>
            </a:r>
            <a:r>
              <a:rPr lang="en-US" dirty="0"/>
              <a:t>H</a:t>
            </a:r>
            <a:r>
              <a:rPr dirty="0"/>
              <a:t>eader: cache valid until this time</a:t>
            </a:r>
          </a:p>
          <a:p>
            <a:pPr lvl="1"/>
            <a:r>
              <a:rPr dirty="0"/>
              <a:t>Conditional GET: server returns page only if modified since last fetch</a:t>
            </a:r>
          </a:p>
          <a:p>
            <a:r>
              <a:rPr dirty="0"/>
              <a:t>302 Redirect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outes clients to nearest cache — </a:t>
            </a:r>
            <a:r>
              <a:rPr lang="en-US" dirty="0"/>
              <a:t>intrinsic part of a</a:t>
            </a:r>
            <a:r>
              <a:rPr dirty="0"/>
              <a:t> CDN </a:t>
            </a:r>
            <a:r>
              <a:rPr lang="en-US" dirty="0"/>
              <a:t>(Chapter 16)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0BB0AF-55DD-655E-50DA-890BC852E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RESTful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0089"/>
            <a:ext cx="10515600" cy="4632238"/>
          </a:xfrm>
        </p:spPr>
        <p:txBody>
          <a:bodyPr>
            <a:normAutofit/>
          </a:bodyPr>
          <a:lstStyle/>
          <a:p>
            <a:r>
              <a:rPr dirty="0" err="1"/>
              <a:t>R</a:t>
            </a:r>
            <a:r>
              <a:rPr lang="en-US" dirty="0" err="1"/>
              <a:t>e</a:t>
            </a:r>
            <a:r>
              <a:rPr dirty="0" err="1"/>
              <a:t>ST</a:t>
            </a:r>
            <a:r>
              <a:rPr dirty="0"/>
              <a:t>: </a:t>
            </a:r>
            <a:r>
              <a:rPr lang="en-US" dirty="0"/>
              <a:t>A</a:t>
            </a:r>
            <a:r>
              <a:rPr dirty="0"/>
              <a:t>rchitectural style underlying the Web</a:t>
            </a:r>
            <a:endParaRPr lang="en-US" dirty="0"/>
          </a:p>
          <a:p>
            <a:pPr lvl="1"/>
            <a:r>
              <a:rPr lang="en-US" dirty="0"/>
              <a:t>Representable State Transfer (Fielding, 2000)</a:t>
            </a:r>
            <a:endParaRPr dirty="0"/>
          </a:p>
          <a:p>
            <a:r>
              <a:rPr dirty="0"/>
              <a:t>Everything is a resource, identified by a URI</a:t>
            </a:r>
          </a:p>
          <a:p>
            <a:r>
              <a:rPr dirty="0"/>
              <a:t>HTTP methods </a:t>
            </a:r>
            <a:r>
              <a:rPr lang="en-US" dirty="0"/>
              <a:t>parallel Object Oriented Programming</a:t>
            </a:r>
          </a:p>
          <a:p>
            <a:pPr lvl="1"/>
            <a:r>
              <a:rPr dirty="0"/>
              <a:t>CRUD: </a:t>
            </a:r>
            <a:r>
              <a:rPr lang="en-US" dirty="0"/>
              <a:t>Create, Read, Update, Delete</a:t>
            </a:r>
          </a:p>
          <a:p>
            <a:pPr lvl="1"/>
            <a:r>
              <a:rPr lang="en-US" dirty="0"/>
              <a:t>HTTP: </a:t>
            </a:r>
            <a:r>
              <a:rPr dirty="0"/>
              <a:t>POST</a:t>
            </a:r>
            <a:r>
              <a:rPr lang="en-US" dirty="0"/>
              <a:t>, GET,</a:t>
            </a:r>
            <a:r>
              <a:rPr dirty="0"/>
              <a:t> PUT</a:t>
            </a:r>
            <a:r>
              <a:rPr lang="en-US" dirty="0"/>
              <a:t>,</a:t>
            </a:r>
            <a:r>
              <a:rPr dirty="0"/>
              <a:t> DELETE</a:t>
            </a:r>
          </a:p>
          <a:p>
            <a:r>
              <a:rPr dirty="0"/>
              <a:t>Payload carries state representation</a:t>
            </a:r>
            <a:endParaRPr lang="en-US" dirty="0"/>
          </a:p>
          <a:p>
            <a:pPr lvl="1"/>
            <a:r>
              <a:rPr lang="en-US" dirty="0"/>
              <a:t>e.g., </a:t>
            </a:r>
            <a:r>
              <a:rPr dirty="0"/>
              <a:t>JSON</a:t>
            </a:r>
            <a:r>
              <a:rPr lang="en-US" dirty="0"/>
              <a:t>, </a:t>
            </a:r>
            <a:r>
              <a:rPr dirty="0"/>
              <a:t>XML</a:t>
            </a:r>
          </a:p>
          <a:p>
            <a:r>
              <a:rPr dirty="0"/>
              <a:t>Reuses web infrastructure</a:t>
            </a:r>
            <a:endParaRPr lang="en-US" dirty="0"/>
          </a:p>
          <a:p>
            <a:pPr lvl="1"/>
            <a:r>
              <a:rPr lang="en-US" dirty="0"/>
              <a:t>P</a:t>
            </a:r>
            <a:r>
              <a:rPr dirty="0"/>
              <a:t>roxies, CDNs, </a:t>
            </a:r>
            <a:r>
              <a:rPr lang="en-US" dirty="0"/>
              <a:t>and C</a:t>
            </a:r>
            <a:r>
              <a:rPr dirty="0"/>
              <a:t>aches work automatically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791E5B-EEDF-DE51-EE93-430760129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7A3FA-978E-2C1B-D818-5B0C82E28D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Electronic Mail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B3B289-2503-F857-5746-9E149397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  <p:extLst>
      <p:ext uri="{BB962C8B-B14F-4D97-AF65-F5344CB8AC3E}">
        <p14:creationId xmlns:p14="http://schemas.microsoft.com/office/powerpoint/2010/main" val="4066642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615968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Email</a:t>
            </a:r>
            <a:endParaRPr lang="en-US" dirty="0"/>
          </a:p>
          <a:p>
            <a:pPr lvl="1"/>
            <a:r>
              <a:rPr dirty="0"/>
              <a:t>Internet's original killer app</a:t>
            </a:r>
            <a:endParaRPr lang="en-US" dirty="0"/>
          </a:p>
          <a:p>
            <a:pPr lvl="1"/>
            <a:r>
              <a:rPr lang="en-US" dirty="0"/>
              <a:t>Example of</a:t>
            </a:r>
            <a:r>
              <a:rPr dirty="0"/>
              <a:t> pre-web design</a:t>
            </a:r>
          </a:p>
          <a:p>
            <a:r>
              <a:rPr lang="en-US" dirty="0"/>
              <a:t>M</a:t>
            </a:r>
            <a:r>
              <a:rPr dirty="0"/>
              <a:t>ailbox</a:t>
            </a:r>
            <a:r>
              <a:rPr lang="en-US" dirty="0"/>
              <a:t> Abstraction</a:t>
            </a:r>
          </a:p>
          <a:p>
            <a:pPr lvl="1"/>
            <a:r>
              <a:rPr lang="en-US" dirty="0"/>
              <a:t>R</a:t>
            </a:r>
            <a:r>
              <a:rPr dirty="0"/>
              <a:t>endezvous point for messages</a:t>
            </a:r>
          </a:p>
          <a:p>
            <a:r>
              <a:rPr dirty="0"/>
              <a:t>SMTP</a:t>
            </a:r>
            <a:endParaRPr lang="en-US" dirty="0"/>
          </a:p>
          <a:p>
            <a:pPr lvl="1"/>
            <a:r>
              <a:rPr lang="en-US" dirty="0"/>
              <a:t>S</a:t>
            </a:r>
            <a:r>
              <a:rPr dirty="0"/>
              <a:t>end mail to a mailbox</a:t>
            </a:r>
            <a:endParaRPr lang="en-US" dirty="0"/>
          </a:p>
          <a:p>
            <a:pPr lvl="1"/>
            <a:r>
              <a:rPr lang="en-US" dirty="0"/>
              <a:t>S</a:t>
            </a:r>
            <a:r>
              <a:rPr dirty="0"/>
              <a:t>tore-and-forward</a:t>
            </a:r>
            <a:r>
              <a:rPr lang="en-US" dirty="0"/>
              <a:t> via </a:t>
            </a:r>
            <a:r>
              <a:rPr dirty="0"/>
              <a:t>MTA</a:t>
            </a:r>
            <a:r>
              <a:rPr lang="en-US" dirty="0"/>
              <a:t>s</a:t>
            </a:r>
            <a:endParaRPr dirty="0"/>
          </a:p>
          <a:p>
            <a:r>
              <a:rPr dirty="0"/>
              <a:t>IMAP / POP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etrieve mail from a mailbox</a:t>
            </a:r>
          </a:p>
          <a:p>
            <a:r>
              <a:rPr dirty="0"/>
              <a:t>Modern </a:t>
            </a:r>
            <a:r>
              <a:rPr lang="en-US" dirty="0"/>
              <a:t>W</a:t>
            </a:r>
            <a:r>
              <a:rPr dirty="0"/>
              <a:t>eb </a:t>
            </a:r>
            <a:r>
              <a:rPr lang="en-US" dirty="0"/>
              <a:t>M</a:t>
            </a:r>
            <a:r>
              <a:rPr dirty="0"/>
              <a:t>ail (e.g., Gmail)</a:t>
            </a:r>
            <a:endParaRPr lang="en-US" dirty="0"/>
          </a:p>
          <a:p>
            <a:pPr lvl="1"/>
            <a:r>
              <a:rPr dirty="0"/>
              <a:t> HTTPS/</a:t>
            </a:r>
            <a:r>
              <a:rPr dirty="0" err="1"/>
              <a:t>R</a:t>
            </a:r>
            <a:r>
              <a:rPr lang="en-US" dirty="0" err="1"/>
              <a:t>e</a:t>
            </a:r>
            <a:r>
              <a:rPr dirty="0" err="1"/>
              <a:t>ST</a:t>
            </a:r>
            <a:r>
              <a:rPr dirty="0"/>
              <a:t> replaces IMAP</a:t>
            </a:r>
          </a:p>
        </p:txBody>
      </p:sp>
      <p:pic>
        <p:nvPicPr>
          <p:cNvPr id="4" name="Picture 3" descr="sm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889" y="2181340"/>
            <a:ext cx="6392003" cy="247301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C68C8-EE6E-FC47-B1FB-BEDCC8F1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Message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RFC 822 / 5322</a:t>
            </a:r>
            <a:endParaRPr lang="en-US" dirty="0"/>
          </a:p>
          <a:p>
            <a:pPr lvl="1"/>
            <a:r>
              <a:rPr lang="en-US" dirty="0"/>
              <a:t>Header + Body (b</a:t>
            </a:r>
            <a:r>
              <a:rPr dirty="0"/>
              <a:t>oth </a:t>
            </a:r>
            <a:r>
              <a:rPr lang="en-US" dirty="0"/>
              <a:t>as</a:t>
            </a:r>
            <a:r>
              <a:rPr dirty="0"/>
              <a:t> ASCII text</a:t>
            </a:r>
            <a:r>
              <a:rPr lang="en-US" dirty="0"/>
              <a:t>)</a:t>
            </a:r>
            <a:endParaRPr dirty="0"/>
          </a:p>
          <a:p>
            <a:pPr lvl="1"/>
            <a:r>
              <a:rPr dirty="0"/>
              <a:t>Headers: To, From, Subject, Date, Received</a:t>
            </a:r>
          </a:p>
          <a:p>
            <a:r>
              <a:rPr dirty="0"/>
              <a:t>MIME (1992)</a:t>
            </a:r>
            <a:endParaRPr lang="en-US" dirty="0"/>
          </a:p>
          <a:p>
            <a:pPr lvl="1"/>
            <a:r>
              <a:rPr lang="en-US" dirty="0"/>
              <a:t>E</a:t>
            </a:r>
            <a:r>
              <a:rPr dirty="0"/>
              <a:t>xtends email to carry binary content</a:t>
            </a:r>
          </a:p>
          <a:p>
            <a:pPr lvl="1"/>
            <a:r>
              <a:rPr dirty="0"/>
              <a:t>Content-Type declares the data type</a:t>
            </a:r>
            <a:endParaRPr lang="en-US" dirty="0"/>
          </a:p>
          <a:p>
            <a:pPr lvl="2"/>
            <a:r>
              <a:rPr lang="en-US" dirty="0"/>
              <a:t>e.g., </a:t>
            </a:r>
            <a:r>
              <a:rPr dirty="0"/>
              <a:t>image/jpeg, audio/mp3, multipart/mixed</a:t>
            </a:r>
          </a:p>
          <a:p>
            <a:pPr lvl="1"/>
            <a:r>
              <a:rPr lang="en-US" dirty="0"/>
              <a:t>B</a:t>
            </a:r>
            <a:r>
              <a:rPr dirty="0"/>
              <a:t>ase64 maps binary to ASCII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11885-A0CF-D1C9-5325-78DB61269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Message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3679534"/>
          </a:xfrm>
        </p:spPr>
        <p:txBody>
          <a:bodyPr>
            <a:normAutofit lnSpcReduction="10000"/>
          </a:bodyPr>
          <a:lstStyle/>
          <a:p>
            <a:r>
              <a:rPr dirty="0"/>
              <a:t>MTA (Message Transfer Agent)</a:t>
            </a:r>
            <a:endParaRPr lang="en-US" dirty="0"/>
          </a:p>
          <a:p>
            <a:pPr lvl="1"/>
            <a:r>
              <a:rPr lang="en-US" dirty="0"/>
              <a:t>B</a:t>
            </a:r>
            <a:r>
              <a:rPr dirty="0"/>
              <a:t>oth client and server sides</a:t>
            </a:r>
          </a:p>
          <a:p>
            <a:r>
              <a:rPr dirty="0"/>
              <a:t>Store-and-forward</a:t>
            </a:r>
            <a:endParaRPr lang="en-US" dirty="0"/>
          </a:p>
          <a:p>
            <a:pPr lvl="1"/>
            <a:r>
              <a:rPr lang="en-US" dirty="0"/>
              <a:t>E</a:t>
            </a:r>
            <a:r>
              <a:rPr dirty="0"/>
              <a:t>ach MTA buffers to disk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etries for days if needed</a:t>
            </a:r>
            <a:endParaRPr lang="en-US" dirty="0"/>
          </a:p>
          <a:p>
            <a:pPr lvl="1"/>
            <a:r>
              <a:rPr lang="en-US" dirty="0"/>
              <a:t>Hides organization internals</a:t>
            </a:r>
            <a:endParaRPr dirty="0"/>
          </a:p>
          <a:p>
            <a:r>
              <a:rPr lang="en-US" dirty="0"/>
              <a:t>SMTP defines the Protocol</a:t>
            </a:r>
          </a:p>
          <a:p>
            <a:pPr lvl="1"/>
            <a:r>
              <a:rPr dirty="0"/>
              <a:t>ASCII command/response dialog</a:t>
            </a:r>
            <a:endParaRPr lang="en-US" dirty="0"/>
          </a:p>
          <a:p>
            <a:pPr lvl="1"/>
            <a:r>
              <a:rPr lang="en-US" dirty="0"/>
              <a:t>Influenced HTTP’s design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172200" y="1476360"/>
            <a:ext cx="5181480" cy="4351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Lucida Console"/>
              </a:rPr>
              <a:t>HELO cs.princeton.edu</a:t>
            </a:r>
          </a:p>
          <a:p>
            <a:r>
              <a:rPr sz="1600">
                <a:latin typeface="Lucida Console"/>
              </a:rPr>
              <a:t>250 Hello daemon@mail.princeton.edu</a:t>
            </a:r>
          </a:p>
          <a:p>
            <a:r>
              <a:rPr sz="1600">
                <a:latin typeface="Lucida Console"/>
              </a:rPr>
              <a:t>MAIL FROM:&lt;bob@princeton.edu&gt;</a:t>
            </a:r>
          </a:p>
          <a:p>
            <a:r>
              <a:rPr sz="1600">
                <a:latin typeface="Lucida Console"/>
              </a:rPr>
              <a:t>250 OK</a:t>
            </a:r>
          </a:p>
          <a:p>
            <a:r>
              <a:rPr sz="1600">
                <a:latin typeface="Lucida Console"/>
              </a:rPr>
              <a:t>RCPT TO:&lt;alice@systemsapproach.org&gt;</a:t>
            </a:r>
          </a:p>
          <a:p>
            <a:r>
              <a:rPr sz="1600">
                <a:latin typeface="Lucida Console"/>
              </a:rPr>
              <a:t>250 OK</a:t>
            </a:r>
          </a:p>
          <a:p>
            <a:r>
              <a:rPr sz="1600">
                <a:latin typeface="Lucida Console"/>
              </a:rPr>
              <a:t>DATA</a:t>
            </a:r>
          </a:p>
          <a:p>
            <a:r>
              <a:rPr sz="1600">
                <a:latin typeface="Lucida Console"/>
              </a:rPr>
              <a:t>354 Start mail input; end with &lt;CRLF&gt;.&lt;CRLF&gt;</a:t>
            </a:r>
          </a:p>
          <a:p>
            <a:r>
              <a:rPr sz="1600">
                <a:latin typeface="Lucida Console"/>
              </a:rPr>
              <a:t>...message body...</a:t>
            </a:r>
          </a:p>
          <a:p>
            <a:r>
              <a:rPr sz="1600">
                <a:latin typeface="Lucida Console"/>
              </a:rPr>
              <a:t>.</a:t>
            </a:r>
          </a:p>
          <a:p>
            <a:r>
              <a:rPr sz="1600">
                <a:latin typeface="Lucida Console"/>
              </a:rPr>
              <a:t>250 OK</a:t>
            </a:r>
          </a:p>
          <a:p>
            <a:r>
              <a:rPr sz="1600">
                <a:latin typeface="Lucida Console"/>
              </a:rPr>
              <a:t>QUIT</a:t>
            </a:r>
          </a:p>
          <a:p>
            <a:r>
              <a:rPr sz="1600">
                <a:latin typeface="Lucida Console"/>
              </a:rPr>
              <a:t>221 Closing connection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226F3-446E-4A79-8A38-209BD3545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0928-D2E8-0C1C-E0CF-52C06E29B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Adaptive Streaming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B563F-32C2-B11D-27C3-210E04C43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  <p:extLst>
      <p:ext uri="{BB962C8B-B14F-4D97-AF65-F5344CB8AC3E}">
        <p14:creationId xmlns:p14="http://schemas.microsoft.com/office/powerpoint/2010/main" val="23912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9" y="1300088"/>
            <a:ext cx="9793198" cy="3397649"/>
          </a:xfrm>
        </p:spPr>
        <p:txBody>
          <a:bodyPr>
            <a:normAutofit fontScale="92500"/>
          </a:bodyPr>
          <a:lstStyle/>
          <a:p>
            <a:r>
              <a:rPr dirty="0"/>
              <a:t>Video</a:t>
            </a:r>
            <a:r>
              <a:rPr lang="en-US" dirty="0"/>
              <a:t> </a:t>
            </a:r>
            <a:r>
              <a:rPr dirty="0"/>
              <a:t>must adapt to variable network capacity</a:t>
            </a:r>
          </a:p>
          <a:p>
            <a:r>
              <a:rPr dirty="0"/>
              <a:t>DASH</a:t>
            </a:r>
            <a:r>
              <a:rPr lang="en-US" dirty="0"/>
              <a:t> (Dynamic Adaptable Streaming over HTTP)</a:t>
            </a:r>
          </a:p>
          <a:p>
            <a:pPr lvl="1"/>
            <a:r>
              <a:rPr lang="en-US" dirty="0"/>
              <a:t>S</a:t>
            </a:r>
            <a:r>
              <a:rPr dirty="0"/>
              <a:t>tore video as N quality levels × M time segments</a:t>
            </a:r>
          </a:p>
          <a:p>
            <a:pPr lvl="1"/>
            <a:r>
              <a:rPr dirty="0"/>
              <a:t>Client downloads MPD manifest</a:t>
            </a:r>
            <a:endParaRPr lang="en-US" dirty="0"/>
          </a:p>
          <a:p>
            <a:pPr lvl="1"/>
            <a:r>
              <a:rPr lang="en-US" dirty="0"/>
              <a:t>Issue HTTP </a:t>
            </a:r>
            <a:r>
              <a:rPr dirty="0"/>
              <a:t>GET</a:t>
            </a:r>
            <a:r>
              <a:rPr lang="en-US" dirty="0"/>
              <a:t> requests for one</a:t>
            </a:r>
            <a:r>
              <a:rPr dirty="0"/>
              <a:t> segment one at a time</a:t>
            </a:r>
          </a:p>
          <a:p>
            <a:r>
              <a:rPr dirty="0"/>
              <a:t>Each segment is an opportunity to request a different quality level</a:t>
            </a:r>
          </a:p>
          <a:p>
            <a:pPr lvl="1"/>
            <a:r>
              <a:rPr dirty="0"/>
              <a:t>Buffer draining → request lower quality</a:t>
            </a:r>
            <a:endParaRPr lang="en-US" dirty="0"/>
          </a:p>
          <a:p>
            <a:pPr lvl="1"/>
            <a:r>
              <a:rPr lang="en-US" dirty="0"/>
              <a:t>B</a:t>
            </a:r>
            <a:r>
              <a:rPr dirty="0"/>
              <a:t>uffer filling → try higher</a:t>
            </a:r>
            <a:r>
              <a:rPr lang="en-US" dirty="0"/>
              <a:t> quality</a:t>
            </a:r>
            <a:endParaRPr dirty="0"/>
          </a:p>
        </p:txBody>
      </p:sp>
      <p:pic>
        <p:nvPicPr>
          <p:cNvPr id="4" name="Picture 3" descr="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159" y="4583018"/>
            <a:ext cx="7779682" cy="143188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D699-E577-5B1F-18B2-709570B5E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Rate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4227"/>
            <a:ext cx="10515600" cy="4649118"/>
          </a:xfrm>
        </p:spPr>
        <p:txBody>
          <a:bodyPr>
            <a:normAutofit/>
          </a:bodyPr>
          <a:lstStyle/>
          <a:p>
            <a:r>
              <a:rPr lang="en-US" dirty="0"/>
              <a:t>Goal: match video bitrate to available bandwidth</a:t>
            </a:r>
          </a:p>
          <a:p>
            <a:r>
              <a:rPr lang="en-US" dirty="0"/>
              <a:t>Two mechanisms working in tandem</a:t>
            </a:r>
          </a:p>
          <a:p>
            <a:pPr lvl="1"/>
            <a:r>
              <a:rPr dirty="0"/>
              <a:t>TCP's congestion control adjusts sending rate</a:t>
            </a:r>
            <a:endParaRPr lang="en-US" dirty="0"/>
          </a:p>
          <a:p>
            <a:pPr lvl="1"/>
            <a:r>
              <a:rPr dirty="0"/>
              <a:t>DASH </a:t>
            </a:r>
            <a:r>
              <a:rPr lang="en-US" dirty="0"/>
              <a:t>adapting volume of traffic being sent</a:t>
            </a:r>
            <a:endParaRPr dirty="0"/>
          </a:p>
          <a:p>
            <a:r>
              <a:rPr dirty="0"/>
              <a:t>Key </a:t>
            </a:r>
            <a:r>
              <a:rPr lang="en-US" dirty="0"/>
              <a:t>T</a:t>
            </a:r>
            <a:r>
              <a:rPr dirty="0"/>
              <a:t>radeoffs</a:t>
            </a:r>
          </a:p>
          <a:p>
            <a:pPr lvl="1"/>
            <a:r>
              <a:rPr dirty="0"/>
              <a:t>Stability: frequent quality switches more annoying than a steady lower quality</a:t>
            </a:r>
          </a:p>
          <a:p>
            <a:pPr lvl="1"/>
            <a:r>
              <a:rPr dirty="0"/>
              <a:t>Responsiveness: slow reaction wastes bandwidth or causes stalls</a:t>
            </a:r>
          </a:p>
          <a:p>
            <a:r>
              <a:rPr dirty="0"/>
              <a:t>Real-time video</a:t>
            </a:r>
            <a:r>
              <a:rPr lang="en-US" dirty="0"/>
              <a:t> </a:t>
            </a:r>
            <a:r>
              <a:rPr dirty="0"/>
              <a:t>conferencing cannot use buffered streaming</a:t>
            </a:r>
          </a:p>
          <a:p>
            <a:pPr lvl="1"/>
            <a:r>
              <a:rPr dirty="0"/>
              <a:t>Needs &lt; 300ms end-to-end latency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equires a different approach (Chapter 17)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4D62D-2732-6E6D-BA6A-7DA8E459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1558</Words>
  <Application>Microsoft Macintosh PowerPoint</Application>
  <PresentationFormat>Widescreen</PresentationFormat>
  <Paragraphs>244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Calibri</vt:lpstr>
      <vt:lpstr>Lucida Console</vt:lpstr>
      <vt:lpstr>Lucida Sans</vt:lpstr>
      <vt:lpstr>System Font Regular</vt:lpstr>
      <vt:lpstr>Wingdings</vt:lpstr>
      <vt:lpstr>Office Theme</vt:lpstr>
      <vt:lpstr>Chapter 2: Network Applications</vt:lpstr>
      <vt:lpstr>Overview</vt:lpstr>
      <vt:lpstr>Client-Server Computing</vt:lpstr>
      <vt:lpstr>Socket API</vt:lpstr>
      <vt:lpstr>Scalable Services</vt:lpstr>
      <vt:lpstr>Scalable Services: Datacenter</vt:lpstr>
      <vt:lpstr>Distributed Services</vt:lpstr>
      <vt:lpstr>Distributed Computation</vt:lpstr>
      <vt:lpstr>Synchronization and Work Queues</vt:lpstr>
      <vt:lpstr>HTTP: From App to Framework</vt:lpstr>
      <vt:lpstr>Overview</vt:lpstr>
      <vt:lpstr>Request/Response Protocol</vt:lpstr>
      <vt:lpstr>Connection Overhead</vt:lpstr>
      <vt:lpstr>Naming Scheme</vt:lpstr>
      <vt:lpstr>Caching Infrastructure</vt:lpstr>
      <vt:lpstr>RESTful API</vt:lpstr>
      <vt:lpstr>Electronic Mail</vt:lpstr>
      <vt:lpstr>Overview</vt:lpstr>
      <vt:lpstr>Message Format</vt:lpstr>
      <vt:lpstr>Message Transfer</vt:lpstr>
      <vt:lpstr>Adaptive Streaming</vt:lpstr>
      <vt:lpstr>Overview</vt:lpstr>
      <vt:lpstr>Rate Adaptation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Larry Peterson</dc:creator>
  <cp:lastModifiedBy>Larry Peterson</cp:lastModifiedBy>
  <cp:revision>15</cp:revision>
  <dcterms:created xsi:type="dcterms:W3CDTF">2026-08-04T17:34:08Z</dcterms:created>
  <dcterms:modified xsi:type="dcterms:W3CDTF">2026-09-16T20:44:55Z</dcterms:modified>
</cp:coreProperties>
</file>