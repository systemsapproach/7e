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131"/>
    <a:srgbClr val="E9E0C5"/>
    <a:srgbClr val="2F55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8"/>
  </p:normalViewPr>
  <p:slideViewPr>
    <p:cSldViewPr snapToGrid="0">
      <p:cViewPr varScale="1">
        <p:scale>
          <a:sx n="115" d="100"/>
          <a:sy n="115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5E7130F-F05B-B150-3729-9E271DF171FA}"/>
              </a:ext>
            </a:extLst>
          </p:cNvPr>
          <p:cNvSpPr/>
          <p:nvPr userDrawn="1"/>
        </p:nvSpPr>
        <p:spPr>
          <a:xfrm>
            <a:off x="0" y="2723115"/>
            <a:ext cx="12192000" cy="4175981"/>
          </a:xfrm>
          <a:prstGeom prst="rect">
            <a:avLst/>
          </a:prstGeom>
          <a:solidFill>
            <a:srgbClr val="33313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315538"/>
            <a:ext cx="12192000" cy="4622137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167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209C7-F1CD-D1FA-BA76-113A478A96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35621"/>
            <a:ext cx="9144000" cy="836398"/>
          </a:xfr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DA490C-3727-1BB3-41EC-8E8B0CB167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55810" y="3139629"/>
            <a:ext cx="3280381" cy="1551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07BDD6A-1823-8EBE-4339-8BE6A00F709B}"/>
              </a:ext>
            </a:extLst>
          </p:cNvPr>
          <p:cNvSpPr/>
          <p:nvPr userDrawn="1"/>
        </p:nvSpPr>
        <p:spPr>
          <a:xfrm>
            <a:off x="0" y="1600201"/>
            <a:ext cx="12192000" cy="2412586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6FEA07-9D5A-E087-CD0F-85CD617F7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25187"/>
            <a:ext cx="9144000" cy="2387600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18ECE-1E6D-F8F2-58B1-71D7BE74C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2AB94-E371-30E1-1464-0D57E5C45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C57B5-7F35-E930-6BE6-D18551982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1D39B3-5E5D-0F11-FC35-6F2C9B63E066}"/>
              </a:ext>
            </a:extLst>
          </p:cNvPr>
          <p:cNvSpPr/>
          <p:nvPr userDrawn="1"/>
        </p:nvSpPr>
        <p:spPr>
          <a:xfrm>
            <a:off x="0" y="-1813"/>
            <a:ext cx="12192000" cy="1400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0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4224-9B42-A3A3-FD4B-7DCB37A5F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AA945-E77C-96EC-A764-294BBBDF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AD0B7-B808-1B7F-CEF5-3629CD750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5568F-D032-2C7B-B173-457682AC3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F4C81A-A9BC-68BA-10CE-C19115630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01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F158-323C-D3C4-5EDF-AEB556D38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1458E-494E-6576-E590-8D027645C9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EEC45-80B7-E5F2-1EE8-4F13C3A49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76306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FB021E-F3AB-3183-A464-2E0E7E6D4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BF0C7-58BA-2DE2-32B3-6B84F0FD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A454F-821E-AC99-31C4-2DF525F5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690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9E204-57F3-A972-D2AB-B8EB443E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128D8-E1CA-2D26-E644-D8B87B9C9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15439-64B1-CE4E-8D65-9A05746CEBE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DE7C9D-573E-CCAB-347D-345D212F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19D84-0242-52EC-3A47-A0A3D5B6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9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A92FF-B703-4780-1EBB-1AE0E3CF7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CB9E3-427E-4369-98EC-BD677B2D5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15439-64B1-CE4E-8D65-9A05746CEBE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7B86C-AB67-018D-C428-7A1EC0C20E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F652-BA41-5373-A931-0B0D06827F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597B6-99AE-8F4E-8AC4-338DBFD9B0E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BF1A77-8AB3-41F4-86D3-BFA6FEEDF61A}"/>
              </a:ext>
            </a:extLst>
          </p:cNvPr>
          <p:cNvSpPr/>
          <p:nvPr userDrawn="1"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F559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70494-B9BA-F0AA-4595-820C4E478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809"/>
            <a:ext cx="10515600" cy="8985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953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2" r:id="rId4"/>
    <p:sldLayoutId id="2147483654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9E0C5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20000"/>
        <a:buFont typeface="System Font Regular"/>
        <a:buChar char="-"/>
        <a:defRPr sz="24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6: Federating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Computer Networks: A Systems Approach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None/>
            </a:pPr>
            <a:r>
              <a:rPr lang="en-US" i="1" dirty="0"/>
              <a:t>It’s not practical to mandate a single network technology, so providing universal connectivity implies we need to f</a:t>
            </a:r>
            <a:r>
              <a:rPr i="1" dirty="0"/>
              <a:t>ederat</a:t>
            </a:r>
            <a:r>
              <a:rPr lang="en-US" i="1" dirty="0"/>
              <a:t>e</a:t>
            </a:r>
            <a:r>
              <a:rPr i="1" dirty="0"/>
              <a:t> independently</a:t>
            </a:r>
            <a:r>
              <a:rPr lang="en-US" i="1" dirty="0"/>
              <a:t> owned an operated</a:t>
            </a:r>
            <a:r>
              <a:rPr i="1" dirty="0"/>
              <a:t> networks.</a:t>
            </a:r>
            <a:r>
              <a:rPr lang="en-US" i="1" dirty="0"/>
              <a:t> </a:t>
            </a:r>
            <a:r>
              <a:rPr i="1" dirty="0"/>
              <a:t>This chapter looks at the two big challenges of federation: accommodating </a:t>
            </a:r>
            <a:r>
              <a:rPr lang="en-US" i="1" dirty="0"/>
              <a:t>heterogeneity</a:t>
            </a:r>
            <a:r>
              <a:rPr i="1" dirty="0"/>
              <a:t>, and scaling </a:t>
            </a:r>
            <a:r>
              <a:rPr lang="en-US" i="1" dirty="0"/>
              <a:t>to support thousands of autonomous networks.</a:t>
            </a:r>
            <a:endParaRPr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Internetwork</a:t>
            </a:r>
            <a:r>
              <a:rPr lang="en-US" dirty="0"/>
              <a:t> as a Logical Overlay</a:t>
            </a:r>
            <a:endParaRPr dirty="0"/>
          </a:p>
        </p:txBody>
      </p:sp>
      <p:pic>
        <p:nvPicPr>
          <p:cNvPr id="4" name="Picture 3" descr="i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12" y="914402"/>
            <a:ext cx="7515812" cy="3167844"/>
          </a:xfrm>
          <a:prstGeom prst="rect">
            <a:avLst/>
          </a:prstGeom>
        </p:spPr>
      </p:pic>
      <p:pic>
        <p:nvPicPr>
          <p:cNvPr id="7" name="Picture 6" descr="ip-graph.png">
            <a:extLst>
              <a:ext uri="{FF2B5EF4-FFF2-40B4-BE49-F238E27FC236}">
                <a16:creationId xmlns:a16="http://schemas.microsoft.com/office/drawing/2014/main" id="{ACED1764-B943-5751-72CD-742AC78E2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4267" y="3976878"/>
            <a:ext cx="5974017" cy="24908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BF071C-DFAC-8D2A-42FB-74ACA993A04F}"/>
              </a:ext>
            </a:extLst>
          </p:cNvPr>
          <p:cNvSpPr txBox="1"/>
          <p:nvPr/>
        </p:nvSpPr>
        <p:spPr>
          <a:xfrm>
            <a:off x="285612" y="4148259"/>
            <a:ext cx="353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Networks Connected by Routers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EBDC28-2FAA-C215-D2B1-175D87B917C1}"/>
              </a:ext>
            </a:extLst>
          </p:cNvPr>
          <p:cNvSpPr txBox="1"/>
          <p:nvPr/>
        </p:nvSpPr>
        <p:spPr>
          <a:xfrm>
            <a:off x="7801424" y="3630381"/>
            <a:ext cx="35522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IP implements router data plane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Continue operating despite loss of networks or routers</a:t>
            </a:r>
          </a:p>
          <a:p>
            <a:r>
              <a:rPr dirty="0"/>
              <a:t>Support multiple </a:t>
            </a:r>
            <a:r>
              <a:rPr lang="en-US" dirty="0"/>
              <a:t>end-to-end </a:t>
            </a:r>
            <a:r>
              <a:rPr dirty="0"/>
              <a:t>communication service</a:t>
            </a:r>
            <a:r>
              <a:rPr lang="en-US" dirty="0"/>
              <a:t>s</a:t>
            </a:r>
            <a:endParaRPr dirty="0"/>
          </a:p>
          <a:p>
            <a:r>
              <a:rPr dirty="0"/>
              <a:t>Accommodate a variety of network</a:t>
            </a:r>
            <a:r>
              <a:rPr lang="en-US" dirty="0"/>
              <a:t> technologies</a:t>
            </a:r>
            <a:endParaRPr dirty="0"/>
          </a:p>
          <a:p>
            <a:r>
              <a:rPr lang="en-US" dirty="0"/>
              <a:t>Accommodate autonomous management of network resources</a:t>
            </a:r>
          </a:p>
          <a:p>
            <a:r>
              <a:rPr lang="en-US" dirty="0"/>
              <a:t>Make</a:t>
            </a:r>
            <a:r>
              <a:rPr dirty="0"/>
              <a:t> host attachment</a:t>
            </a:r>
            <a:r>
              <a:rPr lang="en-US" dirty="0"/>
              <a:t> easy</a:t>
            </a:r>
            <a:endParaRPr dirty="0"/>
          </a:p>
          <a:p>
            <a:r>
              <a:rPr dirty="0"/>
              <a:t>Resources should be accountable</a:t>
            </a:r>
          </a:p>
          <a:p>
            <a:pPr lvl="1"/>
            <a:r>
              <a:rPr dirty="0"/>
              <a:t>Notably, still not achieved today</a:t>
            </a:r>
          </a:p>
          <a:p>
            <a:r>
              <a:rPr dirty="0"/>
              <a:t>Scale was</a:t>
            </a:r>
            <a:r>
              <a:rPr lang="en-US" dirty="0"/>
              <a:t> not</a:t>
            </a:r>
            <a:r>
              <a:rPr dirty="0"/>
              <a:t> on the original </a:t>
            </a:r>
            <a:r>
              <a:rPr lang="en-US" dirty="0"/>
              <a:t>list of </a:t>
            </a:r>
            <a:r>
              <a:rPr dirty="0"/>
              <a:t>design goal</a:t>
            </a:r>
            <a:r>
              <a:rPr lang="en-US" dirty="0"/>
              <a:t>s</a:t>
            </a:r>
          </a:p>
          <a:p>
            <a:pPr lvl="1"/>
            <a:r>
              <a:rPr lang="en-US" dirty="0"/>
              <a:t>Became a dominant requirement over time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Heterogeneity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Need a service model that works over any network technology</a:t>
            </a:r>
            <a:endParaRPr lang="en-US" dirty="0"/>
          </a:p>
          <a:p>
            <a:pPr lvl="1"/>
            <a:r>
              <a:rPr lang="en-US" dirty="0"/>
              <a:t>Runs over anything (including, famously, carrier pigeons – RFC 1149)</a:t>
            </a:r>
            <a:endParaRPr dirty="0"/>
          </a:p>
          <a:p>
            <a:r>
              <a:rPr dirty="0"/>
              <a:t>IP</a:t>
            </a:r>
            <a:r>
              <a:rPr lang="en-US" dirty="0"/>
              <a:t> adopts a “Best Effort” service </a:t>
            </a:r>
            <a:r>
              <a:rPr dirty="0"/>
              <a:t>model</a:t>
            </a:r>
            <a:endParaRPr lang="en-US" dirty="0"/>
          </a:p>
          <a:p>
            <a:pPr lvl="1"/>
            <a:r>
              <a:rPr lang="en-US" dirty="0"/>
              <a:t>Defines a global/universal </a:t>
            </a:r>
            <a:r>
              <a:rPr dirty="0"/>
              <a:t>address</a:t>
            </a:r>
            <a:r>
              <a:rPr lang="en-US" dirty="0"/>
              <a:t> for every host</a:t>
            </a:r>
          </a:p>
          <a:p>
            <a:pPr lvl="1"/>
            <a:r>
              <a:rPr lang="en-US" dirty="0"/>
              <a:t>Adopt a</a:t>
            </a:r>
            <a:r>
              <a:rPr dirty="0"/>
              <a:t> connectionless datagram </a:t>
            </a:r>
            <a:r>
              <a:rPr lang="en-US" dirty="0"/>
              <a:t>packet </a:t>
            </a:r>
            <a:r>
              <a:rPr dirty="0"/>
              <a:t>delivery</a:t>
            </a:r>
            <a:r>
              <a:rPr lang="en-US" dirty="0"/>
              <a:t> service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IPv4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6097980" cy="4351320"/>
          </a:xfrm>
        </p:spPr>
        <p:txBody>
          <a:bodyPr>
            <a:normAutofit/>
          </a:bodyPr>
          <a:lstStyle/>
          <a:p>
            <a:r>
              <a:rPr lang="en-US" sz="2400" dirty="0"/>
              <a:t>Version v4 (and later v6)</a:t>
            </a:r>
          </a:p>
          <a:p>
            <a:r>
              <a:rPr lang="en-US" sz="2400" dirty="0"/>
              <a:t>TOS anticipates differentiated service</a:t>
            </a:r>
          </a:p>
          <a:p>
            <a:r>
              <a:rPr lang="en-US" sz="2400" dirty="0"/>
              <a:t>16-bit Length field implies 65,535-byte max</a:t>
            </a:r>
          </a:p>
          <a:p>
            <a:r>
              <a:rPr lang="en-US" sz="2400" dirty="0"/>
              <a:t>Ident + Flags + Offset used for fragmentation</a:t>
            </a:r>
          </a:p>
          <a:p>
            <a:r>
              <a:rPr sz="2400" dirty="0"/>
              <a:t>TTL</a:t>
            </a:r>
            <a:r>
              <a:rPr lang="en-US" sz="2400" dirty="0"/>
              <a:t> (</a:t>
            </a:r>
            <a:r>
              <a:rPr sz="2400" dirty="0"/>
              <a:t>hop count</a:t>
            </a:r>
            <a:r>
              <a:rPr lang="en-US" sz="2400" dirty="0"/>
              <a:t>)</a:t>
            </a:r>
            <a:r>
              <a:rPr sz="2400" dirty="0"/>
              <a:t> </a:t>
            </a:r>
            <a:r>
              <a:rPr lang="en-US" sz="2400" dirty="0"/>
              <a:t>limits </a:t>
            </a:r>
            <a:r>
              <a:rPr sz="2400" dirty="0"/>
              <a:t>routing loops</a:t>
            </a:r>
          </a:p>
          <a:p>
            <a:r>
              <a:rPr sz="2400" dirty="0"/>
              <a:t>Protocol</a:t>
            </a:r>
            <a:r>
              <a:rPr lang="en-US" sz="2400" dirty="0"/>
              <a:t> is the</a:t>
            </a:r>
            <a:r>
              <a:rPr sz="2400" dirty="0"/>
              <a:t> </a:t>
            </a:r>
            <a:r>
              <a:rPr sz="2400" dirty="0" err="1"/>
              <a:t>demux</a:t>
            </a:r>
            <a:r>
              <a:rPr sz="2400" dirty="0"/>
              <a:t> key </a:t>
            </a:r>
            <a:r>
              <a:rPr lang="en-US" sz="2400" dirty="0"/>
              <a:t>(TCP, UDP,… )</a:t>
            </a:r>
            <a:endParaRPr sz="2400" dirty="0"/>
          </a:p>
          <a:p>
            <a:r>
              <a:rPr sz="2400" dirty="0"/>
              <a:t>Checksum catches </a:t>
            </a:r>
            <a:r>
              <a:rPr lang="en-US" sz="2400" dirty="0"/>
              <a:t>(some) </a:t>
            </a:r>
            <a:r>
              <a:rPr sz="2400" dirty="0"/>
              <a:t>corrupted headers</a:t>
            </a:r>
          </a:p>
          <a:p>
            <a:r>
              <a:rPr lang="en-US" sz="2400" dirty="0"/>
              <a:t>32-bit </a:t>
            </a:r>
            <a:r>
              <a:rPr sz="2400" dirty="0"/>
              <a:t>Source</a:t>
            </a:r>
            <a:r>
              <a:rPr lang="en-US" sz="2400" dirty="0"/>
              <a:t>/D</a:t>
            </a:r>
            <a:r>
              <a:rPr sz="2400" dirty="0"/>
              <a:t>estination addresses</a:t>
            </a:r>
          </a:p>
          <a:p>
            <a:r>
              <a:rPr sz="2400" dirty="0"/>
              <a:t>Options</a:t>
            </a:r>
            <a:r>
              <a:rPr lang="en-US" sz="2400" dirty="0"/>
              <a:t> rarely included in practice</a:t>
            </a:r>
            <a:endParaRPr sz="2400" dirty="0"/>
          </a:p>
        </p:txBody>
      </p:sp>
      <p:pic>
        <p:nvPicPr>
          <p:cNvPr id="4" name="Picture 3" descr="iph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3644" y="1469608"/>
            <a:ext cx="3942063" cy="4351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Fragmentation and MTU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Every network has a Maximum Transmission Unit (MTU)</a:t>
            </a:r>
          </a:p>
          <a:p>
            <a:r>
              <a:rPr dirty="0"/>
              <a:t>IPv4 fragment</a:t>
            </a:r>
            <a:r>
              <a:rPr lang="en-US" dirty="0"/>
              <a:t>s</a:t>
            </a:r>
            <a:r>
              <a:rPr dirty="0"/>
              <a:t> packet</a:t>
            </a:r>
            <a:r>
              <a:rPr lang="en-US" dirty="0"/>
              <a:t>s</a:t>
            </a:r>
            <a:r>
              <a:rPr dirty="0"/>
              <a:t> </a:t>
            </a:r>
            <a:r>
              <a:rPr lang="en-US" dirty="0"/>
              <a:t>"in flight" (when longer than</a:t>
            </a:r>
            <a:r>
              <a:rPr dirty="0"/>
              <a:t> </a:t>
            </a:r>
            <a:r>
              <a:rPr lang="en-US" dirty="0"/>
              <a:t>next hop </a:t>
            </a:r>
            <a:r>
              <a:rPr dirty="0"/>
              <a:t>MTU</a:t>
            </a:r>
            <a:r>
              <a:rPr lang="en-US" dirty="0"/>
              <a:t>)</a:t>
            </a:r>
          </a:p>
          <a:p>
            <a:r>
              <a:rPr lang="en-US" dirty="0"/>
              <a:t>IPv4 reassembles all the fragments at the destination host</a:t>
            </a:r>
            <a:endParaRPr dirty="0"/>
          </a:p>
          <a:p>
            <a:r>
              <a:rPr dirty="0"/>
              <a:t>Fragmentation is </a:t>
            </a:r>
            <a:r>
              <a:rPr lang="en-US" dirty="0"/>
              <a:t>best avoided</a:t>
            </a:r>
            <a:endParaRPr dirty="0"/>
          </a:p>
          <a:p>
            <a:pPr lvl="1"/>
            <a:r>
              <a:rPr dirty="0"/>
              <a:t>One lost fragment loses the whole datagram</a:t>
            </a:r>
          </a:p>
          <a:p>
            <a:r>
              <a:rPr dirty="0"/>
              <a:t>I</a:t>
            </a:r>
            <a:r>
              <a:rPr lang="en-US" dirty="0"/>
              <a:t>P i</a:t>
            </a:r>
            <a:r>
              <a:rPr dirty="0"/>
              <a:t>nstead relies on Path MTU Discovery</a:t>
            </a:r>
          </a:p>
          <a:p>
            <a:pPr lvl="1"/>
            <a:r>
              <a:rPr dirty="0"/>
              <a:t>Router signals back when a packet is too large</a:t>
            </a:r>
            <a:r>
              <a:rPr lang="en-US" dirty="0"/>
              <a:t> (set “do not fragment” flag)</a:t>
            </a:r>
          </a:p>
          <a:p>
            <a:pPr lvl="1"/>
            <a:r>
              <a:rPr lang="en-US" dirty="0"/>
              <a:t>Is a standard part of IPv6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476360"/>
            <a:ext cx="6120281" cy="4351320"/>
          </a:xfrm>
        </p:spPr>
        <p:txBody>
          <a:bodyPr>
            <a:normAutofit/>
          </a:bodyPr>
          <a:lstStyle/>
          <a:p>
            <a:r>
              <a:rPr sz="2400" dirty="0"/>
              <a:t>Ethernet addresses are flat</a:t>
            </a:r>
            <a:endParaRPr lang="en-US" sz="2400" dirty="0"/>
          </a:p>
          <a:p>
            <a:pPr lvl="1"/>
            <a:r>
              <a:rPr lang="en-US" sz="2000" dirty="0"/>
              <a:t>No </a:t>
            </a:r>
            <a:r>
              <a:rPr sz="2000" dirty="0"/>
              <a:t>routing structure</a:t>
            </a:r>
          </a:p>
          <a:p>
            <a:r>
              <a:rPr sz="2400" dirty="0"/>
              <a:t>IP addresses are hierarchical</a:t>
            </a:r>
            <a:endParaRPr lang="en-US" sz="2400" dirty="0"/>
          </a:p>
          <a:p>
            <a:pPr lvl="1"/>
            <a:r>
              <a:rPr lang="en-US" sz="2000" dirty="0"/>
              <a:t>(N</a:t>
            </a:r>
            <a:r>
              <a:rPr sz="2000" dirty="0"/>
              <a:t>etwork part </a:t>
            </a:r>
            <a:r>
              <a:rPr lang="en-US" sz="2000" dirty="0"/>
              <a:t>/</a:t>
            </a:r>
            <a:r>
              <a:rPr sz="2000" dirty="0"/>
              <a:t> host part</a:t>
            </a:r>
            <a:r>
              <a:rPr lang="en-US" sz="2000" dirty="0"/>
              <a:t>)</a:t>
            </a:r>
            <a:endParaRPr sz="2000" dirty="0"/>
          </a:p>
          <a:p>
            <a:r>
              <a:rPr sz="2400" dirty="0"/>
              <a:t>Originally divided into class A, B, and C</a:t>
            </a:r>
          </a:p>
          <a:p>
            <a:pPr lvl="1"/>
            <a:r>
              <a:rPr lang="en-US" sz="2000" dirty="0"/>
              <a:t>Fixed </a:t>
            </a:r>
            <a:r>
              <a:rPr sz="2000" dirty="0"/>
              <a:t>split </a:t>
            </a:r>
            <a:r>
              <a:rPr lang="en-US" sz="2000" dirty="0"/>
              <a:t>points</a:t>
            </a:r>
            <a:endParaRPr sz="2000" dirty="0"/>
          </a:p>
          <a:p>
            <a:r>
              <a:rPr sz="2400" dirty="0"/>
              <a:t>Address belong</a:t>
            </a:r>
            <a:r>
              <a:rPr lang="en-US" sz="2400" dirty="0"/>
              <a:t>s</a:t>
            </a:r>
            <a:r>
              <a:rPr sz="2400" dirty="0"/>
              <a:t> to an interface, not a host</a:t>
            </a:r>
          </a:p>
        </p:txBody>
      </p:sp>
      <p:pic>
        <p:nvPicPr>
          <p:cNvPr id="4" name="Picture 3" descr="f03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449" y="1476360"/>
            <a:ext cx="4781351" cy="30545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Packet Forwarding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46785"/>
            <a:ext cx="7893205" cy="2889960"/>
          </a:xfrm>
        </p:spPr>
        <p:txBody>
          <a:bodyPr/>
          <a:lstStyle/>
          <a:p>
            <a:r>
              <a:rPr lang="en-US" sz="2400" dirty="0"/>
              <a:t>Do a lookup on the</a:t>
            </a:r>
            <a:r>
              <a:rPr sz="2400" dirty="0"/>
              <a:t> network part </a:t>
            </a:r>
            <a:r>
              <a:rPr lang="en-US" sz="2400" dirty="0"/>
              <a:t>of the destination address</a:t>
            </a:r>
            <a:endParaRPr sz="2400" dirty="0"/>
          </a:p>
          <a:p>
            <a:r>
              <a:rPr lang="en-US" sz="2400" dirty="0"/>
              <a:t>F</a:t>
            </a:r>
            <a:r>
              <a:rPr sz="2400" dirty="0"/>
              <a:t>orwarding table</a:t>
            </a:r>
          </a:p>
          <a:p>
            <a:pPr lvl="1"/>
            <a:r>
              <a:rPr lang="en-US" sz="2000" dirty="0"/>
              <a:t>Set of </a:t>
            </a:r>
            <a:r>
              <a:rPr sz="2000" dirty="0"/>
              <a:t>(</a:t>
            </a:r>
            <a:r>
              <a:rPr sz="2000" dirty="0" err="1"/>
              <a:t>NetworkNum</a:t>
            </a:r>
            <a:r>
              <a:rPr sz="2000" dirty="0"/>
              <a:t>, </a:t>
            </a:r>
            <a:r>
              <a:rPr sz="2000" dirty="0" err="1"/>
              <a:t>NextHop</a:t>
            </a:r>
            <a:r>
              <a:rPr sz="2000" dirty="0"/>
              <a:t>) pairs</a:t>
            </a:r>
            <a:endParaRPr lang="en-US" sz="2000" dirty="0"/>
          </a:p>
          <a:p>
            <a:pPr lvl="1"/>
            <a:r>
              <a:rPr lang="en-US" sz="2000" dirty="0"/>
              <a:t>“</a:t>
            </a:r>
            <a:r>
              <a:rPr lang="en-US" sz="2000" dirty="0" err="1"/>
              <a:t>NextHop</a:t>
            </a:r>
            <a:r>
              <a:rPr lang="en-US" sz="2000" dirty="0"/>
              <a:t>” is a local interface implies directly connected</a:t>
            </a:r>
          </a:p>
          <a:p>
            <a:pPr lvl="1"/>
            <a:r>
              <a:rPr lang="en-US" sz="2000" dirty="0"/>
              <a:t>“</a:t>
            </a:r>
            <a:r>
              <a:rPr lang="en-US" sz="2000" dirty="0" err="1"/>
              <a:t>NextHop</a:t>
            </a:r>
            <a:r>
              <a:rPr lang="en-US" sz="2000" dirty="0"/>
              <a:t>” is a router address, then forward to that address</a:t>
            </a:r>
          </a:p>
          <a:p>
            <a:pPr lvl="1"/>
            <a:r>
              <a:rPr lang="en-US" sz="2000" dirty="0"/>
              <a:t>When nothing matches, forward to a Default Router</a:t>
            </a:r>
            <a:endParaRPr sz="2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63B5A8B-3310-4BF2-BE59-3D71D277A9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636734"/>
              </p:ext>
            </p:extLst>
          </p:nvPr>
        </p:nvGraphicFramePr>
        <p:xfrm>
          <a:off x="1349297" y="3769121"/>
          <a:ext cx="3189260" cy="2532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6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46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063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/>
                        <a:t>NetworkNum</a:t>
                      </a:r>
                      <a:endParaRPr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/>
                        <a:t>NextHop</a:t>
                      </a:r>
                      <a:endParaRPr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357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R1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357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Interface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357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Interface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357"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R3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 descr="inet.png">
            <a:extLst>
              <a:ext uri="{FF2B5EF4-FFF2-40B4-BE49-F238E27FC236}">
                <a16:creationId xmlns:a16="http://schemas.microsoft.com/office/drawing/2014/main" id="{18968711-8909-43E8-35F9-337689B4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6824" y="3568389"/>
            <a:ext cx="6538934" cy="275609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76DBC59-8C75-E3AD-BFE1-A212B17C4522}"/>
              </a:ext>
            </a:extLst>
          </p:cNvPr>
          <p:cNvCxnSpPr>
            <a:stCxn id="3" idx="2"/>
          </p:cNvCxnSpPr>
          <p:nvPr/>
        </p:nvCxnSpPr>
        <p:spPr>
          <a:xfrm>
            <a:off x="4784803" y="4036745"/>
            <a:ext cx="1727509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Address Resolution</a:t>
            </a:r>
            <a:r>
              <a:rPr lang="en-US" dirty="0"/>
              <a:t> (</a:t>
            </a:r>
            <a:r>
              <a:rPr dirty="0"/>
              <a:t>ARP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219883"/>
            <a:ext cx="7904476" cy="2627290"/>
          </a:xfrm>
        </p:spPr>
        <p:txBody>
          <a:bodyPr>
            <a:normAutofit/>
          </a:bodyPr>
          <a:lstStyle/>
          <a:p>
            <a:r>
              <a:rPr lang="en-US" sz="2400" dirty="0"/>
              <a:t>Used to m</a:t>
            </a:r>
            <a:r>
              <a:rPr sz="2400" dirty="0"/>
              <a:t>ap IP addresses to link-layer addresses</a:t>
            </a:r>
          </a:p>
          <a:p>
            <a:r>
              <a:rPr sz="2400" dirty="0"/>
              <a:t>Sender broadcasts a query for the target's IP address</a:t>
            </a:r>
          </a:p>
          <a:p>
            <a:r>
              <a:rPr sz="2400" dirty="0"/>
              <a:t>Target replies with its link-layer address</a:t>
            </a:r>
          </a:p>
          <a:p>
            <a:r>
              <a:rPr sz="2400" dirty="0"/>
              <a:t>Entries cached and periodically timed out</a:t>
            </a:r>
          </a:p>
        </p:txBody>
      </p:sp>
      <p:pic>
        <p:nvPicPr>
          <p:cNvPr id="4" name="Picture 3" descr="f03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438" y="3342559"/>
            <a:ext cx="5871117" cy="27735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Classful addressing put the Internet's address space under stress</a:t>
            </a:r>
          </a:p>
          <a:p>
            <a:r>
              <a:rPr dirty="0"/>
              <a:t>Two </a:t>
            </a:r>
            <a:r>
              <a:rPr lang="en-US" dirty="0"/>
              <a:t>issues</a:t>
            </a:r>
            <a:endParaRPr dirty="0"/>
          </a:p>
          <a:p>
            <a:pPr lvl="1"/>
            <a:r>
              <a:rPr dirty="0"/>
              <a:t>Address assignment: wasted addresses in each class</a:t>
            </a:r>
          </a:p>
          <a:p>
            <a:pPr lvl="1"/>
            <a:r>
              <a:rPr dirty="0"/>
              <a:t>Routing: bigger forwarding tables as </a:t>
            </a:r>
            <a:r>
              <a:rPr lang="en-US" dirty="0"/>
              <a:t>the number of </a:t>
            </a:r>
            <a:r>
              <a:rPr dirty="0"/>
              <a:t>networks </a:t>
            </a:r>
            <a:r>
              <a:rPr lang="en-US" dirty="0"/>
              <a:t>grew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Subnetting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sz="2400" dirty="0"/>
              <a:t>One network number shared across several physical networks (subnets)</a:t>
            </a:r>
          </a:p>
          <a:p>
            <a:r>
              <a:rPr sz="2400" dirty="0"/>
              <a:t>Each host configured with an address and a subnet mask</a:t>
            </a:r>
          </a:p>
          <a:p>
            <a:r>
              <a:rPr sz="2400" dirty="0"/>
              <a:t>AND address with mask to get the subnet number</a:t>
            </a:r>
          </a:p>
        </p:txBody>
      </p:sp>
      <p:pic>
        <p:nvPicPr>
          <p:cNvPr id="4" name="Picture 3" descr="f03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786245"/>
            <a:ext cx="5181480" cy="37315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Subnetting Example</a:t>
            </a:r>
          </a:p>
        </p:txBody>
      </p:sp>
      <p:pic>
        <p:nvPicPr>
          <p:cNvPr id="3" name="Picture 2" descr="subn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0" y="2116042"/>
            <a:ext cx="10515600" cy="32159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Subnet Forwarding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297942"/>
            <a:ext cx="9967452" cy="1233385"/>
          </a:xfrm>
        </p:spPr>
        <p:txBody>
          <a:bodyPr/>
          <a:lstStyle/>
          <a:p>
            <a:r>
              <a:rPr dirty="0"/>
              <a:t>Router ANDs the destination address with each subnet mask</a:t>
            </a:r>
          </a:p>
          <a:p>
            <a:r>
              <a:rPr lang="en-US" dirty="0"/>
              <a:t>First </a:t>
            </a:r>
            <a:r>
              <a:rPr dirty="0"/>
              <a:t>matching subnet </a:t>
            </a:r>
            <a:r>
              <a:rPr lang="en-US" dirty="0"/>
              <a:t>selected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943536"/>
              </p:ext>
            </p:extLst>
          </p:nvPr>
        </p:nvGraphicFramePr>
        <p:xfrm>
          <a:off x="3434575" y="2943922"/>
          <a:ext cx="5977052" cy="3413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28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28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3298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SubnetNumber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/>
                        <a:t>SubnetMask</a:t>
                      </a:r>
                      <a:endParaRPr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NextHop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3298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128.96.34.0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255.255.255.128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Interface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298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128.96.34.128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255.255.255.128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Interface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3298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128.96.33.0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255.255.255.0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Classless Addressing</a:t>
            </a:r>
            <a:r>
              <a:rPr lang="en-US" dirty="0"/>
              <a:t> (</a:t>
            </a:r>
            <a:r>
              <a:rPr dirty="0"/>
              <a:t>CIDR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6207" y="1476360"/>
            <a:ext cx="5181480" cy="4812928"/>
          </a:xfrm>
        </p:spPr>
        <p:txBody>
          <a:bodyPr>
            <a:normAutofit/>
          </a:bodyPr>
          <a:lstStyle/>
          <a:p>
            <a:r>
              <a:rPr lang="en-US" sz="2400" dirty="0"/>
              <a:t>Subnets make more efficient use of classful addresses, but routing tables still exploding</a:t>
            </a:r>
          </a:p>
          <a:p>
            <a:r>
              <a:rPr lang="en-US" sz="2400" dirty="0" err="1"/>
              <a:t>Supernets</a:t>
            </a:r>
            <a:r>
              <a:rPr lang="en-US" sz="2400" dirty="0"/>
              <a:t> c</a:t>
            </a:r>
            <a:r>
              <a:rPr sz="2400" dirty="0"/>
              <a:t>oalesce multiple classful addresses into one </a:t>
            </a:r>
            <a:r>
              <a:rPr lang="en-US" sz="2400" dirty="0"/>
              <a:t>table entry</a:t>
            </a:r>
            <a:endParaRPr sz="2400" dirty="0"/>
          </a:p>
          <a:p>
            <a:r>
              <a:rPr sz="2400" dirty="0"/>
              <a:t>Prefix notation gives the prefix length in bits</a:t>
            </a:r>
            <a:r>
              <a:rPr lang="en-US" sz="2400" dirty="0"/>
              <a:t> (e.g., </a:t>
            </a:r>
            <a:r>
              <a:rPr lang="en-US" sz="2300" dirty="0">
                <a:latin typeface="Lucida Sans" panose="020B0602030504020204" pitchFamily="34" charset="77"/>
              </a:rPr>
              <a:t>128.112.135.0/24</a:t>
            </a:r>
            <a:r>
              <a:rPr lang="en-US" sz="2400" dirty="0"/>
              <a:t>)</a:t>
            </a:r>
            <a:endParaRPr sz="2400" dirty="0"/>
          </a:p>
          <a:p>
            <a:r>
              <a:rPr sz="2400" dirty="0"/>
              <a:t>One advertised prefix can cover many customer networks</a:t>
            </a:r>
          </a:p>
          <a:p>
            <a:r>
              <a:rPr sz="2400" dirty="0"/>
              <a:t>Forwarding </a:t>
            </a:r>
            <a:r>
              <a:rPr lang="en-US" sz="2400" dirty="0"/>
              <a:t>decision based on</a:t>
            </a:r>
            <a:r>
              <a:rPr sz="2400" dirty="0"/>
              <a:t> longest-prefix match</a:t>
            </a:r>
          </a:p>
        </p:txBody>
      </p:sp>
      <p:pic>
        <p:nvPicPr>
          <p:cNvPr id="4" name="Picture 3" descr="f03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962616"/>
            <a:ext cx="5634520" cy="31273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Network Address Translation</a:t>
            </a:r>
            <a:r>
              <a:rPr lang="en-US" dirty="0"/>
              <a:t> (NAT)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sz="2400" dirty="0"/>
              <a:t>Private addresses reused across many separate networks</a:t>
            </a:r>
          </a:p>
          <a:p>
            <a:pPr lvl="1"/>
            <a:r>
              <a:rPr sz="2000" dirty="0"/>
              <a:t>e.g., </a:t>
            </a:r>
            <a:r>
              <a:rPr sz="2000" dirty="0">
                <a:latin typeface="Lucida Sans" panose="020B0602030504020204" pitchFamily="34" charset="77"/>
              </a:rPr>
              <a:t>192.168.0.0/16</a:t>
            </a:r>
          </a:p>
          <a:p>
            <a:r>
              <a:rPr sz="2400" dirty="0"/>
              <a:t>NAT device rewrites source address (and port) at the border</a:t>
            </a:r>
          </a:p>
          <a:p>
            <a:r>
              <a:rPr sz="2400" dirty="0"/>
              <a:t>Table of local (address, port) to global (address, port) mappings</a:t>
            </a:r>
          </a:p>
          <a:p>
            <a:r>
              <a:rPr sz="2400" dirty="0"/>
              <a:t>Makes it hard to initiate connections into a </a:t>
            </a:r>
            <a:r>
              <a:rPr sz="2400" dirty="0" err="1"/>
              <a:t>NAT'd</a:t>
            </a:r>
            <a:r>
              <a:rPr sz="2400" dirty="0"/>
              <a:t> network</a:t>
            </a:r>
            <a:r>
              <a:rPr lang="en-US" sz="2400" dirty="0"/>
              <a:t> (used by clients, but not servers)</a:t>
            </a:r>
            <a:endParaRPr sz="2400" dirty="0"/>
          </a:p>
        </p:txBody>
      </p:sp>
      <p:pic>
        <p:nvPicPr>
          <p:cNvPr id="4" name="Picture 3" descr="N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199" y="2062977"/>
            <a:ext cx="5786321" cy="287732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IPv6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Driven by IPv4 address exhaustion</a:t>
            </a:r>
          </a:p>
          <a:p>
            <a:r>
              <a:rPr dirty="0"/>
              <a:t>Also a chance to add other </a:t>
            </a:r>
            <a:r>
              <a:rPr dirty="0" err="1"/>
              <a:t>wishlist</a:t>
            </a:r>
            <a:r>
              <a:rPr dirty="0"/>
              <a:t> features</a:t>
            </a:r>
          </a:p>
          <a:p>
            <a:pPr lvl="1"/>
            <a:r>
              <a:rPr dirty="0"/>
              <a:t>Real-time service support</a:t>
            </a:r>
          </a:p>
          <a:p>
            <a:pPr lvl="1"/>
            <a:r>
              <a:rPr dirty="0"/>
              <a:t>Security support</a:t>
            </a:r>
          </a:p>
          <a:p>
            <a:pPr lvl="1"/>
            <a:r>
              <a:rPr dirty="0"/>
              <a:t>Autoconfiguration</a:t>
            </a:r>
          </a:p>
          <a:p>
            <a:pPr lvl="1"/>
            <a:r>
              <a:rPr dirty="0"/>
              <a:t>Better mobile routing support</a:t>
            </a:r>
          </a:p>
          <a:p>
            <a:r>
              <a:rPr dirty="0"/>
              <a:t>Required a gradual transition plan from IPv4</a:t>
            </a:r>
            <a:endParaRPr lang="en-US" dirty="0"/>
          </a:p>
          <a:p>
            <a:pPr lvl="1"/>
            <a:r>
              <a:rPr lang="en-US" dirty="0"/>
              <a:t>No flag day</a:t>
            </a:r>
          </a:p>
          <a:p>
            <a:pPr lvl="1"/>
            <a:r>
              <a:rPr lang="en-US" dirty="0"/>
              <a:t>Reality is that it may never terminate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IPv6 Address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79" y="1331396"/>
            <a:ext cx="6376759" cy="3675492"/>
          </a:xfrm>
        </p:spPr>
        <p:txBody>
          <a:bodyPr>
            <a:normAutofit/>
          </a:bodyPr>
          <a:lstStyle/>
          <a:p>
            <a:r>
              <a:rPr sz="2400" dirty="0"/>
              <a:t>128-bit addresses: 3.4 x 10</a:t>
            </a:r>
            <a:r>
              <a:rPr sz="2400" baseline="30000" dirty="0"/>
              <a:t>38</a:t>
            </a:r>
            <a:r>
              <a:rPr sz="2400" dirty="0"/>
              <a:t> possible nodes</a:t>
            </a:r>
          </a:p>
          <a:p>
            <a:r>
              <a:rPr sz="2400" dirty="0"/>
              <a:t>Over 99% of the space is Global Unicast</a:t>
            </a:r>
            <a:endParaRPr lang="en-US" sz="2400" dirty="0"/>
          </a:p>
          <a:p>
            <a:r>
              <a:rPr lang="en-US" sz="2400" dirty="0"/>
              <a:t>Supports provider-based hierarchy</a:t>
            </a:r>
          </a:p>
          <a:p>
            <a:r>
              <a:rPr lang="en-US" sz="2600" dirty="0"/>
              <a:t>Written as eight groups of hex digits</a:t>
            </a:r>
          </a:p>
          <a:p>
            <a:pPr lvl="1"/>
            <a:r>
              <a:rPr lang="en-US" sz="2000" dirty="0" err="1">
                <a:latin typeface="Lucida Sans" panose="020B0602030504020204" pitchFamily="34" charset="77"/>
              </a:rPr>
              <a:t>x:x:x:x:x:x:x:x</a:t>
            </a:r>
            <a:endParaRPr lang="en-US" sz="2000" dirty="0">
              <a:latin typeface="Lucida Sans" panose="020B0602030504020204" pitchFamily="34" charset="77"/>
            </a:endParaRPr>
          </a:p>
          <a:p>
            <a:pPr lvl="1"/>
            <a:r>
              <a:rPr lang="en-US" sz="2000" dirty="0">
                <a:latin typeface="Lucida Sans" panose="020B0602030504020204" pitchFamily="34" charset="77"/>
              </a:rPr>
              <a:t>:: </a:t>
            </a:r>
            <a:r>
              <a:rPr lang="en-US" sz="2000" dirty="0"/>
              <a:t>compresses run of contiguous zero groups</a:t>
            </a:r>
          </a:p>
          <a:p>
            <a:r>
              <a:rPr lang="en-US" sz="2400" dirty="0"/>
              <a:t>Embedded IPv4 addresses get their own shorthand</a:t>
            </a:r>
          </a:p>
          <a:p>
            <a:pPr lvl="1"/>
            <a:r>
              <a:rPr lang="en-US" sz="2000" dirty="0">
                <a:latin typeface="Lucida Sans" panose="020B0602030504020204" pitchFamily="34" charset="77"/>
              </a:rPr>
              <a:t>::</a:t>
            </a:r>
            <a:r>
              <a:rPr lang="en-US" sz="2000" dirty="0" err="1">
                <a:latin typeface="Lucida Sans" panose="020B0602030504020204" pitchFamily="34" charset="77"/>
              </a:rPr>
              <a:t>FFFF:a.b.c.d</a:t>
            </a:r>
            <a:endParaRPr lang="en-US" sz="2000" dirty="0">
              <a:latin typeface="Lucida Sans" panose="020B0602030504020204" pitchFamily="34" charset="77"/>
            </a:endParaRPr>
          </a:p>
          <a:p>
            <a:endParaRPr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5361432"/>
              </p:ext>
            </p:extLst>
          </p:nvPr>
        </p:nvGraphicFramePr>
        <p:xfrm>
          <a:off x="7216698" y="1331396"/>
          <a:ext cx="4137102" cy="3675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85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5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2582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Prefix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2582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00...0 (128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Unspecified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2582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00...1 (128 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Loopback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582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1111 1111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Multicast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2582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1111 1110 10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Link-local unicast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582">
                <a:tc>
                  <a:txBody>
                    <a:bodyPr/>
                    <a:lstStyle/>
                    <a:p>
                      <a:pPr algn="ctr"/>
                      <a:r>
                        <a:rPr sz="1800" b="0"/>
                        <a:t>Everything 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/>
                        <a:t>Global unicast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 descr="f04-11.png">
            <a:extLst>
              <a:ext uri="{FF2B5EF4-FFF2-40B4-BE49-F238E27FC236}">
                <a16:creationId xmlns:a16="http://schemas.microsoft.com/office/drawing/2014/main" id="{71C03ADF-C867-90B9-1289-15DCB4FF2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276" y="5425048"/>
            <a:ext cx="7052404" cy="8196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IPv6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080" y="1476360"/>
            <a:ext cx="5181480" cy="4351320"/>
          </a:xfrm>
        </p:spPr>
        <p:txBody>
          <a:bodyPr>
            <a:normAutofit/>
          </a:bodyPr>
          <a:lstStyle/>
          <a:p>
            <a:r>
              <a:rPr sz="2400" dirty="0"/>
              <a:t>Simpler than IPv4</a:t>
            </a:r>
            <a:endParaRPr lang="en-US" sz="2400" dirty="0"/>
          </a:p>
          <a:p>
            <a:r>
              <a:rPr sz="2400" dirty="0"/>
              <a:t>Fragmentation fields removed</a:t>
            </a:r>
          </a:p>
          <a:p>
            <a:r>
              <a:rPr sz="2400" dirty="0" err="1"/>
              <a:t>HopLimit</a:t>
            </a:r>
            <a:r>
              <a:rPr sz="2400" dirty="0"/>
              <a:t> renames IPv4's TTL</a:t>
            </a:r>
            <a:endParaRPr lang="en-US" sz="2400" dirty="0"/>
          </a:p>
          <a:p>
            <a:r>
              <a:rPr lang="en-US" sz="2400" dirty="0" err="1"/>
              <a:t>NextHdr</a:t>
            </a:r>
            <a:r>
              <a:rPr lang="en-US" sz="2400" dirty="0"/>
              <a:t> gives “type” of next header</a:t>
            </a:r>
          </a:p>
          <a:p>
            <a:pPr lvl="1"/>
            <a:r>
              <a:rPr lang="en-US" sz="2000" dirty="0"/>
              <a:t>Replaces Protocol field in IPv4</a:t>
            </a:r>
          </a:p>
          <a:p>
            <a:pPr lvl="1"/>
            <a:r>
              <a:rPr lang="en-US" sz="2000" dirty="0"/>
              <a:t>Replaces IPv4 options</a:t>
            </a:r>
          </a:p>
          <a:p>
            <a:pPr lvl="2"/>
            <a:r>
              <a:rPr lang="en-US" sz="1600" dirty="0"/>
              <a:t>Referred to as extension headers</a:t>
            </a:r>
          </a:p>
          <a:p>
            <a:pPr lvl="2"/>
            <a:r>
              <a:rPr lang="en-US" sz="1600" dirty="0"/>
              <a:t>e.g., SRv6 (Chapter 4)</a:t>
            </a:r>
          </a:p>
          <a:p>
            <a:pPr lvl="1"/>
            <a:r>
              <a:rPr lang="en-US" sz="2000" dirty="0"/>
              <a:t>Results in a </a:t>
            </a:r>
            <a:r>
              <a:rPr lang="en-US" sz="2000"/>
              <a:t>“header chain”</a:t>
            </a:r>
          </a:p>
        </p:txBody>
      </p:sp>
      <p:pic>
        <p:nvPicPr>
          <p:cNvPr id="4" name="Picture 3" descr="ipv6h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527" y="1235465"/>
            <a:ext cx="4114668" cy="4592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888</Words>
  <Application>Microsoft Macintosh PowerPoint</Application>
  <PresentationFormat>Widescreen</PresentationFormat>
  <Paragraphs>152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Arial</vt:lpstr>
      <vt:lpstr>Calibri</vt:lpstr>
      <vt:lpstr>Lucida Sans</vt:lpstr>
      <vt:lpstr>System Font Regular</vt:lpstr>
      <vt:lpstr>Wingdings</vt:lpstr>
      <vt:lpstr>Office Theme</vt:lpstr>
      <vt:lpstr>Chapter 6: Federating Networks</vt:lpstr>
      <vt:lpstr>Overview</vt:lpstr>
      <vt:lpstr>Internetwork as a Logical Overlay</vt:lpstr>
      <vt:lpstr>Design Goals</vt:lpstr>
      <vt:lpstr>Heterogeneity</vt:lpstr>
      <vt:lpstr>Overview</vt:lpstr>
      <vt:lpstr>IPv4 Header</vt:lpstr>
      <vt:lpstr>Fragmentation and MTU</vt:lpstr>
      <vt:lpstr>Global Addresses</vt:lpstr>
      <vt:lpstr>Packet Forwarding</vt:lpstr>
      <vt:lpstr>Address Resolution (ARP)</vt:lpstr>
      <vt:lpstr>Scale</vt:lpstr>
      <vt:lpstr>Overview</vt:lpstr>
      <vt:lpstr>Subnetting</vt:lpstr>
      <vt:lpstr>Subnetting Example</vt:lpstr>
      <vt:lpstr>Subnet Forwarding Table</vt:lpstr>
      <vt:lpstr>Classless Addressing (CIDR)</vt:lpstr>
      <vt:lpstr>Network Address Translation (NAT)</vt:lpstr>
      <vt:lpstr>IPv6 Motivation</vt:lpstr>
      <vt:lpstr>IPv6 Address Space</vt:lpstr>
      <vt:lpstr>IPv6 Header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Larry Peterson</dc:creator>
  <cp:lastModifiedBy>Larry Peterson</cp:lastModifiedBy>
  <cp:revision>16</cp:revision>
  <dcterms:created xsi:type="dcterms:W3CDTF">2026-08-04T17:34:08Z</dcterms:created>
  <dcterms:modified xsi:type="dcterms:W3CDTF">2026-09-16T17:08:07Z</dcterms:modified>
</cp:coreProperties>
</file>